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covers all 13 concepts from the Panaversity AI Prompting 2026 orientation lecture. Every slide includes a simple explanation and real before/after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slide. Four parts, 13 total concepts. Each concept takes about 5-8 minutes to try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is stateless. Engineers call it a context window. This is why every 'advanced technique' is really just controlling what goes into that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1: The difference between novice and power user is NOT cleverness. It is context. One prompt tells the AI who you are and what you need. The other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3: Three modes — memory, web search, deep research. The trigger words in your prompt steer the AI to the right mode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4: The context template. Task + facts + output format. The 'What I want back' line is the highest-leverage addition to any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5: Think Hard. The exact same question. Two words added. The response goes from generic advice you already knew to specific, reasoned analysis that uses your stated values. Use for complex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Hard guidance. The formula at the bottom is what to copy and adapt for any complex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6: Sycophancy. AI agrees with what your prompt implies. Change the verb, get honest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7: The Brainstorm-Iterate Loop. Three rounds. The final output always beats Round 1. Never accept the first answer for any creative or decision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Photos, apps, and data analysis. The code-forcing technique in Concept 10 is one of the most important safety checks in the whole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Safety habits and tool selection. The most important: plan before you let AI act on real files. And always cross-check important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that changed. Each one is a reason to update your mental model of what AI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reference for all 13 concepts. Print or screenshot this slide and keep it handy.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Two moves. Everything maps to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5943600" y="-1371600"/>
            <a:ext cx="5486400" cy="5486400"/>
          </a:xfrm>
          <a:prstGeom prst="ellipse">
            <a:avLst/>
          </a:prstGeom>
          <a:solidFill>
            <a:srgbClr val="0D9488">
              <a:alpha val="12000"/>
            </a:srgbClr>
          </a:solidFill>
          <a:ln w="12700">
            <a:solidFill>
              <a:srgbClr val="0D9488"/>
            </a:solidFill>
            <a:prstDash val="solid"/>
          </a:ln>
        </p:spPr>
      </p:sp>
      <p:sp>
        <p:nvSpPr>
          <p:cNvPr id="3" name="Shape 1"/>
          <p:cNvSpPr/>
          <p:nvPr/>
        </p:nvSpPr>
        <p:spPr>
          <a:xfrm>
            <a:off x="-914400" y="3200400"/>
            <a:ext cx="3657600" cy="3657600"/>
          </a:xfrm>
          <a:prstGeom prst="ellipse">
            <a:avLst/>
          </a:prstGeom>
          <a:solidFill>
            <a:srgbClr val="0D9488">
              <a:alpha val="8000"/>
            </a:srgbClr>
          </a:solidFill>
          <a:ln w="12700">
            <a:solidFill>
              <a:srgbClr val="0D9488"/>
            </a:solidFill>
            <a:prstDash val="solid"/>
          </a:ln>
        </p:spPr>
      </p:sp>
      <p:sp>
        <p:nvSpPr>
          <p:cNvPr id="4" name="Text 2"/>
          <p:cNvSpPr/>
          <p:nvPr/>
        </p:nvSpPr>
        <p:spPr>
          <a:xfrm>
            <a:off x="548640" y="548640"/>
            <a:ext cx="8229600" cy="274320"/>
          </a:xfrm>
          <a:prstGeom prst="rect">
            <a:avLst/>
          </a:prstGeom>
          <a:noFill/>
          <a:ln/>
        </p:spPr>
        <p:txBody>
          <a:bodyPr wrap="square" rtlCol="0" anchor="ctr"/>
          <a:lstStyle/>
          <a:p>
            <a:pPr indent="0" marL="0">
              <a:buNone/>
            </a:pPr>
            <a:r>
              <a:rPr lang="en-US" sz="900" b="1" spc="300" kern="0" dirty="0">
                <a:solidFill>
                  <a:srgbClr val="99F6E4"/>
                </a:solidFill>
              </a:rPr>
              <a:t>PANAVERSITY  ·  AI-101</a:t>
            </a:r>
            <a:endParaRPr lang="en-US" sz="900" dirty="0"/>
          </a:p>
        </p:txBody>
      </p:sp>
      <p:sp>
        <p:nvSpPr>
          <p:cNvPr id="5" name="Text 3"/>
          <p:cNvSpPr/>
          <p:nvPr/>
        </p:nvSpPr>
        <p:spPr>
          <a:xfrm>
            <a:off x="502920" y="960120"/>
            <a:ext cx="7315200" cy="2011680"/>
          </a:xfrm>
          <a:prstGeom prst="rect">
            <a:avLst/>
          </a:prstGeom>
          <a:noFill/>
          <a:ln/>
        </p:spPr>
        <p:txBody>
          <a:bodyPr wrap="square" rtlCol="0" anchor="ctr"/>
          <a:lstStyle/>
          <a:p>
            <a:pPr indent="0" marL="0">
              <a:lnSpc>
                <a:spcPct val="90000"/>
              </a:lnSpc>
              <a:buNone/>
            </a:pPr>
            <a:r>
              <a:rPr lang="en-US" sz="5600" b="1" dirty="0">
                <a:solidFill>
                  <a:srgbClr val="FFFFFF"/>
                </a:solidFill>
              </a:rPr>
              <a:t>AI Prompting</a:t>
            </a:r>
            <a:endParaRPr lang="en-US" sz="5600" dirty="0"/>
          </a:p>
          <a:p>
            <a:pPr indent="0" marL="0">
              <a:lnSpc>
                <a:spcPct val="90000"/>
              </a:lnSpc>
              <a:buNone/>
            </a:pPr>
            <a:r>
              <a:rPr lang="en-US" sz="5600" b="1" dirty="0">
                <a:solidFill>
                  <a:srgbClr val="FFFFFF"/>
                </a:solidFill>
              </a:rPr>
              <a:t>in 2026</a:t>
            </a:r>
            <a:endParaRPr lang="en-US" sz="5600" dirty="0"/>
          </a:p>
        </p:txBody>
      </p:sp>
      <p:sp>
        <p:nvSpPr>
          <p:cNvPr id="6" name="Text 4"/>
          <p:cNvSpPr/>
          <p:nvPr/>
        </p:nvSpPr>
        <p:spPr>
          <a:xfrm>
            <a:off x="548640" y="2834640"/>
            <a:ext cx="6400800" cy="384048"/>
          </a:xfrm>
          <a:prstGeom prst="rect">
            <a:avLst/>
          </a:prstGeom>
          <a:noFill/>
          <a:ln/>
        </p:spPr>
        <p:txBody>
          <a:bodyPr wrap="square" rtlCol="0" anchor="ctr"/>
          <a:lstStyle/>
          <a:p>
            <a:pPr indent="0" marL="0">
              <a:buNone/>
            </a:pPr>
            <a:r>
              <a:rPr lang="en-US" sz="1800" dirty="0">
                <a:solidFill>
                  <a:srgbClr val="94A3B8"/>
                </a:solidFill>
              </a:rPr>
              <a:t>A Simple, Easy Guide — 13 Concepts</a:t>
            </a:r>
            <a:endParaRPr lang="en-US" sz="1800" dirty="0"/>
          </a:p>
        </p:txBody>
      </p:sp>
      <p:sp>
        <p:nvSpPr>
          <p:cNvPr id="7" name="Shape 5"/>
          <p:cNvSpPr/>
          <p:nvPr/>
        </p:nvSpPr>
        <p:spPr>
          <a:xfrm>
            <a:off x="548640" y="2788920"/>
            <a:ext cx="2286000" cy="0"/>
          </a:xfrm>
          <a:prstGeom prst="line">
            <a:avLst/>
          </a:prstGeom>
          <a:noFill/>
          <a:ln w="31750">
            <a:solidFill>
              <a:srgbClr val="0D9488"/>
            </a:solidFill>
            <a:prstDash val="solid"/>
          </a:ln>
        </p:spPr>
      </p:sp>
      <p:sp>
        <p:nvSpPr>
          <p:cNvPr id="8" name="Shape 6"/>
          <p:cNvSpPr/>
          <p:nvPr/>
        </p:nvSpPr>
        <p:spPr>
          <a:xfrm>
            <a:off x="457200" y="3858768"/>
            <a:ext cx="8229600" cy="987552"/>
          </a:xfrm>
          <a:prstGeom prst="roundRect">
            <a:avLst>
              <a:gd name="adj" fmla="val 11111"/>
            </a:avLst>
          </a:prstGeom>
          <a:solidFill>
            <a:srgbClr val="1E293B"/>
          </a:solidFill>
          <a:ln w="6350">
            <a:solidFill>
              <a:srgbClr val="E2E8F0"/>
            </a:solidFill>
            <a:prstDash val="solid"/>
          </a:ln>
        </p:spPr>
      </p:sp>
      <p:sp>
        <p:nvSpPr>
          <p:cNvPr id="9" name="Text 7"/>
          <p:cNvSpPr/>
          <p:nvPr/>
        </p:nvSpPr>
        <p:spPr>
          <a:xfrm>
            <a:off x="658368" y="3950208"/>
            <a:ext cx="1554480" cy="256032"/>
          </a:xfrm>
          <a:prstGeom prst="rect">
            <a:avLst/>
          </a:prstGeom>
          <a:noFill/>
          <a:ln/>
        </p:spPr>
        <p:txBody>
          <a:bodyPr wrap="square" lIns="0" tIns="0" rIns="0" bIns="0" rtlCol="0" anchor="ctr"/>
          <a:lstStyle/>
          <a:p>
            <a:pPr indent="0" marL="0">
              <a:buNone/>
            </a:pPr>
            <a:r>
              <a:rPr lang="en-US" sz="800" b="1" spc="200" kern="0" dirty="0">
                <a:solidFill>
                  <a:srgbClr val="99F6E4"/>
                </a:solidFill>
              </a:rPr>
              <a:t>THE ONE RULE</a:t>
            </a:r>
            <a:endParaRPr lang="en-US" sz="800" dirty="0"/>
          </a:p>
        </p:txBody>
      </p:sp>
      <p:sp>
        <p:nvSpPr>
          <p:cNvPr id="10" name="Shape 8"/>
          <p:cNvSpPr/>
          <p:nvPr/>
        </p:nvSpPr>
        <p:spPr>
          <a:xfrm>
            <a:off x="2231136" y="4224528"/>
            <a:ext cx="0" cy="411480"/>
          </a:xfrm>
          <a:prstGeom prst="line">
            <a:avLst/>
          </a:prstGeom>
          <a:noFill/>
          <a:ln w="6350">
            <a:solidFill>
              <a:srgbClr val="475569"/>
            </a:solidFill>
            <a:prstDash val="solid"/>
          </a:ln>
        </p:spPr>
      </p:sp>
      <p:sp>
        <p:nvSpPr>
          <p:cNvPr id="11" name="Text 9"/>
          <p:cNvSpPr/>
          <p:nvPr/>
        </p:nvSpPr>
        <p:spPr>
          <a:xfrm>
            <a:off x="2395728" y="4005072"/>
            <a:ext cx="6035040" cy="685800"/>
          </a:xfrm>
          <a:prstGeom prst="rect">
            <a:avLst/>
          </a:prstGeom>
          <a:noFill/>
          <a:ln/>
        </p:spPr>
        <p:txBody>
          <a:bodyPr wrap="square" lIns="0" tIns="0" rIns="0" bIns="0" rtlCol="0" anchor="ctr"/>
          <a:lstStyle/>
          <a:p>
            <a:pPr indent="0" marL="0">
              <a:buNone/>
            </a:pPr>
            <a:r>
              <a:rPr lang="en-US" sz="1600" i="1" dirty="0">
                <a:solidFill>
                  <a:srgbClr val="FFFFFF"/>
                </a:solidFill>
              </a:rPr>
              <a:t>Get the right context in — keep the wrong context out.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0F172A"/>
                </a:solidFill>
              </a:rPr>
              <a:t>What Is This Course About?</a:t>
            </a:r>
            <a:endParaRPr lang="en-US" sz="2800" dirty="0"/>
          </a:p>
        </p:txBody>
      </p:sp>
      <p:sp>
        <p:nvSpPr>
          <p:cNvPr id="3" name="Text 1"/>
          <p:cNvSpPr/>
          <p:nvPr/>
        </p:nvSpPr>
        <p:spPr>
          <a:xfrm>
            <a:off x="457200" y="804672"/>
            <a:ext cx="8229600" cy="310896"/>
          </a:xfrm>
          <a:prstGeom prst="rect">
            <a:avLst/>
          </a:prstGeom>
          <a:noFill/>
          <a:ln/>
        </p:spPr>
        <p:txBody>
          <a:bodyPr wrap="square" lIns="0" tIns="0" rIns="0" bIns="0" rtlCol="0" anchor="ctr"/>
          <a:lstStyle/>
          <a:p>
            <a:pPr indent="0" marL="0">
              <a:buNone/>
            </a:pPr>
            <a:r>
              <a:rPr lang="en-US" sz="1300" dirty="0">
                <a:solidFill>
                  <a:srgbClr val="475569"/>
                </a:solidFill>
              </a:rPr>
              <a:t>Understanding AI is now as important as knowing how to use email.</a:t>
            </a:r>
            <a:endParaRPr lang="en-US" sz="1300" dirty="0"/>
          </a:p>
        </p:txBody>
      </p:sp>
      <p:sp>
        <p:nvSpPr>
          <p:cNvPr id="4" name="Shape 2"/>
          <p:cNvSpPr/>
          <p:nvPr/>
        </p:nvSpPr>
        <p:spPr>
          <a:xfrm>
            <a:off x="457200" y="1143000"/>
            <a:ext cx="8229600" cy="0"/>
          </a:xfrm>
          <a:prstGeom prst="line">
            <a:avLst/>
          </a:prstGeom>
          <a:noFill/>
          <a:ln w="6350">
            <a:solidFill>
              <a:srgbClr val="E2E8F0"/>
            </a:solidFill>
            <a:prstDash val="solid"/>
          </a:ln>
        </p:spPr>
      </p:sp>
      <p:sp>
        <p:nvSpPr>
          <p:cNvPr id="5" name="Shape 3"/>
          <p:cNvSpPr/>
          <p:nvPr/>
        </p:nvSpPr>
        <p:spPr>
          <a:xfrm>
            <a:off x="365760" y="1261872"/>
            <a:ext cx="8412480" cy="1024128"/>
          </a:xfrm>
          <a:prstGeom prst="roundRect">
            <a:avLst>
              <a:gd name="adj" fmla="val 10714"/>
            </a:avLst>
          </a:prstGeom>
          <a:solidFill>
            <a:srgbClr val="F0FDFA"/>
          </a:solidFill>
          <a:ln w="6350">
            <a:solidFill>
              <a:srgbClr val="E2E8F0"/>
            </a:solidFill>
            <a:prstDash val="solid"/>
          </a:ln>
        </p:spPr>
      </p:sp>
      <p:sp>
        <p:nvSpPr>
          <p:cNvPr id="6" name="Text 4"/>
          <p:cNvSpPr/>
          <p:nvPr/>
        </p:nvSpPr>
        <p:spPr>
          <a:xfrm>
            <a:off x="594360" y="1371600"/>
            <a:ext cx="7955280" cy="320040"/>
          </a:xfrm>
          <a:prstGeom prst="rect">
            <a:avLst/>
          </a:prstGeom>
          <a:noFill/>
          <a:ln/>
        </p:spPr>
        <p:txBody>
          <a:bodyPr wrap="square" lIns="0" tIns="0" rIns="0" bIns="0" rtlCol="0" anchor="ctr"/>
          <a:lstStyle/>
          <a:p>
            <a:pPr indent="0" marL="0">
              <a:buNone/>
            </a:pPr>
            <a:r>
              <a:rPr lang="en-US" sz="1400" dirty="0">
                <a:solidFill>
                  <a:srgbClr val="0F172A"/>
                </a:solidFill>
              </a:rPr>
              <a:t>Most people use AI like a search engine — short question, skim the answer, move on.</a:t>
            </a:r>
            <a:endParaRPr lang="en-US" sz="1400" dirty="0"/>
          </a:p>
        </p:txBody>
      </p:sp>
      <p:sp>
        <p:nvSpPr>
          <p:cNvPr id="7" name="Text 5"/>
          <p:cNvSpPr/>
          <p:nvPr/>
        </p:nvSpPr>
        <p:spPr>
          <a:xfrm>
            <a:off x="594360" y="1691640"/>
            <a:ext cx="7955280" cy="411480"/>
          </a:xfrm>
          <a:prstGeom prst="rect">
            <a:avLst/>
          </a:prstGeom>
          <a:noFill/>
          <a:ln/>
        </p:spPr>
        <p:txBody>
          <a:bodyPr wrap="square" lIns="0" tIns="0" rIns="0" bIns="0" rtlCol="0" anchor="ctr"/>
          <a:lstStyle/>
          <a:p>
            <a:pPr indent="0" marL="0">
              <a:buNone/>
            </a:pPr>
            <a:r>
              <a:rPr lang="en-US" sz="1200" dirty="0">
                <a:solidFill>
                  <a:srgbClr val="475569"/>
                </a:solidFill>
              </a:rPr>
              <a:t>Power users brief it like a smart new colleague: with context, constraints, and a clear ask. The gap between them is NOT cleverness — it is a handful of habits.</a:t>
            </a:r>
            <a:endParaRPr lang="en-US" sz="1200" dirty="0"/>
          </a:p>
        </p:txBody>
      </p:sp>
      <p:sp>
        <p:nvSpPr>
          <p:cNvPr id="8" name="Shape 6"/>
          <p:cNvSpPr/>
          <p:nvPr/>
        </p:nvSpPr>
        <p:spPr>
          <a:xfrm>
            <a:off x="347472" y="2423160"/>
            <a:ext cx="2029968" cy="2395728"/>
          </a:xfrm>
          <a:prstGeom prst="roundRect">
            <a:avLst>
              <a:gd name="adj" fmla="val 5405"/>
            </a:avLst>
          </a:prstGeom>
          <a:solidFill>
            <a:srgbClr val="FFFFFF"/>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9" name="Shape 7"/>
          <p:cNvSpPr/>
          <p:nvPr/>
        </p:nvSpPr>
        <p:spPr>
          <a:xfrm>
            <a:off x="347472" y="2423160"/>
            <a:ext cx="2029968" cy="411480"/>
          </a:xfrm>
          <a:prstGeom prst="roundRect">
            <a:avLst>
              <a:gd name="adj" fmla="val 26667"/>
            </a:avLst>
          </a:prstGeom>
          <a:solidFill>
            <a:srgbClr val="0D9488"/>
          </a:solidFill>
          <a:ln w="12700">
            <a:solidFill>
              <a:srgbClr val="0D9488"/>
            </a:solidFill>
            <a:prstDash val="solid"/>
          </a:ln>
        </p:spPr>
      </p:sp>
      <p:sp>
        <p:nvSpPr>
          <p:cNvPr id="10" name="Text 8"/>
          <p:cNvSpPr/>
          <p:nvPr/>
        </p:nvSpPr>
        <p:spPr>
          <a:xfrm>
            <a:off x="347472" y="2423160"/>
            <a:ext cx="2029968" cy="201168"/>
          </a:xfrm>
          <a:prstGeom prst="rect">
            <a:avLst/>
          </a:prstGeom>
          <a:noFill/>
          <a:ln/>
        </p:spPr>
        <p:txBody>
          <a:bodyPr wrap="square" lIns="0" tIns="0" rIns="0" bIns="0" rtlCol="0" anchor="ctr"/>
          <a:lstStyle/>
          <a:p>
            <a:pPr algn="ctr" indent="0" marL="0">
              <a:buNone/>
            </a:pPr>
            <a:r>
              <a:rPr lang="en-US" sz="900" b="1" spc="150" kern="0" dirty="0">
                <a:solidFill>
                  <a:srgbClr val="FFFFFF"/>
                </a:solidFill>
              </a:rPr>
              <a:t>Part 1</a:t>
            </a:r>
            <a:endParaRPr lang="en-US" sz="900" dirty="0"/>
          </a:p>
        </p:txBody>
      </p:sp>
      <p:sp>
        <p:nvSpPr>
          <p:cNvPr id="11" name="Text 9"/>
          <p:cNvSpPr/>
          <p:nvPr/>
        </p:nvSpPr>
        <p:spPr>
          <a:xfrm>
            <a:off x="347472" y="2624328"/>
            <a:ext cx="2029968" cy="201168"/>
          </a:xfrm>
          <a:prstGeom prst="rect">
            <a:avLst/>
          </a:prstGeom>
          <a:noFill/>
          <a:ln/>
        </p:spPr>
        <p:txBody>
          <a:bodyPr wrap="square" lIns="0" tIns="0" rIns="0" bIns="0" rtlCol="0" anchor="ctr"/>
          <a:lstStyle/>
          <a:p>
            <a:pPr algn="ctr" indent="0" marL="0">
              <a:buNone/>
            </a:pPr>
            <a:r>
              <a:rPr lang="en-US" sz="850" dirty="0">
                <a:solidFill>
                  <a:srgbClr val="FFFFFF"/>
                </a:solidFill>
              </a:rPr>
              <a:t>Concepts 1–3</a:t>
            </a:r>
            <a:endParaRPr lang="en-US" sz="850" dirty="0"/>
          </a:p>
        </p:txBody>
      </p:sp>
      <p:sp>
        <p:nvSpPr>
          <p:cNvPr id="12" name="Text 10"/>
          <p:cNvSpPr/>
          <p:nvPr/>
        </p:nvSpPr>
        <p:spPr>
          <a:xfrm>
            <a:off x="438912" y="2907792"/>
            <a:ext cx="1847088" cy="310896"/>
          </a:xfrm>
          <a:prstGeom prst="rect">
            <a:avLst/>
          </a:prstGeom>
          <a:noFill/>
          <a:ln/>
        </p:spPr>
        <p:txBody>
          <a:bodyPr wrap="square" lIns="0" tIns="0" rIns="0" bIns="0" rtlCol="0" anchor="ctr"/>
          <a:lstStyle/>
          <a:p>
            <a:pPr algn="ctr" indent="0" marL="0">
              <a:buNone/>
            </a:pPr>
            <a:r>
              <a:rPr lang="en-US" sz="1200" b="1" dirty="0">
                <a:solidFill>
                  <a:srgbClr val="0F172A"/>
                </a:solidFill>
              </a:rPr>
              <a:t>How AI Knows Things</a:t>
            </a:r>
            <a:endParaRPr lang="en-US" sz="1200" dirty="0"/>
          </a:p>
        </p:txBody>
      </p:sp>
      <p:sp>
        <p:nvSpPr>
          <p:cNvPr id="13" name="Text 11"/>
          <p:cNvSpPr/>
          <p:nvPr/>
        </p:nvSpPr>
        <p:spPr>
          <a:xfrm>
            <a:off x="438912" y="3246120"/>
            <a:ext cx="1847088" cy="822960"/>
          </a:xfrm>
          <a:prstGeom prst="rect">
            <a:avLst/>
          </a:prstGeom>
          <a:noFill/>
          <a:ln/>
        </p:spPr>
        <p:txBody>
          <a:bodyPr wrap="square" lIns="0" tIns="0" rIns="0" bIns="0" rtlCol="0" anchor="ctr"/>
          <a:lstStyle/>
          <a:p>
            <a:pPr algn="ctr" indent="0" marL="0">
              <a:buNone/>
            </a:pPr>
            <a:r>
              <a:rPr lang="en-US" sz="950" dirty="0">
                <a:solidFill>
                  <a:srgbClr val="475569"/>
                </a:solidFill>
              </a:rPr>
              <a:t>What it knows, what it guesses, how to make it search</a:t>
            </a:r>
            <a:endParaRPr lang="en-US" sz="950" dirty="0"/>
          </a:p>
        </p:txBody>
      </p:sp>
      <p:sp>
        <p:nvSpPr>
          <p:cNvPr id="14" name="Shape 12"/>
          <p:cNvSpPr/>
          <p:nvPr/>
        </p:nvSpPr>
        <p:spPr>
          <a:xfrm>
            <a:off x="2496312" y="2423160"/>
            <a:ext cx="2029968" cy="2395728"/>
          </a:xfrm>
          <a:prstGeom prst="roundRect">
            <a:avLst>
              <a:gd name="adj" fmla="val 5405"/>
            </a:avLst>
          </a:prstGeom>
          <a:solidFill>
            <a:srgbClr val="FFFFFF"/>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15" name="Shape 13"/>
          <p:cNvSpPr/>
          <p:nvPr/>
        </p:nvSpPr>
        <p:spPr>
          <a:xfrm>
            <a:off x="2496312" y="2423160"/>
            <a:ext cx="2029968" cy="411480"/>
          </a:xfrm>
          <a:prstGeom prst="roundRect">
            <a:avLst>
              <a:gd name="adj" fmla="val 26667"/>
            </a:avLst>
          </a:prstGeom>
          <a:solidFill>
            <a:srgbClr val="D97706"/>
          </a:solidFill>
          <a:ln w="12700">
            <a:solidFill>
              <a:srgbClr val="D97706"/>
            </a:solidFill>
            <a:prstDash val="solid"/>
          </a:ln>
        </p:spPr>
      </p:sp>
      <p:sp>
        <p:nvSpPr>
          <p:cNvPr id="16" name="Text 14"/>
          <p:cNvSpPr/>
          <p:nvPr/>
        </p:nvSpPr>
        <p:spPr>
          <a:xfrm>
            <a:off x="2496312" y="2423160"/>
            <a:ext cx="2029968" cy="201168"/>
          </a:xfrm>
          <a:prstGeom prst="rect">
            <a:avLst/>
          </a:prstGeom>
          <a:noFill/>
          <a:ln/>
        </p:spPr>
        <p:txBody>
          <a:bodyPr wrap="square" lIns="0" tIns="0" rIns="0" bIns="0" rtlCol="0" anchor="ctr"/>
          <a:lstStyle/>
          <a:p>
            <a:pPr algn="ctr" indent="0" marL="0">
              <a:buNone/>
            </a:pPr>
            <a:r>
              <a:rPr lang="en-US" sz="900" b="1" spc="150" kern="0" dirty="0">
                <a:solidFill>
                  <a:srgbClr val="FFFFFF"/>
                </a:solidFill>
              </a:rPr>
              <a:t>Part 2</a:t>
            </a:r>
            <a:endParaRPr lang="en-US" sz="900" dirty="0"/>
          </a:p>
        </p:txBody>
      </p:sp>
      <p:sp>
        <p:nvSpPr>
          <p:cNvPr id="17" name="Text 15"/>
          <p:cNvSpPr/>
          <p:nvPr/>
        </p:nvSpPr>
        <p:spPr>
          <a:xfrm>
            <a:off x="2496312" y="2624328"/>
            <a:ext cx="2029968" cy="201168"/>
          </a:xfrm>
          <a:prstGeom prst="rect">
            <a:avLst/>
          </a:prstGeom>
          <a:noFill/>
          <a:ln/>
        </p:spPr>
        <p:txBody>
          <a:bodyPr wrap="square" lIns="0" tIns="0" rIns="0" bIns="0" rtlCol="0" anchor="ctr"/>
          <a:lstStyle/>
          <a:p>
            <a:pPr algn="ctr" indent="0" marL="0">
              <a:buNone/>
            </a:pPr>
            <a:r>
              <a:rPr lang="en-US" sz="850" dirty="0">
                <a:solidFill>
                  <a:srgbClr val="FFFFFF"/>
                </a:solidFill>
              </a:rPr>
              <a:t>Concepts 4–7</a:t>
            </a:r>
            <a:endParaRPr lang="en-US" sz="850" dirty="0"/>
          </a:p>
        </p:txBody>
      </p:sp>
      <p:sp>
        <p:nvSpPr>
          <p:cNvPr id="18" name="Text 16"/>
          <p:cNvSpPr/>
          <p:nvPr/>
        </p:nvSpPr>
        <p:spPr>
          <a:xfrm>
            <a:off x="2587752" y="2907792"/>
            <a:ext cx="1847088" cy="310896"/>
          </a:xfrm>
          <a:prstGeom prst="rect">
            <a:avLst/>
          </a:prstGeom>
          <a:noFill/>
          <a:ln/>
        </p:spPr>
        <p:txBody>
          <a:bodyPr wrap="square" lIns="0" tIns="0" rIns="0" bIns="0" rtlCol="0" anchor="ctr"/>
          <a:lstStyle/>
          <a:p>
            <a:pPr algn="ctr" indent="0" marL="0">
              <a:buNone/>
            </a:pPr>
            <a:r>
              <a:rPr lang="en-US" sz="1200" b="1" dirty="0">
                <a:solidFill>
                  <a:srgbClr val="0F172A"/>
                </a:solidFill>
              </a:rPr>
              <a:t>Talking to AI Well</a:t>
            </a:r>
            <a:endParaRPr lang="en-US" sz="1200" dirty="0"/>
          </a:p>
        </p:txBody>
      </p:sp>
      <p:sp>
        <p:nvSpPr>
          <p:cNvPr id="19" name="Text 17"/>
          <p:cNvSpPr/>
          <p:nvPr/>
        </p:nvSpPr>
        <p:spPr>
          <a:xfrm>
            <a:off x="2587752" y="3246120"/>
            <a:ext cx="1847088" cy="822960"/>
          </a:xfrm>
          <a:prstGeom prst="rect">
            <a:avLst/>
          </a:prstGeom>
          <a:noFill/>
          <a:ln/>
        </p:spPr>
        <p:txBody>
          <a:bodyPr wrap="square" lIns="0" tIns="0" rIns="0" bIns="0" rtlCol="0" anchor="ctr"/>
          <a:lstStyle/>
          <a:p>
            <a:pPr algn="ctr" indent="0" marL="0">
              <a:buNone/>
            </a:pPr>
            <a:r>
              <a:rPr lang="en-US" sz="950" dirty="0">
                <a:solidFill>
                  <a:srgbClr val="475569"/>
                </a:solidFill>
              </a:rPr>
              <a:t>Context, reasoning, flattery, iteration loops</a:t>
            </a:r>
            <a:endParaRPr lang="en-US" sz="950" dirty="0"/>
          </a:p>
        </p:txBody>
      </p:sp>
      <p:sp>
        <p:nvSpPr>
          <p:cNvPr id="20" name="Shape 18"/>
          <p:cNvSpPr/>
          <p:nvPr/>
        </p:nvSpPr>
        <p:spPr>
          <a:xfrm>
            <a:off x="4645152" y="2423160"/>
            <a:ext cx="2029968" cy="2395728"/>
          </a:xfrm>
          <a:prstGeom prst="roundRect">
            <a:avLst>
              <a:gd name="adj" fmla="val 5405"/>
            </a:avLst>
          </a:prstGeom>
          <a:solidFill>
            <a:srgbClr val="FFFFFF"/>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21" name="Shape 19"/>
          <p:cNvSpPr/>
          <p:nvPr/>
        </p:nvSpPr>
        <p:spPr>
          <a:xfrm>
            <a:off x="4645152" y="2423160"/>
            <a:ext cx="2029968" cy="411480"/>
          </a:xfrm>
          <a:prstGeom prst="roundRect">
            <a:avLst>
              <a:gd name="adj" fmla="val 26667"/>
            </a:avLst>
          </a:prstGeom>
          <a:solidFill>
            <a:srgbClr val="7C3AED"/>
          </a:solidFill>
          <a:ln w="12700">
            <a:solidFill>
              <a:srgbClr val="7C3AED"/>
            </a:solidFill>
            <a:prstDash val="solid"/>
          </a:ln>
        </p:spPr>
      </p:sp>
      <p:sp>
        <p:nvSpPr>
          <p:cNvPr id="22" name="Text 20"/>
          <p:cNvSpPr/>
          <p:nvPr/>
        </p:nvSpPr>
        <p:spPr>
          <a:xfrm>
            <a:off x="4645152" y="2423160"/>
            <a:ext cx="2029968" cy="201168"/>
          </a:xfrm>
          <a:prstGeom prst="rect">
            <a:avLst/>
          </a:prstGeom>
          <a:noFill/>
          <a:ln/>
        </p:spPr>
        <p:txBody>
          <a:bodyPr wrap="square" lIns="0" tIns="0" rIns="0" bIns="0" rtlCol="0" anchor="ctr"/>
          <a:lstStyle/>
          <a:p>
            <a:pPr algn="ctr" indent="0" marL="0">
              <a:buNone/>
            </a:pPr>
            <a:r>
              <a:rPr lang="en-US" sz="900" b="1" spc="150" kern="0" dirty="0">
                <a:solidFill>
                  <a:srgbClr val="FFFFFF"/>
                </a:solidFill>
              </a:rPr>
              <a:t>Part 3</a:t>
            </a:r>
            <a:endParaRPr lang="en-US" sz="900" dirty="0"/>
          </a:p>
        </p:txBody>
      </p:sp>
      <p:sp>
        <p:nvSpPr>
          <p:cNvPr id="23" name="Text 21"/>
          <p:cNvSpPr/>
          <p:nvPr/>
        </p:nvSpPr>
        <p:spPr>
          <a:xfrm>
            <a:off x="4645152" y="2624328"/>
            <a:ext cx="2029968" cy="201168"/>
          </a:xfrm>
          <a:prstGeom prst="rect">
            <a:avLst/>
          </a:prstGeom>
          <a:noFill/>
          <a:ln/>
        </p:spPr>
        <p:txBody>
          <a:bodyPr wrap="square" lIns="0" tIns="0" rIns="0" bIns="0" rtlCol="0" anchor="ctr"/>
          <a:lstStyle/>
          <a:p>
            <a:pPr algn="ctr" indent="0" marL="0">
              <a:buNone/>
            </a:pPr>
            <a:r>
              <a:rPr lang="en-US" sz="850" dirty="0">
                <a:solidFill>
                  <a:srgbClr val="FFFFFF"/>
                </a:solidFill>
              </a:rPr>
              <a:t>Concepts 8–10</a:t>
            </a:r>
            <a:endParaRPr lang="en-US" sz="850" dirty="0"/>
          </a:p>
        </p:txBody>
      </p:sp>
      <p:sp>
        <p:nvSpPr>
          <p:cNvPr id="24" name="Text 22"/>
          <p:cNvSpPr/>
          <p:nvPr/>
        </p:nvSpPr>
        <p:spPr>
          <a:xfrm>
            <a:off x="4736592" y="2907792"/>
            <a:ext cx="1847088" cy="310896"/>
          </a:xfrm>
          <a:prstGeom prst="rect">
            <a:avLst/>
          </a:prstGeom>
          <a:noFill/>
          <a:ln/>
        </p:spPr>
        <p:txBody>
          <a:bodyPr wrap="square" lIns="0" tIns="0" rIns="0" bIns="0" rtlCol="0" anchor="ctr"/>
          <a:lstStyle/>
          <a:p>
            <a:pPr algn="ctr" indent="0" marL="0">
              <a:buNone/>
            </a:pPr>
            <a:r>
              <a:rPr lang="en-US" sz="1200" b="1" dirty="0">
                <a:solidFill>
                  <a:srgbClr val="0F172A"/>
                </a:solidFill>
              </a:rPr>
              <a:t>Beyond Text</a:t>
            </a:r>
            <a:endParaRPr lang="en-US" sz="1200" dirty="0"/>
          </a:p>
        </p:txBody>
      </p:sp>
      <p:sp>
        <p:nvSpPr>
          <p:cNvPr id="25" name="Text 23"/>
          <p:cNvSpPr/>
          <p:nvPr/>
        </p:nvSpPr>
        <p:spPr>
          <a:xfrm>
            <a:off x="4736592" y="3246120"/>
            <a:ext cx="1847088" cy="822960"/>
          </a:xfrm>
          <a:prstGeom prst="rect">
            <a:avLst/>
          </a:prstGeom>
          <a:noFill/>
          <a:ln/>
        </p:spPr>
        <p:txBody>
          <a:bodyPr wrap="square" lIns="0" tIns="0" rIns="0" bIns="0" rtlCol="0" anchor="ctr"/>
          <a:lstStyle/>
          <a:p>
            <a:pPr algn="ctr" indent="0" marL="0">
              <a:buNone/>
            </a:pPr>
            <a:r>
              <a:rPr lang="en-US" sz="950" dirty="0">
                <a:solidFill>
                  <a:srgbClr val="475569"/>
                </a:solidFill>
              </a:rPr>
              <a:t>Photos, apps, data analysis, code verification</a:t>
            </a:r>
            <a:endParaRPr lang="en-US" sz="950" dirty="0"/>
          </a:p>
        </p:txBody>
      </p:sp>
      <p:sp>
        <p:nvSpPr>
          <p:cNvPr id="26" name="Shape 24"/>
          <p:cNvSpPr/>
          <p:nvPr/>
        </p:nvSpPr>
        <p:spPr>
          <a:xfrm>
            <a:off x="6793992" y="2423160"/>
            <a:ext cx="2029968" cy="2395728"/>
          </a:xfrm>
          <a:prstGeom prst="roundRect">
            <a:avLst>
              <a:gd name="adj" fmla="val 5405"/>
            </a:avLst>
          </a:prstGeom>
          <a:solidFill>
            <a:srgbClr val="FFFFFF"/>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27" name="Shape 25"/>
          <p:cNvSpPr/>
          <p:nvPr/>
        </p:nvSpPr>
        <p:spPr>
          <a:xfrm>
            <a:off x="6793992" y="2423160"/>
            <a:ext cx="2029968" cy="411480"/>
          </a:xfrm>
          <a:prstGeom prst="roundRect">
            <a:avLst>
              <a:gd name="adj" fmla="val 26667"/>
            </a:avLst>
          </a:prstGeom>
          <a:solidFill>
            <a:srgbClr val="2563EB"/>
          </a:solidFill>
          <a:ln w="12700">
            <a:solidFill>
              <a:srgbClr val="2563EB"/>
            </a:solidFill>
            <a:prstDash val="solid"/>
          </a:ln>
        </p:spPr>
      </p:sp>
      <p:sp>
        <p:nvSpPr>
          <p:cNvPr id="28" name="Text 26"/>
          <p:cNvSpPr/>
          <p:nvPr/>
        </p:nvSpPr>
        <p:spPr>
          <a:xfrm>
            <a:off x="6793992" y="2423160"/>
            <a:ext cx="2029968" cy="201168"/>
          </a:xfrm>
          <a:prstGeom prst="rect">
            <a:avLst/>
          </a:prstGeom>
          <a:noFill/>
          <a:ln/>
        </p:spPr>
        <p:txBody>
          <a:bodyPr wrap="square" lIns="0" tIns="0" rIns="0" bIns="0" rtlCol="0" anchor="ctr"/>
          <a:lstStyle/>
          <a:p>
            <a:pPr algn="ctr" indent="0" marL="0">
              <a:buNone/>
            </a:pPr>
            <a:r>
              <a:rPr lang="en-US" sz="900" b="1" spc="150" kern="0" dirty="0">
                <a:solidFill>
                  <a:srgbClr val="FFFFFF"/>
                </a:solidFill>
              </a:rPr>
              <a:t>Part 4</a:t>
            </a:r>
            <a:endParaRPr lang="en-US" sz="900" dirty="0"/>
          </a:p>
        </p:txBody>
      </p:sp>
      <p:sp>
        <p:nvSpPr>
          <p:cNvPr id="29" name="Text 27"/>
          <p:cNvSpPr/>
          <p:nvPr/>
        </p:nvSpPr>
        <p:spPr>
          <a:xfrm>
            <a:off x="6793992" y="2624328"/>
            <a:ext cx="2029968" cy="201168"/>
          </a:xfrm>
          <a:prstGeom prst="rect">
            <a:avLst/>
          </a:prstGeom>
          <a:noFill/>
          <a:ln/>
        </p:spPr>
        <p:txBody>
          <a:bodyPr wrap="square" lIns="0" tIns="0" rIns="0" bIns="0" rtlCol="0" anchor="ctr"/>
          <a:lstStyle/>
          <a:p>
            <a:pPr algn="ctr" indent="0" marL="0">
              <a:buNone/>
            </a:pPr>
            <a:r>
              <a:rPr lang="en-US" sz="850" dirty="0">
                <a:solidFill>
                  <a:srgbClr val="FFFFFF"/>
                </a:solidFill>
              </a:rPr>
              <a:t>Concepts 11–13</a:t>
            </a:r>
            <a:endParaRPr lang="en-US" sz="850" dirty="0"/>
          </a:p>
        </p:txBody>
      </p:sp>
      <p:sp>
        <p:nvSpPr>
          <p:cNvPr id="30" name="Text 28"/>
          <p:cNvSpPr/>
          <p:nvPr/>
        </p:nvSpPr>
        <p:spPr>
          <a:xfrm>
            <a:off x="6885432" y="2907792"/>
            <a:ext cx="1847088" cy="310896"/>
          </a:xfrm>
          <a:prstGeom prst="rect">
            <a:avLst/>
          </a:prstGeom>
          <a:noFill/>
          <a:ln/>
        </p:spPr>
        <p:txBody>
          <a:bodyPr wrap="square" lIns="0" tIns="0" rIns="0" bIns="0" rtlCol="0" anchor="ctr"/>
          <a:lstStyle/>
          <a:p>
            <a:pPr algn="ctr" indent="0" marL="0">
              <a:buNone/>
            </a:pPr>
            <a:r>
              <a:rPr lang="en-US" sz="1200" b="1" dirty="0">
                <a:solidFill>
                  <a:srgbClr val="0F172A"/>
                </a:solidFill>
              </a:rPr>
              <a:t>Safety &amp; Tools</a:t>
            </a:r>
            <a:endParaRPr lang="en-US" sz="1200" dirty="0"/>
          </a:p>
        </p:txBody>
      </p:sp>
      <p:sp>
        <p:nvSpPr>
          <p:cNvPr id="31" name="Text 29"/>
          <p:cNvSpPr/>
          <p:nvPr/>
        </p:nvSpPr>
        <p:spPr>
          <a:xfrm>
            <a:off x="6885432" y="3246120"/>
            <a:ext cx="1847088" cy="822960"/>
          </a:xfrm>
          <a:prstGeom prst="rect">
            <a:avLst/>
          </a:prstGeom>
          <a:noFill/>
          <a:ln/>
        </p:spPr>
        <p:txBody>
          <a:bodyPr wrap="square" lIns="0" tIns="0" rIns="0" bIns="0" rtlCol="0" anchor="ctr"/>
          <a:lstStyle/>
          <a:p>
            <a:pPr algn="ctr" indent="0" marL="0">
              <a:buNone/>
            </a:pPr>
            <a:r>
              <a:rPr lang="en-US" sz="950" dirty="0">
                <a:solidFill>
                  <a:srgbClr val="475569"/>
                </a:solidFill>
              </a:rPr>
              <a:t>Permissions, picking the right model, cross-checking</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0F172A"/>
                </a:solidFill>
              </a:rPr>
              <a:t>The Most Important Fact About AI</a:t>
            </a:r>
            <a:endParaRPr lang="en-US" sz="2800" dirty="0"/>
          </a:p>
        </p:txBody>
      </p:sp>
      <p:sp>
        <p:nvSpPr>
          <p:cNvPr id="3" name="Text 1"/>
          <p:cNvSpPr/>
          <p:nvPr/>
        </p:nvSpPr>
        <p:spPr>
          <a:xfrm>
            <a:off x="457200" y="804672"/>
            <a:ext cx="8229600" cy="310896"/>
          </a:xfrm>
          <a:prstGeom prst="rect">
            <a:avLst/>
          </a:prstGeom>
          <a:noFill/>
          <a:ln/>
        </p:spPr>
        <p:txBody>
          <a:bodyPr wrap="square" lIns="0" tIns="0" rIns="0" bIns="0" rtlCol="0" anchor="ctr"/>
          <a:lstStyle/>
          <a:p>
            <a:pPr indent="0" marL="0">
              <a:buNone/>
            </a:pPr>
            <a:r>
              <a:rPr lang="en-US" sz="1300" dirty="0">
                <a:solidFill>
                  <a:srgbClr val="475569"/>
                </a:solidFill>
              </a:rPr>
              <a:t>Understanding this one thing explains everything else.</a:t>
            </a:r>
            <a:endParaRPr lang="en-US" sz="1300" dirty="0"/>
          </a:p>
        </p:txBody>
      </p:sp>
      <p:sp>
        <p:nvSpPr>
          <p:cNvPr id="4" name="Shape 2"/>
          <p:cNvSpPr/>
          <p:nvPr/>
        </p:nvSpPr>
        <p:spPr>
          <a:xfrm>
            <a:off x="457200" y="1143000"/>
            <a:ext cx="8229600" cy="0"/>
          </a:xfrm>
          <a:prstGeom prst="line">
            <a:avLst/>
          </a:prstGeom>
          <a:noFill/>
          <a:ln w="6350">
            <a:solidFill>
              <a:srgbClr val="E2E8F0"/>
            </a:solidFill>
            <a:prstDash val="solid"/>
          </a:ln>
        </p:spPr>
      </p:sp>
      <p:sp>
        <p:nvSpPr>
          <p:cNvPr id="5" name="Shape 3"/>
          <p:cNvSpPr/>
          <p:nvPr/>
        </p:nvSpPr>
        <p:spPr>
          <a:xfrm>
            <a:off x="365760" y="1261872"/>
            <a:ext cx="8412480" cy="1078992"/>
          </a:xfrm>
          <a:prstGeom prst="roundRect">
            <a:avLst>
              <a:gd name="adj" fmla="val 10169"/>
            </a:avLst>
          </a:prstGeom>
          <a:solidFill>
            <a:srgbClr val="F0FDFA"/>
          </a:solidFill>
          <a:ln w="6350">
            <a:solidFill>
              <a:srgbClr val="E2E8F0"/>
            </a:solidFill>
            <a:prstDash val="solid"/>
          </a:ln>
        </p:spPr>
      </p:sp>
      <p:sp>
        <p:nvSpPr>
          <p:cNvPr id="6" name="Text 4"/>
          <p:cNvSpPr/>
          <p:nvPr/>
        </p:nvSpPr>
        <p:spPr>
          <a:xfrm>
            <a:off x="594360" y="1371600"/>
            <a:ext cx="7955280" cy="347472"/>
          </a:xfrm>
          <a:prstGeom prst="rect">
            <a:avLst/>
          </a:prstGeom>
          <a:noFill/>
          <a:ln/>
        </p:spPr>
        <p:txBody>
          <a:bodyPr wrap="square" lIns="0" tIns="0" rIns="0" bIns="0" rtlCol="0" anchor="ctr"/>
          <a:lstStyle/>
          <a:p>
            <a:pPr indent="0" marL="0">
              <a:buNone/>
            </a:pPr>
            <a:r>
              <a:rPr lang="en-US" sz="1600" b="1" dirty="0">
                <a:solidFill>
                  <a:srgbClr val="0F172A"/>
                </a:solidFill>
              </a:rPr>
              <a:t>Every time you press Send, the AI starts from zero.</a:t>
            </a:r>
            <a:endParaRPr lang="en-US" sz="1600" dirty="0"/>
          </a:p>
        </p:txBody>
      </p:sp>
      <p:sp>
        <p:nvSpPr>
          <p:cNvPr id="7" name="Text 5"/>
          <p:cNvSpPr/>
          <p:nvPr/>
        </p:nvSpPr>
        <p:spPr>
          <a:xfrm>
            <a:off x="594360" y="1719072"/>
            <a:ext cx="7955280" cy="457200"/>
          </a:xfrm>
          <a:prstGeom prst="rect">
            <a:avLst/>
          </a:prstGeom>
          <a:noFill/>
          <a:ln/>
        </p:spPr>
        <p:txBody>
          <a:bodyPr wrap="square" lIns="0" tIns="0" rIns="0" bIns="0" rtlCol="0" anchor="ctr"/>
          <a:lstStyle/>
          <a:p>
            <a:pPr indent="0" marL="0">
              <a:buNone/>
            </a:pPr>
            <a:r>
              <a:rPr lang="en-US" sz="1200" dirty="0">
                <a:solidFill>
                  <a:srgbClr val="475569"/>
                </a:solidFill>
              </a:rPr>
              <a:t>It does NOT remember yesterday's chat. It does NOT know your name, job, or preferences. It only knows what is written in the current conversation right now.</a:t>
            </a:r>
            <a:endParaRPr lang="en-US" sz="1200" dirty="0"/>
          </a:p>
        </p:txBody>
      </p:sp>
      <p:sp>
        <p:nvSpPr>
          <p:cNvPr id="8" name="Shape 6"/>
          <p:cNvSpPr/>
          <p:nvPr/>
        </p:nvSpPr>
        <p:spPr>
          <a:xfrm>
            <a:off x="347472" y="2487168"/>
            <a:ext cx="2724912" cy="2423160"/>
          </a:xfrm>
          <a:prstGeom prst="roundRect">
            <a:avLst>
              <a:gd name="adj" fmla="val 4528"/>
            </a:avLst>
          </a:prstGeom>
          <a:solidFill>
            <a:srgbClr val="ECFDF5"/>
          </a:solidFill>
          <a:ln w="6350">
            <a:solidFill>
              <a:srgbClr val="E2E8F0"/>
            </a:solidFill>
            <a:prstDash val="solid"/>
          </a:ln>
        </p:spPr>
      </p:sp>
      <p:sp>
        <p:nvSpPr>
          <p:cNvPr id="9" name="Text 7"/>
          <p:cNvSpPr/>
          <p:nvPr/>
        </p:nvSpPr>
        <p:spPr>
          <a:xfrm>
            <a:off x="457200" y="2578608"/>
            <a:ext cx="2505456" cy="384048"/>
          </a:xfrm>
          <a:prstGeom prst="rect">
            <a:avLst/>
          </a:prstGeom>
          <a:noFill/>
          <a:ln/>
        </p:spPr>
        <p:txBody>
          <a:bodyPr wrap="square" lIns="0" tIns="0" rIns="0" bIns="0" rtlCol="0" anchor="ctr"/>
          <a:lstStyle/>
          <a:p>
            <a:pPr indent="0" marL="0">
              <a:buNone/>
            </a:pPr>
            <a:r>
              <a:rPr lang="en-US" sz="1100" b="1" dirty="0">
                <a:solidFill>
                  <a:srgbClr val="059669"/>
                </a:solidFill>
              </a:rPr>
              <a:t>What AI CAN see right now</a:t>
            </a:r>
            <a:endParaRPr lang="en-US" sz="1100" dirty="0"/>
          </a:p>
        </p:txBody>
      </p:sp>
      <p:sp>
        <p:nvSpPr>
          <p:cNvPr id="10" name="Shape 8"/>
          <p:cNvSpPr/>
          <p:nvPr/>
        </p:nvSpPr>
        <p:spPr>
          <a:xfrm>
            <a:off x="457200" y="2990088"/>
            <a:ext cx="2505456" cy="0"/>
          </a:xfrm>
          <a:prstGeom prst="line">
            <a:avLst/>
          </a:prstGeom>
          <a:noFill/>
          <a:ln w="6350">
            <a:solidFill>
              <a:srgbClr val="E2E8F0"/>
            </a:solidFill>
            <a:prstDash val="solid"/>
          </a:ln>
        </p:spPr>
      </p:sp>
      <p:sp>
        <p:nvSpPr>
          <p:cNvPr id="11" name="Text 9"/>
          <p:cNvSpPr/>
          <p:nvPr/>
        </p:nvSpPr>
        <p:spPr>
          <a:xfrm>
            <a:off x="457200" y="3054096"/>
            <a:ext cx="2505456" cy="365760"/>
          </a:xfrm>
          <a:prstGeom prst="rect">
            <a:avLst/>
          </a:prstGeom>
          <a:noFill/>
          <a:ln/>
        </p:spPr>
        <p:txBody>
          <a:bodyPr wrap="square" lIns="0" tIns="0" rIns="0" bIns="0" rtlCol="0" anchor="ctr"/>
          <a:lstStyle/>
          <a:p>
            <a:pPr indent="0" marL="0">
              <a:buNone/>
            </a:pPr>
            <a:r>
              <a:rPr lang="en-US" sz="1050" dirty="0">
                <a:solidFill>
                  <a:srgbClr val="1E293B"/>
                </a:solidFill>
              </a:rPr>
              <a:t>→  Your current message</a:t>
            </a:r>
            <a:endParaRPr lang="en-US" sz="1050" dirty="0"/>
          </a:p>
        </p:txBody>
      </p:sp>
      <p:sp>
        <p:nvSpPr>
          <p:cNvPr id="12" name="Text 10"/>
          <p:cNvSpPr/>
          <p:nvPr/>
        </p:nvSpPr>
        <p:spPr>
          <a:xfrm>
            <a:off x="457200" y="3465576"/>
            <a:ext cx="2505456" cy="365760"/>
          </a:xfrm>
          <a:prstGeom prst="rect">
            <a:avLst/>
          </a:prstGeom>
          <a:noFill/>
          <a:ln/>
        </p:spPr>
        <p:txBody>
          <a:bodyPr wrap="square" lIns="0" tIns="0" rIns="0" bIns="0" rtlCol="0" anchor="ctr"/>
          <a:lstStyle/>
          <a:p>
            <a:pPr indent="0" marL="0">
              <a:buNone/>
            </a:pPr>
            <a:r>
              <a:rPr lang="en-US" sz="1050" dirty="0">
                <a:solidFill>
                  <a:srgbClr val="1E293B"/>
                </a:solidFill>
              </a:rPr>
              <a:t>→  The chat history so far</a:t>
            </a:r>
            <a:endParaRPr lang="en-US" sz="1050" dirty="0"/>
          </a:p>
        </p:txBody>
      </p:sp>
      <p:sp>
        <p:nvSpPr>
          <p:cNvPr id="13" name="Text 11"/>
          <p:cNvSpPr/>
          <p:nvPr/>
        </p:nvSpPr>
        <p:spPr>
          <a:xfrm>
            <a:off x="457200" y="3877056"/>
            <a:ext cx="2505456" cy="365760"/>
          </a:xfrm>
          <a:prstGeom prst="rect">
            <a:avLst/>
          </a:prstGeom>
          <a:noFill/>
          <a:ln/>
        </p:spPr>
        <p:txBody>
          <a:bodyPr wrap="square" lIns="0" tIns="0" rIns="0" bIns="0" rtlCol="0" anchor="ctr"/>
          <a:lstStyle/>
          <a:p>
            <a:pPr indent="0" marL="0">
              <a:buNone/>
            </a:pPr>
            <a:r>
              <a:rPr lang="en-US" sz="1050" dirty="0">
                <a:solidFill>
                  <a:srgbClr val="1E293B"/>
                </a:solidFill>
              </a:rPr>
              <a:t>→  Any files you uploaded</a:t>
            </a:r>
            <a:endParaRPr lang="en-US" sz="1050" dirty="0"/>
          </a:p>
        </p:txBody>
      </p:sp>
      <p:sp>
        <p:nvSpPr>
          <p:cNvPr id="14" name="Text 12"/>
          <p:cNvSpPr/>
          <p:nvPr/>
        </p:nvSpPr>
        <p:spPr>
          <a:xfrm>
            <a:off x="457200" y="4288536"/>
            <a:ext cx="2505456" cy="365760"/>
          </a:xfrm>
          <a:prstGeom prst="rect">
            <a:avLst/>
          </a:prstGeom>
          <a:noFill/>
          <a:ln/>
        </p:spPr>
        <p:txBody>
          <a:bodyPr wrap="square" lIns="0" tIns="0" rIns="0" bIns="0" rtlCol="0" anchor="ctr"/>
          <a:lstStyle/>
          <a:p>
            <a:pPr indent="0" marL="0">
              <a:buNone/>
            </a:pPr>
            <a:r>
              <a:rPr lang="en-US" sz="1050" dirty="0">
                <a:solidFill>
                  <a:srgbClr val="1E293B"/>
                </a:solidFill>
              </a:rPr>
              <a:t>→  System instructions from the tool</a:t>
            </a:r>
            <a:endParaRPr lang="en-US" sz="1050" dirty="0"/>
          </a:p>
        </p:txBody>
      </p:sp>
      <p:sp>
        <p:nvSpPr>
          <p:cNvPr id="15" name="Shape 13"/>
          <p:cNvSpPr/>
          <p:nvPr/>
        </p:nvSpPr>
        <p:spPr>
          <a:xfrm>
            <a:off x="3200400" y="2487168"/>
            <a:ext cx="2724912" cy="2423160"/>
          </a:xfrm>
          <a:prstGeom prst="roundRect">
            <a:avLst>
              <a:gd name="adj" fmla="val 4528"/>
            </a:avLst>
          </a:prstGeom>
          <a:solidFill>
            <a:srgbClr val="FEF2F2"/>
          </a:solidFill>
          <a:ln w="6350">
            <a:solidFill>
              <a:srgbClr val="E2E8F0"/>
            </a:solidFill>
            <a:prstDash val="solid"/>
          </a:ln>
        </p:spPr>
      </p:sp>
      <p:sp>
        <p:nvSpPr>
          <p:cNvPr id="16" name="Text 14"/>
          <p:cNvSpPr/>
          <p:nvPr/>
        </p:nvSpPr>
        <p:spPr>
          <a:xfrm>
            <a:off x="3310128" y="2578608"/>
            <a:ext cx="2505456" cy="384048"/>
          </a:xfrm>
          <a:prstGeom prst="rect">
            <a:avLst/>
          </a:prstGeom>
          <a:noFill/>
          <a:ln/>
        </p:spPr>
        <p:txBody>
          <a:bodyPr wrap="square" lIns="0" tIns="0" rIns="0" bIns="0" rtlCol="0" anchor="ctr"/>
          <a:lstStyle/>
          <a:p>
            <a:pPr indent="0" marL="0">
              <a:buNone/>
            </a:pPr>
            <a:r>
              <a:rPr lang="en-US" sz="1100" b="1" dirty="0">
                <a:solidFill>
                  <a:srgbClr val="DC2626"/>
                </a:solidFill>
              </a:rPr>
              <a:t>What AI CANNOT see</a:t>
            </a:r>
            <a:endParaRPr lang="en-US" sz="1100" dirty="0"/>
          </a:p>
        </p:txBody>
      </p:sp>
      <p:sp>
        <p:nvSpPr>
          <p:cNvPr id="17" name="Shape 15"/>
          <p:cNvSpPr/>
          <p:nvPr/>
        </p:nvSpPr>
        <p:spPr>
          <a:xfrm>
            <a:off x="3310128" y="2990088"/>
            <a:ext cx="2505456" cy="0"/>
          </a:xfrm>
          <a:prstGeom prst="line">
            <a:avLst/>
          </a:prstGeom>
          <a:noFill/>
          <a:ln w="6350">
            <a:solidFill>
              <a:srgbClr val="E2E8F0"/>
            </a:solidFill>
            <a:prstDash val="solid"/>
          </a:ln>
        </p:spPr>
      </p:sp>
      <p:sp>
        <p:nvSpPr>
          <p:cNvPr id="18" name="Text 16"/>
          <p:cNvSpPr/>
          <p:nvPr/>
        </p:nvSpPr>
        <p:spPr>
          <a:xfrm>
            <a:off x="3310128" y="3054096"/>
            <a:ext cx="2505456" cy="365760"/>
          </a:xfrm>
          <a:prstGeom prst="rect">
            <a:avLst/>
          </a:prstGeom>
          <a:noFill/>
          <a:ln/>
        </p:spPr>
        <p:txBody>
          <a:bodyPr wrap="square" lIns="0" tIns="0" rIns="0" bIns="0" rtlCol="0" anchor="ctr"/>
          <a:lstStyle/>
          <a:p>
            <a:pPr indent="0" marL="0">
              <a:buNone/>
            </a:pPr>
            <a:r>
              <a:rPr lang="en-US" sz="1050" dirty="0">
                <a:solidFill>
                  <a:srgbClr val="1E293B"/>
                </a:solidFill>
              </a:rPr>
              <a:t>→  Yesterday's conversation</a:t>
            </a:r>
            <a:endParaRPr lang="en-US" sz="1050" dirty="0"/>
          </a:p>
        </p:txBody>
      </p:sp>
      <p:sp>
        <p:nvSpPr>
          <p:cNvPr id="19" name="Text 17"/>
          <p:cNvSpPr/>
          <p:nvPr/>
        </p:nvSpPr>
        <p:spPr>
          <a:xfrm>
            <a:off x="3310128" y="3465576"/>
            <a:ext cx="2505456" cy="365760"/>
          </a:xfrm>
          <a:prstGeom prst="rect">
            <a:avLst/>
          </a:prstGeom>
          <a:noFill/>
          <a:ln/>
        </p:spPr>
        <p:txBody>
          <a:bodyPr wrap="square" lIns="0" tIns="0" rIns="0" bIns="0" rtlCol="0" anchor="ctr"/>
          <a:lstStyle/>
          <a:p>
            <a:pPr indent="0" marL="0">
              <a:buNone/>
            </a:pPr>
            <a:r>
              <a:rPr lang="en-US" sz="1050" dirty="0">
                <a:solidFill>
                  <a:srgbClr val="1E293B"/>
                </a:solidFill>
              </a:rPr>
              <a:t>→  Other chats you have had</a:t>
            </a:r>
            <a:endParaRPr lang="en-US" sz="1050" dirty="0"/>
          </a:p>
        </p:txBody>
      </p:sp>
      <p:sp>
        <p:nvSpPr>
          <p:cNvPr id="20" name="Text 18"/>
          <p:cNvSpPr/>
          <p:nvPr/>
        </p:nvSpPr>
        <p:spPr>
          <a:xfrm>
            <a:off x="3310128" y="3877056"/>
            <a:ext cx="2505456" cy="365760"/>
          </a:xfrm>
          <a:prstGeom prst="rect">
            <a:avLst/>
          </a:prstGeom>
          <a:noFill/>
          <a:ln/>
        </p:spPr>
        <p:txBody>
          <a:bodyPr wrap="square" lIns="0" tIns="0" rIns="0" bIns="0" rtlCol="0" anchor="ctr"/>
          <a:lstStyle/>
          <a:p>
            <a:pPr indent="0" marL="0">
              <a:buNone/>
            </a:pPr>
            <a:r>
              <a:rPr lang="en-US" sz="1050" dirty="0">
                <a:solidFill>
                  <a:srgbClr val="1E293B"/>
                </a:solidFill>
              </a:rPr>
              <a:t>→  Your private documents</a:t>
            </a:r>
            <a:endParaRPr lang="en-US" sz="1050" dirty="0"/>
          </a:p>
        </p:txBody>
      </p:sp>
      <p:sp>
        <p:nvSpPr>
          <p:cNvPr id="21" name="Text 19"/>
          <p:cNvSpPr/>
          <p:nvPr/>
        </p:nvSpPr>
        <p:spPr>
          <a:xfrm>
            <a:off x="3310128" y="4288536"/>
            <a:ext cx="2505456" cy="365760"/>
          </a:xfrm>
          <a:prstGeom prst="rect">
            <a:avLst/>
          </a:prstGeom>
          <a:noFill/>
          <a:ln/>
        </p:spPr>
        <p:txBody>
          <a:bodyPr wrap="square" lIns="0" tIns="0" rIns="0" bIns="0" rtlCol="0" anchor="ctr"/>
          <a:lstStyle/>
          <a:p>
            <a:pPr indent="0" marL="0">
              <a:buNone/>
            </a:pPr>
            <a:r>
              <a:rPr lang="en-US" sz="1050" dirty="0">
                <a:solidFill>
                  <a:srgbClr val="1E293B"/>
                </a:solidFill>
              </a:rPr>
              <a:t>→  Things you forgot to mention</a:t>
            </a:r>
            <a:endParaRPr lang="en-US" sz="1050" dirty="0"/>
          </a:p>
        </p:txBody>
      </p:sp>
      <p:sp>
        <p:nvSpPr>
          <p:cNvPr id="22" name="Shape 20"/>
          <p:cNvSpPr/>
          <p:nvPr/>
        </p:nvSpPr>
        <p:spPr>
          <a:xfrm>
            <a:off x="6053328" y="2487168"/>
            <a:ext cx="2724912" cy="2423160"/>
          </a:xfrm>
          <a:prstGeom prst="roundRect">
            <a:avLst>
              <a:gd name="adj" fmla="val 4528"/>
            </a:avLst>
          </a:prstGeom>
          <a:solidFill>
            <a:srgbClr val="F0FDFA"/>
          </a:solidFill>
          <a:ln w="6350">
            <a:solidFill>
              <a:srgbClr val="E2E8F0"/>
            </a:solidFill>
            <a:prstDash val="solid"/>
          </a:ln>
        </p:spPr>
      </p:sp>
      <p:sp>
        <p:nvSpPr>
          <p:cNvPr id="23" name="Text 21"/>
          <p:cNvSpPr/>
          <p:nvPr/>
        </p:nvSpPr>
        <p:spPr>
          <a:xfrm>
            <a:off x="6163056" y="2578608"/>
            <a:ext cx="2505456" cy="384048"/>
          </a:xfrm>
          <a:prstGeom prst="rect">
            <a:avLst/>
          </a:prstGeom>
          <a:noFill/>
          <a:ln/>
        </p:spPr>
        <p:txBody>
          <a:bodyPr wrap="square" lIns="0" tIns="0" rIns="0" bIns="0" rtlCol="0" anchor="ctr"/>
          <a:lstStyle/>
          <a:p>
            <a:pPr indent="0" marL="0">
              <a:buNone/>
            </a:pPr>
            <a:r>
              <a:rPr lang="en-US" sz="1100" b="1" dirty="0">
                <a:solidFill>
                  <a:srgbClr val="0D9488"/>
                </a:solidFill>
              </a:rPr>
              <a:t>What YOU should do</a:t>
            </a:r>
            <a:endParaRPr lang="en-US" sz="1100" dirty="0"/>
          </a:p>
        </p:txBody>
      </p:sp>
      <p:sp>
        <p:nvSpPr>
          <p:cNvPr id="24" name="Shape 22"/>
          <p:cNvSpPr/>
          <p:nvPr/>
        </p:nvSpPr>
        <p:spPr>
          <a:xfrm>
            <a:off x="6163056" y="2990088"/>
            <a:ext cx="2505456" cy="0"/>
          </a:xfrm>
          <a:prstGeom prst="line">
            <a:avLst/>
          </a:prstGeom>
          <a:noFill/>
          <a:ln w="6350">
            <a:solidFill>
              <a:srgbClr val="E2E8F0"/>
            </a:solidFill>
            <a:prstDash val="solid"/>
          </a:ln>
        </p:spPr>
      </p:sp>
      <p:sp>
        <p:nvSpPr>
          <p:cNvPr id="25" name="Text 23"/>
          <p:cNvSpPr/>
          <p:nvPr/>
        </p:nvSpPr>
        <p:spPr>
          <a:xfrm>
            <a:off x="6163056" y="3054096"/>
            <a:ext cx="2505456" cy="365760"/>
          </a:xfrm>
          <a:prstGeom prst="rect">
            <a:avLst/>
          </a:prstGeom>
          <a:noFill/>
          <a:ln/>
        </p:spPr>
        <p:txBody>
          <a:bodyPr wrap="square" lIns="0" tIns="0" rIns="0" bIns="0" rtlCol="0" anchor="ctr"/>
          <a:lstStyle/>
          <a:p>
            <a:pPr indent="0" marL="0">
              <a:buNone/>
            </a:pPr>
            <a:r>
              <a:rPr lang="en-US" sz="1050" dirty="0">
                <a:solidFill>
                  <a:srgbClr val="1E293B"/>
                </a:solidFill>
              </a:rPr>
              <a:t>→  Add context every time</a:t>
            </a:r>
            <a:endParaRPr lang="en-US" sz="1050" dirty="0"/>
          </a:p>
        </p:txBody>
      </p:sp>
      <p:sp>
        <p:nvSpPr>
          <p:cNvPr id="26" name="Text 24"/>
          <p:cNvSpPr/>
          <p:nvPr/>
        </p:nvSpPr>
        <p:spPr>
          <a:xfrm>
            <a:off x="6163056" y="3465576"/>
            <a:ext cx="2505456" cy="365760"/>
          </a:xfrm>
          <a:prstGeom prst="rect">
            <a:avLst/>
          </a:prstGeom>
          <a:noFill/>
          <a:ln/>
        </p:spPr>
        <p:txBody>
          <a:bodyPr wrap="square" lIns="0" tIns="0" rIns="0" bIns="0" rtlCol="0" anchor="ctr"/>
          <a:lstStyle/>
          <a:p>
            <a:pPr indent="0" marL="0">
              <a:buNone/>
            </a:pPr>
            <a:r>
              <a:rPr lang="en-US" sz="1050" dirty="0">
                <a:solidFill>
                  <a:srgbClr val="1E293B"/>
                </a:solidFill>
              </a:rPr>
              <a:t>→  Attach relevant files</a:t>
            </a:r>
            <a:endParaRPr lang="en-US" sz="1050" dirty="0"/>
          </a:p>
        </p:txBody>
      </p:sp>
      <p:sp>
        <p:nvSpPr>
          <p:cNvPr id="27" name="Text 25"/>
          <p:cNvSpPr/>
          <p:nvPr/>
        </p:nvSpPr>
        <p:spPr>
          <a:xfrm>
            <a:off x="6163056" y="3877056"/>
            <a:ext cx="2505456" cy="365760"/>
          </a:xfrm>
          <a:prstGeom prst="rect">
            <a:avLst/>
          </a:prstGeom>
          <a:noFill/>
          <a:ln/>
        </p:spPr>
        <p:txBody>
          <a:bodyPr wrap="square" lIns="0" tIns="0" rIns="0" bIns="0" rtlCol="0" anchor="ctr"/>
          <a:lstStyle/>
          <a:p>
            <a:pPr indent="0" marL="0">
              <a:buNone/>
            </a:pPr>
            <a:r>
              <a:rPr lang="en-US" sz="1050" dirty="0">
                <a:solidFill>
                  <a:srgbClr val="1E293B"/>
                </a:solidFill>
              </a:rPr>
              <a:t>→  State your constraints</a:t>
            </a:r>
            <a:endParaRPr lang="en-US" sz="1050" dirty="0"/>
          </a:p>
        </p:txBody>
      </p:sp>
      <p:sp>
        <p:nvSpPr>
          <p:cNvPr id="28" name="Text 26"/>
          <p:cNvSpPr/>
          <p:nvPr/>
        </p:nvSpPr>
        <p:spPr>
          <a:xfrm>
            <a:off x="6163056" y="4288536"/>
            <a:ext cx="2505456" cy="365760"/>
          </a:xfrm>
          <a:prstGeom prst="rect">
            <a:avLst/>
          </a:prstGeom>
          <a:noFill/>
          <a:ln/>
        </p:spPr>
        <p:txBody>
          <a:bodyPr wrap="square" lIns="0" tIns="0" rIns="0" bIns="0" rtlCol="0" anchor="ctr"/>
          <a:lstStyle/>
          <a:p>
            <a:pPr indent="0" marL="0">
              <a:buNone/>
            </a:pPr>
            <a:r>
              <a:rPr lang="en-US" sz="1050" dirty="0">
                <a:solidFill>
                  <a:srgbClr val="1E293B"/>
                </a:solidFill>
              </a:rPr>
              <a:t>→  Start fresh for new topics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56032"/>
            <a:ext cx="1188720" cy="274320"/>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1188720" cy="274320"/>
          </a:xfrm>
          <a:prstGeom prst="rect">
            <a:avLst/>
          </a:prstGeom>
          <a:noFill/>
          <a:ln/>
        </p:spPr>
        <p:txBody>
          <a:bodyPr wrap="square" lIns="0" tIns="0" rIns="0" bIns="0" rtlCol="0" anchor="ctr"/>
          <a:lstStyle/>
          <a:p>
            <a:pPr algn="ctr" indent="0" marL="0">
              <a:buNone/>
            </a:pPr>
            <a:r>
              <a:rPr lang="en-US" sz="850" b="1" spc="200" kern="0" dirty="0">
                <a:solidFill>
                  <a:srgbClr val="FFFFFF"/>
                </a:solidFill>
              </a:rPr>
              <a:t>CONCEPT 1</a:t>
            </a:r>
            <a:endParaRPr lang="en-US" sz="850" dirty="0"/>
          </a:p>
        </p:txBody>
      </p:sp>
      <p:sp>
        <p:nvSpPr>
          <p:cNvPr id="4" name="Text 2"/>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0F172A"/>
                </a:solidFill>
              </a:rPr>
              <a:t>Novice vs. Power User</a:t>
            </a:r>
            <a:endParaRPr lang="en-US" sz="2800" dirty="0"/>
          </a:p>
        </p:txBody>
      </p:sp>
      <p:sp>
        <p:nvSpPr>
          <p:cNvPr id="5" name="Text 3"/>
          <p:cNvSpPr/>
          <p:nvPr/>
        </p:nvSpPr>
        <p:spPr>
          <a:xfrm>
            <a:off x="457200" y="804672"/>
            <a:ext cx="8229600" cy="310896"/>
          </a:xfrm>
          <a:prstGeom prst="rect">
            <a:avLst/>
          </a:prstGeom>
          <a:noFill/>
          <a:ln/>
        </p:spPr>
        <p:txBody>
          <a:bodyPr wrap="square" lIns="0" tIns="0" rIns="0" bIns="0" rtlCol="0" anchor="ctr"/>
          <a:lstStyle/>
          <a:p>
            <a:pPr indent="0" marL="0">
              <a:buNone/>
            </a:pPr>
            <a:r>
              <a:rPr lang="en-US" sz="1300" dirty="0">
                <a:solidFill>
                  <a:srgbClr val="475569"/>
                </a:solidFill>
              </a:rPr>
              <a:t>Same question. Completely different result. The difference is context.</a:t>
            </a:r>
            <a:endParaRPr lang="en-US" sz="1300" dirty="0"/>
          </a:p>
        </p:txBody>
      </p:sp>
      <p:sp>
        <p:nvSpPr>
          <p:cNvPr id="6" name="Shape 4"/>
          <p:cNvSpPr/>
          <p:nvPr/>
        </p:nvSpPr>
        <p:spPr>
          <a:xfrm>
            <a:off x="457200" y="1143000"/>
            <a:ext cx="8229600" cy="0"/>
          </a:xfrm>
          <a:prstGeom prst="line">
            <a:avLst/>
          </a:prstGeom>
          <a:noFill/>
          <a:ln w="6350">
            <a:solidFill>
              <a:srgbClr val="E2E8F0"/>
            </a:solidFill>
            <a:prstDash val="solid"/>
          </a:ln>
        </p:spPr>
      </p:sp>
      <p:sp>
        <p:nvSpPr>
          <p:cNvPr id="7" name="Shape 5"/>
          <p:cNvSpPr/>
          <p:nvPr/>
        </p:nvSpPr>
        <p:spPr>
          <a:xfrm>
            <a:off x="365760" y="1234440"/>
            <a:ext cx="3977640" cy="3611880"/>
          </a:xfrm>
          <a:prstGeom prst="roundRect">
            <a:avLst>
              <a:gd name="adj" fmla="val 3038"/>
            </a:avLst>
          </a:prstGeom>
          <a:solidFill>
            <a:srgbClr val="FEF2F2"/>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8" name="Shape 6"/>
          <p:cNvSpPr/>
          <p:nvPr/>
        </p:nvSpPr>
        <p:spPr>
          <a:xfrm>
            <a:off x="365760" y="1234440"/>
            <a:ext cx="3977640" cy="384048"/>
          </a:xfrm>
          <a:prstGeom prst="roundRect">
            <a:avLst>
              <a:gd name="adj" fmla="val 28571"/>
            </a:avLst>
          </a:prstGeom>
          <a:solidFill>
            <a:srgbClr val="DC2626"/>
          </a:solidFill>
          <a:ln w="12700">
            <a:solidFill>
              <a:srgbClr val="DC2626"/>
            </a:solidFill>
            <a:prstDash val="solid"/>
          </a:ln>
        </p:spPr>
      </p:sp>
      <p:sp>
        <p:nvSpPr>
          <p:cNvPr id="9" name="Text 7"/>
          <p:cNvSpPr/>
          <p:nvPr/>
        </p:nvSpPr>
        <p:spPr>
          <a:xfrm>
            <a:off x="365760" y="1234440"/>
            <a:ext cx="3977640" cy="384048"/>
          </a:xfrm>
          <a:prstGeom prst="rect">
            <a:avLst/>
          </a:prstGeom>
          <a:noFill/>
          <a:ln/>
        </p:spPr>
        <p:txBody>
          <a:bodyPr wrap="square" lIns="0" tIns="0" rIns="0" bIns="0" rtlCol="0" anchor="ctr"/>
          <a:lstStyle/>
          <a:p>
            <a:pPr algn="ctr" indent="0" marL="0">
              <a:buNone/>
            </a:pPr>
            <a:r>
              <a:rPr lang="en-US" sz="1200" b="1" dirty="0">
                <a:solidFill>
                  <a:srgbClr val="FFFFFF"/>
                </a:solidFill>
              </a:rPr>
              <a:t>NOVICE PROMPT  ❌</a:t>
            </a:r>
            <a:endParaRPr lang="en-US" sz="1200" dirty="0"/>
          </a:p>
        </p:txBody>
      </p:sp>
      <p:sp>
        <p:nvSpPr>
          <p:cNvPr id="10" name="Text 8"/>
          <p:cNvSpPr/>
          <p:nvPr/>
        </p:nvSpPr>
        <p:spPr>
          <a:xfrm>
            <a:off x="548640" y="1755648"/>
            <a:ext cx="3584448" cy="502920"/>
          </a:xfrm>
          <a:prstGeom prst="rect">
            <a:avLst/>
          </a:prstGeom>
          <a:noFill/>
          <a:ln/>
        </p:spPr>
        <p:txBody>
          <a:bodyPr wrap="square" lIns="0" tIns="0" rIns="0" bIns="0" rtlCol="0" anchor="ctr"/>
          <a:lstStyle/>
          <a:p>
            <a:pPr indent="0" marL="0">
              <a:buNone/>
            </a:pPr>
            <a:r>
              <a:rPr lang="en-US" sz="1400" b="1" i="1" dirty="0">
                <a:solidFill>
                  <a:srgbClr val="0F172A"/>
                </a:solidFill>
              </a:rPr>
              <a:t>"Which phone should I buy?"</a:t>
            </a:r>
            <a:endParaRPr lang="en-US" sz="1400" dirty="0"/>
          </a:p>
        </p:txBody>
      </p:sp>
      <p:sp>
        <p:nvSpPr>
          <p:cNvPr id="11" name="Shape 9"/>
          <p:cNvSpPr/>
          <p:nvPr/>
        </p:nvSpPr>
        <p:spPr>
          <a:xfrm>
            <a:off x="548640" y="2286000"/>
            <a:ext cx="3584448" cy="0"/>
          </a:xfrm>
          <a:prstGeom prst="line">
            <a:avLst/>
          </a:prstGeom>
          <a:noFill/>
          <a:ln w="6350">
            <a:solidFill>
              <a:srgbClr val="E2E8F0"/>
            </a:solidFill>
            <a:prstDash val="solid"/>
          </a:ln>
        </p:spPr>
      </p:sp>
      <p:sp>
        <p:nvSpPr>
          <p:cNvPr id="12" name="Text 10"/>
          <p:cNvSpPr/>
          <p:nvPr/>
        </p:nvSpPr>
        <p:spPr>
          <a:xfrm>
            <a:off x="548640" y="2359152"/>
            <a:ext cx="3584448" cy="256032"/>
          </a:xfrm>
          <a:prstGeom prst="rect">
            <a:avLst/>
          </a:prstGeom>
          <a:noFill/>
          <a:ln/>
        </p:spPr>
        <p:txBody>
          <a:bodyPr wrap="square" lIns="0" tIns="0" rIns="0" bIns="0" rtlCol="0" anchor="ctr"/>
          <a:lstStyle/>
          <a:p>
            <a:pPr indent="0" marL="0">
              <a:buNone/>
            </a:pPr>
            <a:r>
              <a:rPr lang="en-US" sz="1000" b="1" dirty="0">
                <a:solidFill>
                  <a:srgbClr val="DC2626"/>
                </a:solidFill>
              </a:rPr>
              <a:t>What the AI does:</a:t>
            </a:r>
            <a:endParaRPr lang="en-US" sz="1000" dirty="0"/>
          </a:p>
        </p:txBody>
      </p:sp>
      <p:sp>
        <p:nvSpPr>
          <p:cNvPr id="13" name="Text 11"/>
          <p:cNvSpPr/>
          <p:nvPr/>
        </p:nvSpPr>
        <p:spPr>
          <a:xfrm>
            <a:off x="548640" y="2651760"/>
            <a:ext cx="3584448" cy="1737360"/>
          </a:xfrm>
          <a:prstGeom prst="rect">
            <a:avLst/>
          </a:prstGeom>
          <a:noFill/>
          <a:ln/>
        </p:spPr>
        <p:txBody>
          <a:bodyPr wrap="square" lIns="0" tIns="0" rIns="0" bIns="0" rtlCol="0" anchor="ctr"/>
          <a:lstStyle/>
          <a:p>
            <a:pPr indent="0" marL="0">
              <a:buNone/>
            </a:pPr>
            <a:r>
              <a:rPr lang="en-US" sz="1100" dirty="0">
                <a:solidFill>
                  <a:srgbClr val="475569"/>
                </a:solidFill>
              </a:rPr>
              <a:t>Lists iPhone, Samsung, Google Pixel.
</a:t>
            </a:r>
            <a:pPr indent="0" marL="0">
              <a:buNone/>
            </a:pPr>
            <a:r>
              <a:rPr lang="en-US" sz="1100" dirty="0">
                <a:solidFill>
                  <a:srgbClr val="475569"/>
                </a:solidFill>
              </a:rPr>
              <a:t>Covers every price range.
</a:t>
            </a:r>
            <a:pPr indent="0" marL="0">
              <a:buNone/>
            </a:pPr>
            <a:r>
              <a:rPr lang="en-US" sz="1100" dirty="0">
                <a:solidFill>
                  <a:srgbClr val="475569"/>
                </a:solidFill>
              </a:rPr>
              <a:t>No idea of your budget.
</a:t>
            </a:r>
            <a:pPr indent="0" marL="0">
              <a:buNone/>
            </a:pPr>
            <a:r>
              <a:rPr lang="en-US" sz="1100" dirty="0">
                <a:solidFill>
                  <a:srgbClr val="475569"/>
                </a:solidFill>
              </a:rPr>
              <a:t>No idea what you need it for.
</a:t>
            </a:r>
            <a:pPr indent="0" marL="0">
              <a:buNone/>
            </a:pPr>
            <a:r>
              <a:rPr lang="en-US" sz="1100" b="1" dirty="0">
                <a:solidFill>
                  <a:srgbClr val="475569"/>
                </a:solidFill>
              </a:rPr>
              <a:t>USELESS for making a decision.</a:t>
            </a:r>
            <a:endParaRPr lang="en-US" sz="1100" dirty="0"/>
          </a:p>
        </p:txBody>
      </p:sp>
      <p:sp>
        <p:nvSpPr>
          <p:cNvPr id="14" name="Shape 12"/>
          <p:cNvSpPr/>
          <p:nvPr/>
        </p:nvSpPr>
        <p:spPr>
          <a:xfrm>
            <a:off x="4800600" y="1234440"/>
            <a:ext cx="3977640" cy="3611880"/>
          </a:xfrm>
          <a:prstGeom prst="roundRect">
            <a:avLst>
              <a:gd name="adj" fmla="val 3038"/>
            </a:avLst>
          </a:prstGeom>
          <a:solidFill>
            <a:srgbClr val="ECFDF5"/>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15" name="Shape 13"/>
          <p:cNvSpPr/>
          <p:nvPr/>
        </p:nvSpPr>
        <p:spPr>
          <a:xfrm>
            <a:off x="4800600" y="1234440"/>
            <a:ext cx="3977640" cy="384048"/>
          </a:xfrm>
          <a:prstGeom prst="roundRect">
            <a:avLst>
              <a:gd name="adj" fmla="val 28571"/>
            </a:avLst>
          </a:prstGeom>
          <a:solidFill>
            <a:srgbClr val="059669"/>
          </a:solidFill>
          <a:ln w="12700">
            <a:solidFill>
              <a:srgbClr val="059669"/>
            </a:solidFill>
            <a:prstDash val="solid"/>
          </a:ln>
        </p:spPr>
      </p:sp>
      <p:sp>
        <p:nvSpPr>
          <p:cNvPr id="16" name="Text 14"/>
          <p:cNvSpPr/>
          <p:nvPr/>
        </p:nvSpPr>
        <p:spPr>
          <a:xfrm>
            <a:off x="4800600" y="1234440"/>
            <a:ext cx="3977640" cy="384048"/>
          </a:xfrm>
          <a:prstGeom prst="rect">
            <a:avLst/>
          </a:prstGeom>
          <a:noFill/>
          <a:ln/>
        </p:spPr>
        <p:txBody>
          <a:bodyPr wrap="square" lIns="0" tIns="0" rIns="0" bIns="0" rtlCol="0" anchor="ctr"/>
          <a:lstStyle/>
          <a:p>
            <a:pPr algn="ctr" indent="0" marL="0">
              <a:buNone/>
            </a:pPr>
            <a:r>
              <a:rPr lang="en-US" sz="1200" b="1" dirty="0">
                <a:solidFill>
                  <a:srgbClr val="FFFFFF"/>
                </a:solidFill>
              </a:rPr>
              <a:t>POWER USER PROMPT  ✓</a:t>
            </a:r>
            <a:endParaRPr lang="en-US" sz="1200" dirty="0"/>
          </a:p>
        </p:txBody>
      </p:sp>
      <p:sp>
        <p:nvSpPr>
          <p:cNvPr id="17" name="Text 15"/>
          <p:cNvSpPr/>
          <p:nvPr/>
        </p:nvSpPr>
        <p:spPr>
          <a:xfrm>
            <a:off x="4983480" y="1737360"/>
            <a:ext cx="3584448" cy="1170432"/>
          </a:xfrm>
          <a:prstGeom prst="rect">
            <a:avLst/>
          </a:prstGeom>
          <a:noFill/>
          <a:ln/>
        </p:spPr>
        <p:txBody>
          <a:bodyPr wrap="square" lIns="0" tIns="0" rIns="0" bIns="0" rtlCol="0" anchor="ctr"/>
          <a:lstStyle/>
          <a:p>
            <a:pPr indent="0" marL="0">
              <a:buNone/>
            </a:pPr>
            <a:r>
              <a:rPr lang="en-US" sz="1050" b="1" i="1" dirty="0">
                <a:solidFill>
                  <a:srgbClr val="0F172A"/>
                </a:solidFill>
              </a:rPr>
              <a:t>Help me choose a phone.
</a:t>
            </a:r>
            <a:endParaRPr lang="en-US" sz="1050" dirty="0"/>
          </a:p>
          <a:p>
            <a:pPr indent="0" marL="0">
              <a:buNone/>
            </a:pPr>
            <a:r>
              <a:rPr lang="en-US" sz="1050" b="1" i="1" dirty="0">
                <a:solidFill>
                  <a:srgbClr val="0D9488"/>
                </a:solidFill>
              </a:rPr>
              <a:t>Context: </a:t>
            </a:r>
            <a:pPr indent="0" marL="0">
              <a:buNone/>
            </a:pPr>
            <a:r>
              <a:rPr lang="en-US" sz="1050" i="1" dirty="0">
                <a:solidFill>
                  <a:srgbClr val="0F172A"/>
                </a:solidFill>
              </a:rPr>
              <a:t>Budget is PKR 80,000.
</a:t>
            </a:r>
            <a:pPr indent="0" marL="0">
              <a:buNone/>
            </a:pPr>
            <a:r>
              <a:rPr lang="en-US" sz="1050" i="1" dirty="0">
                <a:solidFill>
                  <a:srgbClr val="0F172A"/>
                </a:solidFill>
              </a:rPr>
              <a:t>I mostly photograph my kids and use WhatsApp.
</a:t>
            </a:r>
            <a:pPr indent="0" marL="0">
              <a:buNone/>
            </a:pPr>
            <a:r>
              <a:rPr lang="en-US" sz="1050" i="1" dirty="0">
                <a:solidFill>
                  <a:srgbClr val="0F172A"/>
                </a:solidFill>
              </a:rPr>
              <a:t>My current phone battery dies by 3pm.
</a:t>
            </a:r>
            <a:pPr indent="0" marL="0">
              <a:buNone/>
            </a:pPr>
            <a:r>
              <a:rPr lang="en-US" sz="1050" i="1" dirty="0">
                <a:solidFill>
                  <a:srgbClr val="0F172A"/>
                </a:solidFill>
              </a:rPr>
              <a:t>I prefer smaller phones.
</a:t>
            </a:r>
            <a:pPr indent="0" marL="0">
              <a:buNone/>
            </a:pPr>
            <a:r>
              <a:rPr lang="en-US" sz="1050" i="1" dirty="0">
                <a:solidFill>
                  <a:srgbClr val="0F172A"/>
                </a:solidFill>
              </a:rPr>
              <a:t>Give me 3 options with a one-line reason each, then tell me which you would pick.</a:t>
            </a:r>
            <a:endParaRPr lang="en-US" sz="1050" dirty="0"/>
          </a:p>
        </p:txBody>
      </p:sp>
      <p:sp>
        <p:nvSpPr>
          <p:cNvPr id="18" name="Shape 16"/>
          <p:cNvSpPr/>
          <p:nvPr/>
        </p:nvSpPr>
        <p:spPr>
          <a:xfrm>
            <a:off x="4983480" y="2944368"/>
            <a:ext cx="3584448" cy="0"/>
          </a:xfrm>
          <a:prstGeom prst="line">
            <a:avLst/>
          </a:prstGeom>
          <a:noFill/>
          <a:ln w="6350">
            <a:solidFill>
              <a:srgbClr val="E2E8F0"/>
            </a:solidFill>
            <a:prstDash val="solid"/>
          </a:ln>
        </p:spPr>
      </p:sp>
      <p:sp>
        <p:nvSpPr>
          <p:cNvPr id="19" name="Text 17"/>
          <p:cNvSpPr/>
          <p:nvPr/>
        </p:nvSpPr>
        <p:spPr>
          <a:xfrm>
            <a:off x="4983480" y="3017520"/>
            <a:ext cx="3584448" cy="256032"/>
          </a:xfrm>
          <a:prstGeom prst="rect">
            <a:avLst/>
          </a:prstGeom>
          <a:noFill/>
          <a:ln/>
        </p:spPr>
        <p:txBody>
          <a:bodyPr wrap="square" lIns="0" tIns="0" rIns="0" bIns="0" rtlCol="0" anchor="ctr"/>
          <a:lstStyle/>
          <a:p>
            <a:pPr indent="0" marL="0">
              <a:buNone/>
            </a:pPr>
            <a:r>
              <a:rPr lang="en-US" sz="1000" b="1" dirty="0">
                <a:solidFill>
                  <a:srgbClr val="059669"/>
                </a:solidFill>
              </a:rPr>
              <a:t>What the AI does:</a:t>
            </a:r>
            <a:endParaRPr lang="en-US" sz="1000" dirty="0"/>
          </a:p>
        </p:txBody>
      </p:sp>
      <p:sp>
        <p:nvSpPr>
          <p:cNvPr id="20" name="Text 18"/>
          <p:cNvSpPr/>
          <p:nvPr/>
        </p:nvSpPr>
        <p:spPr>
          <a:xfrm>
            <a:off x="4983480" y="3310128"/>
            <a:ext cx="3584448" cy="777240"/>
          </a:xfrm>
          <a:prstGeom prst="rect">
            <a:avLst/>
          </a:prstGeom>
          <a:noFill/>
          <a:ln/>
        </p:spPr>
        <p:txBody>
          <a:bodyPr wrap="square" lIns="0" tIns="0" rIns="0" bIns="0" rtlCol="0" anchor="ctr"/>
          <a:lstStyle/>
          <a:p>
            <a:pPr indent="0" marL="0">
              <a:buNone/>
            </a:pPr>
            <a:r>
              <a:rPr lang="en-US" sz="1100" dirty="0">
                <a:solidFill>
                  <a:srgbClr val="475569"/>
                </a:solidFill>
              </a:rPr>
              <a:t>Gives exactly 3 compact budget phones under PKR 80,000. Explains why each fits your use. Picks one winner. Ready to act on immediately.</a:t>
            </a:r>
            <a:endParaRPr lang="en-US" sz="1100" dirty="0"/>
          </a:p>
        </p:txBody>
      </p:sp>
      <p:sp>
        <p:nvSpPr>
          <p:cNvPr id="21" name="Text 19"/>
          <p:cNvSpPr/>
          <p:nvPr/>
        </p:nvSpPr>
        <p:spPr>
          <a:xfrm>
            <a:off x="4983480" y="4133088"/>
            <a:ext cx="3584448" cy="384048"/>
          </a:xfrm>
          <a:prstGeom prst="rect">
            <a:avLst/>
          </a:prstGeom>
          <a:noFill/>
          <a:ln/>
        </p:spPr>
        <p:txBody>
          <a:bodyPr wrap="square" lIns="0" tIns="0" rIns="0" bIns="0" rtlCol="0" anchor="ctr"/>
          <a:lstStyle/>
          <a:p>
            <a:pPr indent="0" marL="0">
              <a:buNone/>
            </a:pPr>
            <a:r>
              <a:rPr lang="en-US" sz="1200" b="1" dirty="0">
                <a:solidFill>
                  <a:srgbClr val="059669"/>
                </a:solidFill>
              </a:rPr>
              <a:t>ACTUALLY USEFUL ✓</a:t>
            </a:r>
            <a:endParaRPr lang="en-US" sz="1200" dirty="0"/>
          </a:p>
        </p:txBody>
      </p:sp>
      <p:sp>
        <p:nvSpPr>
          <p:cNvPr id="22" name="Shape 20"/>
          <p:cNvSpPr/>
          <p:nvPr/>
        </p:nvSpPr>
        <p:spPr>
          <a:xfrm>
            <a:off x="4370832" y="1234440"/>
            <a:ext cx="0" cy="3611880"/>
          </a:xfrm>
          <a:prstGeom prst="line">
            <a:avLst/>
          </a:prstGeom>
          <a:noFill/>
          <a:ln w="6350">
            <a:solidFill>
              <a:srgbClr val="E2E8F0"/>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56032"/>
            <a:ext cx="1280160" cy="274320"/>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1280160" cy="274320"/>
          </a:xfrm>
          <a:prstGeom prst="rect">
            <a:avLst/>
          </a:prstGeom>
          <a:noFill/>
          <a:ln/>
        </p:spPr>
        <p:txBody>
          <a:bodyPr wrap="square" lIns="0" tIns="0" rIns="0" bIns="0" rtlCol="0" anchor="ctr"/>
          <a:lstStyle/>
          <a:p>
            <a:pPr algn="ctr" indent="0" marL="0">
              <a:buNone/>
            </a:pPr>
            <a:r>
              <a:rPr lang="en-US" sz="850" b="1" spc="200" kern="0" dirty="0">
                <a:solidFill>
                  <a:srgbClr val="FFFFFF"/>
                </a:solidFill>
              </a:rPr>
              <a:t>CONCEPT 3</a:t>
            </a:r>
            <a:endParaRPr lang="en-US" sz="850" dirty="0"/>
          </a:p>
        </p:txBody>
      </p:sp>
      <p:sp>
        <p:nvSpPr>
          <p:cNvPr id="4" name="Text 2"/>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0F172A"/>
                </a:solidFill>
              </a:rPr>
              <a:t>The 3 Ways AI Answers</a:t>
            </a:r>
            <a:endParaRPr lang="en-US" sz="2800" dirty="0"/>
          </a:p>
        </p:txBody>
      </p:sp>
      <p:sp>
        <p:nvSpPr>
          <p:cNvPr id="5" name="Text 3"/>
          <p:cNvSpPr/>
          <p:nvPr/>
        </p:nvSpPr>
        <p:spPr>
          <a:xfrm>
            <a:off x="457200" y="804672"/>
            <a:ext cx="8229600" cy="310896"/>
          </a:xfrm>
          <a:prstGeom prst="rect">
            <a:avLst/>
          </a:prstGeom>
          <a:noFill/>
          <a:ln/>
        </p:spPr>
        <p:txBody>
          <a:bodyPr wrap="square" lIns="0" tIns="0" rIns="0" bIns="0" rtlCol="0" anchor="ctr"/>
          <a:lstStyle/>
          <a:p>
            <a:pPr indent="0" marL="0">
              <a:buNone/>
            </a:pPr>
            <a:r>
              <a:rPr lang="en-US" sz="1300" dirty="0">
                <a:solidFill>
                  <a:srgbClr val="475569"/>
                </a:solidFill>
              </a:rPr>
              <a:t>Your WORDS choose which mode — not a button. Here is how to steer.</a:t>
            </a:r>
            <a:endParaRPr lang="en-US" sz="1300" dirty="0"/>
          </a:p>
        </p:txBody>
      </p:sp>
      <p:sp>
        <p:nvSpPr>
          <p:cNvPr id="6" name="Shape 4"/>
          <p:cNvSpPr/>
          <p:nvPr/>
        </p:nvSpPr>
        <p:spPr>
          <a:xfrm>
            <a:off x="457200" y="1143000"/>
            <a:ext cx="8229600" cy="0"/>
          </a:xfrm>
          <a:prstGeom prst="line">
            <a:avLst/>
          </a:prstGeom>
          <a:noFill/>
          <a:ln w="6350">
            <a:solidFill>
              <a:srgbClr val="E2E8F0"/>
            </a:solidFill>
            <a:prstDash val="solid"/>
          </a:ln>
        </p:spPr>
      </p:sp>
      <p:sp>
        <p:nvSpPr>
          <p:cNvPr id="7" name="Shape 5"/>
          <p:cNvSpPr/>
          <p:nvPr/>
        </p:nvSpPr>
        <p:spPr>
          <a:xfrm>
            <a:off x="365760" y="1261872"/>
            <a:ext cx="8412480" cy="1115568"/>
          </a:xfrm>
          <a:prstGeom prst="roundRect">
            <a:avLst>
              <a:gd name="adj" fmla="val 9836"/>
            </a:avLst>
          </a:prstGeom>
          <a:solidFill>
            <a:srgbClr val="FFFFFF"/>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8" name="Shape 6"/>
          <p:cNvSpPr/>
          <p:nvPr/>
        </p:nvSpPr>
        <p:spPr>
          <a:xfrm>
            <a:off x="475488" y="1581912"/>
            <a:ext cx="438912" cy="438912"/>
          </a:xfrm>
          <a:prstGeom prst="ellipse">
            <a:avLst/>
          </a:prstGeom>
          <a:solidFill>
            <a:srgbClr val="0D9488"/>
          </a:solidFill>
          <a:ln w="12700">
            <a:solidFill>
              <a:srgbClr val="0D9488"/>
            </a:solidFill>
            <a:prstDash val="solid"/>
          </a:ln>
        </p:spPr>
      </p:sp>
      <p:sp>
        <p:nvSpPr>
          <p:cNvPr id="9" name="Text 7"/>
          <p:cNvSpPr/>
          <p:nvPr/>
        </p:nvSpPr>
        <p:spPr>
          <a:xfrm>
            <a:off x="475488" y="1581912"/>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0" name="Text 8"/>
          <p:cNvSpPr/>
          <p:nvPr/>
        </p:nvSpPr>
        <p:spPr>
          <a:xfrm>
            <a:off x="1005840" y="1353312"/>
            <a:ext cx="1371600" cy="347472"/>
          </a:xfrm>
          <a:prstGeom prst="rect">
            <a:avLst/>
          </a:prstGeom>
          <a:noFill/>
          <a:ln/>
        </p:spPr>
        <p:txBody>
          <a:bodyPr wrap="square" lIns="0" tIns="0" rIns="0" bIns="0" rtlCol="0" anchor="ctr"/>
          <a:lstStyle/>
          <a:p>
            <a:pPr indent="0" marL="0">
              <a:buNone/>
            </a:pPr>
            <a:r>
              <a:rPr lang="en-US" sz="1300" b="1" dirty="0">
                <a:solidFill>
                  <a:srgbClr val="0D9488"/>
                </a:solidFill>
              </a:rPr>
              <a:t>From Memory</a:t>
            </a:r>
            <a:endParaRPr lang="en-US" sz="1300" dirty="0"/>
          </a:p>
        </p:txBody>
      </p:sp>
      <p:sp>
        <p:nvSpPr>
          <p:cNvPr id="11" name="Text 9"/>
          <p:cNvSpPr/>
          <p:nvPr/>
        </p:nvSpPr>
        <p:spPr>
          <a:xfrm>
            <a:off x="1005840" y="1719072"/>
            <a:ext cx="1371600" cy="237744"/>
          </a:xfrm>
          <a:prstGeom prst="rect">
            <a:avLst/>
          </a:prstGeom>
          <a:noFill/>
          <a:ln/>
        </p:spPr>
        <p:txBody>
          <a:bodyPr wrap="square" lIns="0" tIns="0" rIns="0" bIns="0" rtlCol="0" anchor="ctr"/>
          <a:lstStyle/>
          <a:p>
            <a:pPr indent="0" marL="0">
              <a:buNone/>
            </a:pPr>
            <a:r>
              <a:rPr lang="en-US" sz="900" dirty="0">
                <a:solidFill>
                  <a:srgbClr val="94A3B8"/>
                </a:solidFill>
              </a:rPr>
              <a:t>Speed: Instant</a:t>
            </a:r>
            <a:endParaRPr lang="en-US" sz="900" dirty="0"/>
          </a:p>
        </p:txBody>
      </p:sp>
      <p:sp>
        <p:nvSpPr>
          <p:cNvPr id="12" name="Shape 10"/>
          <p:cNvSpPr/>
          <p:nvPr/>
        </p:nvSpPr>
        <p:spPr>
          <a:xfrm>
            <a:off x="2395728" y="1371600"/>
            <a:ext cx="0" cy="896112"/>
          </a:xfrm>
          <a:prstGeom prst="line">
            <a:avLst/>
          </a:prstGeom>
          <a:noFill/>
          <a:ln w="6350">
            <a:solidFill>
              <a:srgbClr val="E2E8F0"/>
            </a:solidFill>
            <a:prstDash val="solid"/>
          </a:ln>
        </p:spPr>
      </p:sp>
      <p:sp>
        <p:nvSpPr>
          <p:cNvPr id="13" name="Text 11"/>
          <p:cNvSpPr/>
          <p:nvPr/>
        </p:nvSpPr>
        <p:spPr>
          <a:xfrm>
            <a:off x="2514600" y="1353312"/>
            <a:ext cx="3749040" cy="502920"/>
          </a:xfrm>
          <a:prstGeom prst="rect">
            <a:avLst/>
          </a:prstGeom>
          <a:noFill/>
          <a:ln/>
        </p:spPr>
        <p:txBody>
          <a:bodyPr wrap="square" lIns="0" tIns="0" rIns="0" bIns="0" rtlCol="0" anchor="ctr"/>
          <a:lstStyle/>
          <a:p>
            <a:pPr indent="0" marL="0">
              <a:buNone/>
            </a:pPr>
            <a:r>
              <a:rPr lang="en-US" sz="950" i="1" dirty="0">
                <a:solidFill>
                  <a:srgbClr val="0F172A"/>
                </a:solidFill>
              </a:rPr>
              <a:t>Example prompt: "What is the plot of Romeo and Juliet?"</a:t>
            </a:r>
            <a:endParaRPr lang="en-US" sz="950" dirty="0"/>
          </a:p>
        </p:txBody>
      </p:sp>
      <p:sp>
        <p:nvSpPr>
          <p:cNvPr id="14" name="Text 12"/>
          <p:cNvSpPr/>
          <p:nvPr/>
        </p:nvSpPr>
        <p:spPr>
          <a:xfrm>
            <a:off x="2514600" y="1883664"/>
            <a:ext cx="3749040" cy="347472"/>
          </a:xfrm>
          <a:prstGeom prst="rect">
            <a:avLst/>
          </a:prstGeom>
          <a:noFill/>
          <a:ln/>
        </p:spPr>
        <p:txBody>
          <a:bodyPr wrap="square" lIns="0" tIns="0" rIns="0" bIns="0" rtlCol="0" anchor="ctr"/>
          <a:lstStyle/>
          <a:p>
            <a:pPr indent="0" marL="0">
              <a:buNone/>
            </a:pPr>
            <a:r>
              <a:rPr lang="en-US" sz="900" dirty="0">
                <a:solidFill>
                  <a:srgbClr val="475569"/>
                </a:solidFill>
              </a:rPr>
              <a:t>AI answers from what it read during training. Fast and reliable for stable facts.</a:t>
            </a:r>
            <a:endParaRPr lang="en-US" sz="900" dirty="0"/>
          </a:p>
        </p:txBody>
      </p:sp>
      <p:sp>
        <p:nvSpPr>
          <p:cNvPr id="15" name="Shape 13"/>
          <p:cNvSpPr/>
          <p:nvPr/>
        </p:nvSpPr>
        <p:spPr>
          <a:xfrm>
            <a:off x="6291072" y="1371600"/>
            <a:ext cx="0" cy="896112"/>
          </a:xfrm>
          <a:prstGeom prst="line">
            <a:avLst/>
          </a:prstGeom>
          <a:noFill/>
          <a:ln w="6350">
            <a:solidFill>
              <a:srgbClr val="E2E8F0"/>
            </a:solidFill>
            <a:prstDash val="solid"/>
          </a:ln>
        </p:spPr>
      </p:sp>
      <p:sp>
        <p:nvSpPr>
          <p:cNvPr id="16" name="Text 14"/>
          <p:cNvSpPr/>
          <p:nvPr/>
        </p:nvSpPr>
        <p:spPr>
          <a:xfrm>
            <a:off x="6400800" y="1353312"/>
            <a:ext cx="2103120" cy="228600"/>
          </a:xfrm>
          <a:prstGeom prst="rect">
            <a:avLst/>
          </a:prstGeom>
          <a:noFill/>
          <a:ln/>
        </p:spPr>
        <p:txBody>
          <a:bodyPr wrap="square" lIns="0" tIns="0" rIns="0" bIns="0" rtlCol="0" anchor="ctr"/>
          <a:lstStyle/>
          <a:p>
            <a:pPr indent="0" marL="0">
              <a:buNone/>
            </a:pPr>
            <a:r>
              <a:rPr lang="en-US" sz="800" b="1" spc="100" kern="0" dirty="0">
                <a:solidFill>
                  <a:srgbClr val="0D9488"/>
                </a:solidFill>
              </a:rPr>
              <a:t>TRIGGER WORDS:</a:t>
            </a:r>
            <a:endParaRPr lang="en-US" sz="800" dirty="0"/>
          </a:p>
        </p:txBody>
      </p:sp>
      <p:sp>
        <p:nvSpPr>
          <p:cNvPr id="17" name="Text 15"/>
          <p:cNvSpPr/>
          <p:nvPr/>
        </p:nvSpPr>
        <p:spPr>
          <a:xfrm>
            <a:off x="6400800" y="1581912"/>
            <a:ext cx="2103120" cy="502920"/>
          </a:xfrm>
          <a:prstGeom prst="rect">
            <a:avLst/>
          </a:prstGeom>
          <a:noFill/>
          <a:ln/>
        </p:spPr>
        <p:txBody>
          <a:bodyPr wrap="square" lIns="0" tIns="0" rIns="0" bIns="0" rtlCol="0" anchor="ctr"/>
          <a:lstStyle/>
          <a:p>
            <a:pPr indent="0" marL="0">
              <a:buNone/>
            </a:pPr>
            <a:r>
              <a:rPr lang="en-US" sz="950" dirty="0">
                <a:solidFill>
                  <a:srgbClr val="0F172A"/>
                </a:solidFill>
              </a:rPr>
              <a:t>Just ask normally</a:t>
            </a:r>
            <a:endParaRPr lang="en-US" sz="950" dirty="0"/>
          </a:p>
        </p:txBody>
      </p:sp>
      <p:sp>
        <p:nvSpPr>
          <p:cNvPr id="18" name="Shape 16"/>
          <p:cNvSpPr/>
          <p:nvPr/>
        </p:nvSpPr>
        <p:spPr>
          <a:xfrm>
            <a:off x="365760" y="2523744"/>
            <a:ext cx="8412480" cy="1115568"/>
          </a:xfrm>
          <a:prstGeom prst="roundRect">
            <a:avLst>
              <a:gd name="adj" fmla="val 9836"/>
            </a:avLst>
          </a:prstGeom>
          <a:solidFill>
            <a:srgbClr val="FFFFFF"/>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19" name="Shape 17"/>
          <p:cNvSpPr/>
          <p:nvPr/>
        </p:nvSpPr>
        <p:spPr>
          <a:xfrm>
            <a:off x="475488" y="2843784"/>
            <a:ext cx="438912" cy="438912"/>
          </a:xfrm>
          <a:prstGeom prst="ellipse">
            <a:avLst/>
          </a:prstGeom>
          <a:solidFill>
            <a:srgbClr val="2563EB"/>
          </a:solidFill>
          <a:ln w="12700">
            <a:solidFill>
              <a:srgbClr val="2563EB"/>
            </a:solidFill>
            <a:prstDash val="solid"/>
          </a:ln>
        </p:spPr>
      </p:sp>
      <p:sp>
        <p:nvSpPr>
          <p:cNvPr id="20" name="Text 18"/>
          <p:cNvSpPr/>
          <p:nvPr/>
        </p:nvSpPr>
        <p:spPr>
          <a:xfrm>
            <a:off x="475488" y="284378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21" name="Text 19"/>
          <p:cNvSpPr/>
          <p:nvPr/>
        </p:nvSpPr>
        <p:spPr>
          <a:xfrm>
            <a:off x="1005840" y="2615184"/>
            <a:ext cx="1371600" cy="347472"/>
          </a:xfrm>
          <a:prstGeom prst="rect">
            <a:avLst/>
          </a:prstGeom>
          <a:noFill/>
          <a:ln/>
        </p:spPr>
        <p:txBody>
          <a:bodyPr wrap="square" lIns="0" tIns="0" rIns="0" bIns="0" rtlCol="0" anchor="ctr"/>
          <a:lstStyle/>
          <a:p>
            <a:pPr indent="0" marL="0">
              <a:buNone/>
            </a:pPr>
            <a:r>
              <a:rPr lang="en-US" sz="1300" b="1" dirty="0">
                <a:solidFill>
                  <a:srgbClr val="2563EB"/>
                </a:solidFill>
              </a:rPr>
              <a:t>Web Search</a:t>
            </a:r>
            <a:endParaRPr lang="en-US" sz="1300" dirty="0"/>
          </a:p>
        </p:txBody>
      </p:sp>
      <p:sp>
        <p:nvSpPr>
          <p:cNvPr id="22" name="Text 20"/>
          <p:cNvSpPr/>
          <p:nvPr/>
        </p:nvSpPr>
        <p:spPr>
          <a:xfrm>
            <a:off x="1005840" y="2980944"/>
            <a:ext cx="1371600" cy="237744"/>
          </a:xfrm>
          <a:prstGeom prst="rect">
            <a:avLst/>
          </a:prstGeom>
          <a:noFill/>
          <a:ln/>
        </p:spPr>
        <p:txBody>
          <a:bodyPr wrap="square" lIns="0" tIns="0" rIns="0" bIns="0" rtlCol="0" anchor="ctr"/>
          <a:lstStyle/>
          <a:p>
            <a:pPr indent="0" marL="0">
              <a:buNone/>
            </a:pPr>
            <a:r>
              <a:rPr lang="en-US" sz="900" dirty="0">
                <a:solidFill>
                  <a:srgbClr val="94A3B8"/>
                </a:solidFill>
              </a:rPr>
              <a:t>Speed: ~30 sec</a:t>
            </a:r>
            <a:endParaRPr lang="en-US" sz="900" dirty="0"/>
          </a:p>
        </p:txBody>
      </p:sp>
      <p:sp>
        <p:nvSpPr>
          <p:cNvPr id="23" name="Shape 21"/>
          <p:cNvSpPr/>
          <p:nvPr/>
        </p:nvSpPr>
        <p:spPr>
          <a:xfrm>
            <a:off x="2395728" y="2633472"/>
            <a:ext cx="0" cy="896112"/>
          </a:xfrm>
          <a:prstGeom prst="line">
            <a:avLst/>
          </a:prstGeom>
          <a:noFill/>
          <a:ln w="6350">
            <a:solidFill>
              <a:srgbClr val="E2E8F0"/>
            </a:solidFill>
            <a:prstDash val="solid"/>
          </a:ln>
        </p:spPr>
      </p:sp>
      <p:sp>
        <p:nvSpPr>
          <p:cNvPr id="24" name="Text 22"/>
          <p:cNvSpPr/>
          <p:nvPr/>
        </p:nvSpPr>
        <p:spPr>
          <a:xfrm>
            <a:off x="2514600" y="2615184"/>
            <a:ext cx="3749040" cy="502920"/>
          </a:xfrm>
          <a:prstGeom prst="rect">
            <a:avLst/>
          </a:prstGeom>
          <a:noFill/>
          <a:ln/>
        </p:spPr>
        <p:txBody>
          <a:bodyPr wrap="square" lIns="0" tIns="0" rIns="0" bIns="0" rtlCol="0" anchor="ctr"/>
          <a:lstStyle/>
          <a:p>
            <a:pPr indent="0" marL="0">
              <a:buNone/>
            </a:pPr>
            <a:r>
              <a:rPr lang="en-US" sz="950" i="1" dirty="0">
                <a:solidFill>
                  <a:srgbClr val="0F172A"/>
                </a:solidFill>
              </a:rPr>
              <a:t>Example prompt: "What are the top AI news stories this week?"</a:t>
            </a:r>
            <a:endParaRPr lang="en-US" sz="950" dirty="0"/>
          </a:p>
        </p:txBody>
      </p:sp>
      <p:sp>
        <p:nvSpPr>
          <p:cNvPr id="25" name="Text 23"/>
          <p:cNvSpPr/>
          <p:nvPr/>
        </p:nvSpPr>
        <p:spPr>
          <a:xfrm>
            <a:off x="2514600" y="3145536"/>
            <a:ext cx="3749040" cy="347472"/>
          </a:xfrm>
          <a:prstGeom prst="rect">
            <a:avLst/>
          </a:prstGeom>
          <a:noFill/>
          <a:ln/>
        </p:spPr>
        <p:txBody>
          <a:bodyPr wrap="square" lIns="0" tIns="0" rIns="0" bIns="0" rtlCol="0" anchor="ctr"/>
          <a:lstStyle/>
          <a:p>
            <a:pPr indent="0" marL="0">
              <a:buNone/>
            </a:pPr>
            <a:r>
              <a:rPr lang="en-US" sz="900" dirty="0">
                <a:solidFill>
                  <a:srgbClr val="475569"/>
                </a:solidFill>
              </a:rPr>
              <a:t>AI goes online, reads a few pages, then answers with citations. Use for anything that changes.</a:t>
            </a:r>
            <a:endParaRPr lang="en-US" sz="900" dirty="0"/>
          </a:p>
        </p:txBody>
      </p:sp>
      <p:sp>
        <p:nvSpPr>
          <p:cNvPr id="26" name="Shape 24"/>
          <p:cNvSpPr/>
          <p:nvPr/>
        </p:nvSpPr>
        <p:spPr>
          <a:xfrm>
            <a:off x="6291072" y="2633472"/>
            <a:ext cx="0" cy="896112"/>
          </a:xfrm>
          <a:prstGeom prst="line">
            <a:avLst/>
          </a:prstGeom>
          <a:noFill/>
          <a:ln w="6350">
            <a:solidFill>
              <a:srgbClr val="E2E8F0"/>
            </a:solidFill>
            <a:prstDash val="solid"/>
          </a:ln>
        </p:spPr>
      </p:sp>
      <p:sp>
        <p:nvSpPr>
          <p:cNvPr id="27" name="Text 25"/>
          <p:cNvSpPr/>
          <p:nvPr/>
        </p:nvSpPr>
        <p:spPr>
          <a:xfrm>
            <a:off x="6400800" y="2615184"/>
            <a:ext cx="2103120" cy="228600"/>
          </a:xfrm>
          <a:prstGeom prst="rect">
            <a:avLst/>
          </a:prstGeom>
          <a:noFill/>
          <a:ln/>
        </p:spPr>
        <p:txBody>
          <a:bodyPr wrap="square" lIns="0" tIns="0" rIns="0" bIns="0" rtlCol="0" anchor="ctr"/>
          <a:lstStyle/>
          <a:p>
            <a:pPr indent="0" marL="0">
              <a:buNone/>
            </a:pPr>
            <a:r>
              <a:rPr lang="en-US" sz="800" b="1" spc="100" kern="0" dirty="0">
                <a:solidFill>
                  <a:srgbClr val="2563EB"/>
                </a:solidFill>
              </a:rPr>
              <a:t>TRIGGER WORDS:</a:t>
            </a:r>
            <a:endParaRPr lang="en-US" sz="800" dirty="0"/>
          </a:p>
        </p:txBody>
      </p:sp>
      <p:sp>
        <p:nvSpPr>
          <p:cNvPr id="28" name="Text 26"/>
          <p:cNvSpPr/>
          <p:nvPr/>
        </p:nvSpPr>
        <p:spPr>
          <a:xfrm>
            <a:off x="6400800" y="2843784"/>
            <a:ext cx="2103120" cy="502920"/>
          </a:xfrm>
          <a:prstGeom prst="rect">
            <a:avLst/>
          </a:prstGeom>
          <a:noFill/>
          <a:ln/>
        </p:spPr>
        <p:txBody>
          <a:bodyPr wrap="square" lIns="0" tIns="0" rIns="0" bIns="0" rtlCol="0" anchor="ctr"/>
          <a:lstStyle/>
          <a:p>
            <a:pPr indent="0" marL="0">
              <a:buNone/>
            </a:pPr>
            <a:r>
              <a:rPr lang="en-US" sz="950" dirty="0">
                <a:solidFill>
                  <a:srgbClr val="0F172A"/>
                </a:solidFill>
              </a:rPr>
              <a:t>Add: today / latest / this week / current</a:t>
            </a:r>
            <a:endParaRPr lang="en-US" sz="950" dirty="0"/>
          </a:p>
        </p:txBody>
      </p:sp>
      <p:sp>
        <p:nvSpPr>
          <p:cNvPr id="29" name="Shape 27"/>
          <p:cNvSpPr/>
          <p:nvPr/>
        </p:nvSpPr>
        <p:spPr>
          <a:xfrm>
            <a:off x="365760" y="3785616"/>
            <a:ext cx="8412480" cy="1115568"/>
          </a:xfrm>
          <a:prstGeom prst="roundRect">
            <a:avLst>
              <a:gd name="adj" fmla="val 9836"/>
            </a:avLst>
          </a:prstGeom>
          <a:solidFill>
            <a:srgbClr val="FFFFFF"/>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30" name="Shape 28"/>
          <p:cNvSpPr/>
          <p:nvPr/>
        </p:nvSpPr>
        <p:spPr>
          <a:xfrm>
            <a:off x="475488" y="4105656"/>
            <a:ext cx="438912" cy="438912"/>
          </a:xfrm>
          <a:prstGeom prst="ellipse">
            <a:avLst/>
          </a:prstGeom>
          <a:solidFill>
            <a:srgbClr val="7C3AED"/>
          </a:solidFill>
          <a:ln w="12700">
            <a:solidFill>
              <a:srgbClr val="7C3AED"/>
            </a:solidFill>
            <a:prstDash val="solid"/>
          </a:ln>
        </p:spPr>
      </p:sp>
      <p:sp>
        <p:nvSpPr>
          <p:cNvPr id="31" name="Text 29"/>
          <p:cNvSpPr/>
          <p:nvPr/>
        </p:nvSpPr>
        <p:spPr>
          <a:xfrm>
            <a:off x="475488" y="4105656"/>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32" name="Text 30"/>
          <p:cNvSpPr/>
          <p:nvPr/>
        </p:nvSpPr>
        <p:spPr>
          <a:xfrm>
            <a:off x="1005840" y="3877056"/>
            <a:ext cx="1371600" cy="347472"/>
          </a:xfrm>
          <a:prstGeom prst="rect">
            <a:avLst/>
          </a:prstGeom>
          <a:noFill/>
          <a:ln/>
        </p:spPr>
        <p:txBody>
          <a:bodyPr wrap="square" lIns="0" tIns="0" rIns="0" bIns="0" rtlCol="0" anchor="ctr"/>
          <a:lstStyle/>
          <a:p>
            <a:pPr indent="0" marL="0">
              <a:buNone/>
            </a:pPr>
            <a:r>
              <a:rPr lang="en-US" sz="1300" b="1" dirty="0">
                <a:solidFill>
                  <a:srgbClr val="7C3AED"/>
                </a:solidFill>
              </a:rPr>
              <a:t>Deep Research</a:t>
            </a:r>
            <a:endParaRPr lang="en-US" sz="1300" dirty="0"/>
          </a:p>
        </p:txBody>
      </p:sp>
      <p:sp>
        <p:nvSpPr>
          <p:cNvPr id="33" name="Text 31"/>
          <p:cNvSpPr/>
          <p:nvPr/>
        </p:nvSpPr>
        <p:spPr>
          <a:xfrm>
            <a:off x="1005840" y="4242816"/>
            <a:ext cx="1371600" cy="237744"/>
          </a:xfrm>
          <a:prstGeom prst="rect">
            <a:avLst/>
          </a:prstGeom>
          <a:noFill/>
          <a:ln/>
        </p:spPr>
        <p:txBody>
          <a:bodyPr wrap="square" lIns="0" tIns="0" rIns="0" bIns="0" rtlCol="0" anchor="ctr"/>
          <a:lstStyle/>
          <a:p>
            <a:pPr indent="0" marL="0">
              <a:buNone/>
            </a:pPr>
            <a:r>
              <a:rPr lang="en-US" sz="900" dirty="0">
                <a:solidFill>
                  <a:srgbClr val="94A3B8"/>
                </a:solidFill>
              </a:rPr>
              <a:t>Speed: 2–5 min</a:t>
            </a:r>
            <a:endParaRPr lang="en-US" sz="900" dirty="0"/>
          </a:p>
        </p:txBody>
      </p:sp>
      <p:sp>
        <p:nvSpPr>
          <p:cNvPr id="34" name="Shape 32"/>
          <p:cNvSpPr/>
          <p:nvPr/>
        </p:nvSpPr>
        <p:spPr>
          <a:xfrm>
            <a:off x="2395728" y="3895344"/>
            <a:ext cx="0" cy="896112"/>
          </a:xfrm>
          <a:prstGeom prst="line">
            <a:avLst/>
          </a:prstGeom>
          <a:noFill/>
          <a:ln w="6350">
            <a:solidFill>
              <a:srgbClr val="E2E8F0"/>
            </a:solidFill>
            <a:prstDash val="solid"/>
          </a:ln>
        </p:spPr>
      </p:sp>
      <p:sp>
        <p:nvSpPr>
          <p:cNvPr id="35" name="Text 33"/>
          <p:cNvSpPr/>
          <p:nvPr/>
        </p:nvSpPr>
        <p:spPr>
          <a:xfrm>
            <a:off x="2514600" y="3877056"/>
            <a:ext cx="3749040" cy="502920"/>
          </a:xfrm>
          <a:prstGeom prst="rect">
            <a:avLst/>
          </a:prstGeom>
          <a:noFill/>
          <a:ln/>
        </p:spPr>
        <p:txBody>
          <a:bodyPr wrap="square" lIns="0" tIns="0" rIns="0" bIns="0" rtlCol="0" anchor="ctr"/>
          <a:lstStyle/>
          <a:p>
            <a:pPr indent="0" marL="0">
              <a:buNone/>
            </a:pPr>
            <a:r>
              <a:rPr lang="en-US" sz="950" i="1" dirty="0">
                <a:solidFill>
                  <a:srgbClr val="0F172A"/>
                </a:solidFill>
              </a:rPr>
              <a:t>Example prompt: "Research the health effects of screen time in children. Use medical studies only. Give me 3 key points and a summary table."</a:t>
            </a:r>
            <a:endParaRPr lang="en-US" sz="950" dirty="0"/>
          </a:p>
        </p:txBody>
      </p:sp>
      <p:sp>
        <p:nvSpPr>
          <p:cNvPr id="36" name="Text 34"/>
          <p:cNvSpPr/>
          <p:nvPr/>
        </p:nvSpPr>
        <p:spPr>
          <a:xfrm>
            <a:off x="2514600" y="4407408"/>
            <a:ext cx="3749040" cy="347472"/>
          </a:xfrm>
          <a:prstGeom prst="rect">
            <a:avLst/>
          </a:prstGeom>
          <a:noFill/>
          <a:ln/>
        </p:spPr>
        <p:txBody>
          <a:bodyPr wrap="square" lIns="0" tIns="0" rIns="0" bIns="0" rtlCol="0" anchor="ctr"/>
          <a:lstStyle/>
          <a:p>
            <a:pPr indent="0" marL="0">
              <a:buNone/>
            </a:pPr>
            <a:r>
              <a:rPr lang="en-US" sz="900" dirty="0">
                <a:solidFill>
                  <a:srgbClr val="475569"/>
                </a:solidFill>
              </a:rPr>
              <a:t>AI scans dozens of pages, organises findings, writes a structured report. Like handing work to a researcher.</a:t>
            </a:r>
            <a:endParaRPr lang="en-US" sz="900" dirty="0"/>
          </a:p>
        </p:txBody>
      </p:sp>
      <p:sp>
        <p:nvSpPr>
          <p:cNvPr id="37" name="Shape 35"/>
          <p:cNvSpPr/>
          <p:nvPr/>
        </p:nvSpPr>
        <p:spPr>
          <a:xfrm>
            <a:off x="6291072" y="3895344"/>
            <a:ext cx="0" cy="896112"/>
          </a:xfrm>
          <a:prstGeom prst="line">
            <a:avLst/>
          </a:prstGeom>
          <a:noFill/>
          <a:ln w="6350">
            <a:solidFill>
              <a:srgbClr val="E2E8F0"/>
            </a:solidFill>
            <a:prstDash val="solid"/>
          </a:ln>
        </p:spPr>
      </p:sp>
      <p:sp>
        <p:nvSpPr>
          <p:cNvPr id="38" name="Text 36"/>
          <p:cNvSpPr/>
          <p:nvPr/>
        </p:nvSpPr>
        <p:spPr>
          <a:xfrm>
            <a:off x="6400800" y="3877056"/>
            <a:ext cx="2103120" cy="228600"/>
          </a:xfrm>
          <a:prstGeom prst="rect">
            <a:avLst/>
          </a:prstGeom>
          <a:noFill/>
          <a:ln/>
        </p:spPr>
        <p:txBody>
          <a:bodyPr wrap="square" lIns="0" tIns="0" rIns="0" bIns="0" rtlCol="0" anchor="ctr"/>
          <a:lstStyle/>
          <a:p>
            <a:pPr indent="0" marL="0">
              <a:buNone/>
            </a:pPr>
            <a:r>
              <a:rPr lang="en-US" sz="800" b="1" spc="100" kern="0" dirty="0">
                <a:solidFill>
                  <a:srgbClr val="7C3AED"/>
                </a:solidFill>
              </a:rPr>
              <a:t>TRIGGER WORDS:</a:t>
            </a:r>
            <a:endParaRPr lang="en-US" sz="800" dirty="0"/>
          </a:p>
        </p:txBody>
      </p:sp>
      <p:sp>
        <p:nvSpPr>
          <p:cNvPr id="39" name="Text 37"/>
          <p:cNvSpPr/>
          <p:nvPr/>
        </p:nvSpPr>
        <p:spPr>
          <a:xfrm>
            <a:off x="6400800" y="4105656"/>
            <a:ext cx="2103120" cy="502920"/>
          </a:xfrm>
          <a:prstGeom prst="rect">
            <a:avLst/>
          </a:prstGeom>
          <a:noFill/>
          <a:ln/>
        </p:spPr>
        <p:txBody>
          <a:bodyPr wrap="square" lIns="0" tIns="0" rIns="0" bIns="0" rtlCol="0" anchor="ctr"/>
          <a:lstStyle/>
          <a:p>
            <a:pPr indent="0" marL="0">
              <a:buNone/>
            </a:pPr>
            <a:r>
              <a:rPr lang="en-US" sz="950" dirty="0">
                <a:solidFill>
                  <a:srgbClr val="0F172A"/>
                </a:solidFill>
              </a:rPr>
              <a:t>Add: research thoroughly / cite sources / structured report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56032"/>
            <a:ext cx="1188720" cy="274320"/>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1188720" cy="274320"/>
          </a:xfrm>
          <a:prstGeom prst="rect">
            <a:avLst/>
          </a:prstGeom>
          <a:noFill/>
          <a:ln/>
        </p:spPr>
        <p:txBody>
          <a:bodyPr wrap="square" lIns="0" tIns="0" rIns="0" bIns="0" rtlCol="0" anchor="ctr"/>
          <a:lstStyle/>
          <a:p>
            <a:pPr algn="ctr" indent="0" marL="0">
              <a:buNone/>
            </a:pPr>
            <a:r>
              <a:rPr lang="en-US" sz="850" b="1" spc="200" kern="0" dirty="0">
                <a:solidFill>
                  <a:srgbClr val="FFFFFF"/>
                </a:solidFill>
              </a:rPr>
              <a:t>CONCEPT 4</a:t>
            </a:r>
            <a:endParaRPr lang="en-US" sz="850" dirty="0"/>
          </a:p>
        </p:txBody>
      </p:sp>
      <p:sp>
        <p:nvSpPr>
          <p:cNvPr id="4" name="Text 2"/>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0F172A"/>
                </a:solidFill>
              </a:rPr>
              <a:t>Context Is Everything</a:t>
            </a:r>
            <a:endParaRPr lang="en-US" sz="2800" dirty="0"/>
          </a:p>
        </p:txBody>
      </p:sp>
      <p:sp>
        <p:nvSpPr>
          <p:cNvPr id="5" name="Text 3"/>
          <p:cNvSpPr/>
          <p:nvPr/>
        </p:nvSpPr>
        <p:spPr>
          <a:xfrm>
            <a:off x="457200" y="804672"/>
            <a:ext cx="8229600" cy="310896"/>
          </a:xfrm>
          <a:prstGeom prst="rect">
            <a:avLst/>
          </a:prstGeom>
          <a:noFill/>
          <a:ln/>
        </p:spPr>
        <p:txBody>
          <a:bodyPr wrap="square" lIns="0" tIns="0" rIns="0" bIns="0" rtlCol="0" anchor="ctr"/>
          <a:lstStyle/>
          <a:p>
            <a:pPr indent="0" marL="0">
              <a:buNone/>
            </a:pPr>
            <a:r>
              <a:rPr lang="en-US" sz="1300" dirty="0">
                <a:solidFill>
                  <a:srgbClr val="475569"/>
                </a:solidFill>
              </a:rPr>
              <a:t>Use this 5-line template for any task and your first answer is usually the final answer.</a:t>
            </a:r>
            <a:endParaRPr lang="en-US" sz="1300" dirty="0"/>
          </a:p>
        </p:txBody>
      </p:sp>
      <p:sp>
        <p:nvSpPr>
          <p:cNvPr id="6" name="Shape 4"/>
          <p:cNvSpPr/>
          <p:nvPr/>
        </p:nvSpPr>
        <p:spPr>
          <a:xfrm>
            <a:off x="457200" y="1143000"/>
            <a:ext cx="8229600" cy="0"/>
          </a:xfrm>
          <a:prstGeom prst="line">
            <a:avLst/>
          </a:prstGeom>
          <a:noFill/>
          <a:ln w="6350">
            <a:solidFill>
              <a:srgbClr val="E2E8F0"/>
            </a:solidFill>
            <a:prstDash val="solid"/>
          </a:ln>
        </p:spPr>
      </p:sp>
      <p:sp>
        <p:nvSpPr>
          <p:cNvPr id="7" name="Shape 5"/>
          <p:cNvSpPr/>
          <p:nvPr/>
        </p:nvSpPr>
        <p:spPr>
          <a:xfrm>
            <a:off x="365760" y="1261872"/>
            <a:ext cx="4160520" cy="2651760"/>
          </a:xfrm>
          <a:prstGeom prst="roundRect">
            <a:avLst>
              <a:gd name="adj" fmla="val 4138"/>
            </a:avLst>
          </a:prstGeom>
          <a:solidFill>
            <a:srgbClr val="F0FDFA"/>
          </a:solidFill>
          <a:ln w="6350">
            <a:solidFill>
              <a:srgbClr val="E2E8F0"/>
            </a:solidFill>
            <a:prstDash val="solid"/>
          </a:ln>
        </p:spPr>
      </p:sp>
      <p:sp>
        <p:nvSpPr>
          <p:cNvPr id="8" name="Text 6"/>
          <p:cNvSpPr/>
          <p:nvPr/>
        </p:nvSpPr>
        <p:spPr>
          <a:xfrm>
            <a:off x="566928" y="1371600"/>
            <a:ext cx="3749040" cy="256032"/>
          </a:xfrm>
          <a:prstGeom prst="rect">
            <a:avLst/>
          </a:prstGeom>
          <a:noFill/>
          <a:ln/>
        </p:spPr>
        <p:txBody>
          <a:bodyPr wrap="square" lIns="0" tIns="0" rIns="0" bIns="0" rtlCol="0" anchor="ctr"/>
          <a:lstStyle/>
          <a:p>
            <a:pPr indent="0" marL="0">
              <a:buNone/>
            </a:pPr>
            <a:r>
              <a:rPr lang="en-US" sz="900" b="1" spc="200" kern="0" dirty="0">
                <a:solidFill>
                  <a:srgbClr val="0D9488"/>
                </a:solidFill>
              </a:rPr>
              <a:t>THE TEMPLATE</a:t>
            </a:r>
            <a:endParaRPr lang="en-US" sz="900" dirty="0"/>
          </a:p>
        </p:txBody>
      </p:sp>
      <p:sp>
        <p:nvSpPr>
          <p:cNvPr id="9" name="Text 7"/>
          <p:cNvSpPr/>
          <p:nvPr/>
        </p:nvSpPr>
        <p:spPr>
          <a:xfrm>
            <a:off x="566928" y="1719072"/>
            <a:ext cx="3822192" cy="292608"/>
          </a:xfrm>
          <a:prstGeom prst="rect">
            <a:avLst/>
          </a:prstGeom>
          <a:noFill/>
          <a:ln/>
        </p:spPr>
        <p:txBody>
          <a:bodyPr wrap="square" lIns="0" tIns="0" rIns="0" bIns="0" rtlCol="0" anchor="ctr"/>
          <a:lstStyle/>
          <a:p>
            <a:pPr indent="0" marL="0">
              <a:buNone/>
            </a:pPr>
            <a:r>
              <a:rPr lang="en-US" sz="1100" dirty="0">
                <a:solidFill>
                  <a:srgbClr val="0F172A"/>
                </a:solidFill>
                <a:latin typeface="Courier New" pitchFamily="34" charset="0"/>
                <a:ea typeface="Courier New" pitchFamily="34" charset="-122"/>
                <a:cs typeface="Courier New" pitchFamily="34" charset="-120"/>
              </a:rPr>
              <a:t>I need help with [your task].</a:t>
            </a:r>
            <a:endParaRPr lang="en-US" sz="1100" dirty="0"/>
          </a:p>
        </p:txBody>
      </p:sp>
      <p:sp>
        <p:nvSpPr>
          <p:cNvPr id="10" name="Text 8"/>
          <p:cNvSpPr/>
          <p:nvPr/>
        </p:nvSpPr>
        <p:spPr>
          <a:xfrm>
            <a:off x="566928" y="2039112"/>
            <a:ext cx="3822192" cy="292608"/>
          </a:xfrm>
          <a:prstGeom prst="rect">
            <a:avLst/>
          </a:prstGeom>
          <a:noFill/>
          <a:ln/>
        </p:spPr>
        <p:txBody>
          <a:bodyPr wrap="square" lIns="0" tIns="0" rIns="0" bIns="0" rtlCol="0" anchor="ctr"/>
          <a:lstStyle/>
          <a:p>
            <a:pPr indent="0" marL="0">
              <a:buNone/>
            </a:pPr>
            <a:r>
              <a:rPr lang="en-US" sz="1100" dirty="0">
                <a:solidFill>
                  <a:srgbClr val="0F172A"/>
                </a:solidFill>
                <a:latin typeface="Courier New" pitchFamily="34" charset="0"/>
                <a:ea typeface="Courier New" pitchFamily="34" charset="-122"/>
                <a:cs typeface="Courier New" pitchFamily="34" charset="-120"/>
              </a:rPr>
              <a:t>Here is what you need to know:</a:t>
            </a:r>
            <a:endParaRPr lang="en-US" sz="1100" dirty="0"/>
          </a:p>
        </p:txBody>
      </p:sp>
      <p:sp>
        <p:nvSpPr>
          <p:cNvPr id="11" name="Text 9"/>
          <p:cNvSpPr/>
          <p:nvPr/>
        </p:nvSpPr>
        <p:spPr>
          <a:xfrm>
            <a:off x="566928" y="2359152"/>
            <a:ext cx="3822192" cy="292608"/>
          </a:xfrm>
          <a:prstGeom prst="rect">
            <a:avLst/>
          </a:prstGeom>
          <a:noFill/>
          <a:ln/>
        </p:spPr>
        <p:txBody>
          <a:bodyPr wrap="square" lIns="0" tIns="0" rIns="0" bIns="0" rtlCol="0" anchor="ctr"/>
          <a:lstStyle/>
          <a:p>
            <a:pPr indent="0" marL="0">
              <a:buNone/>
            </a:pPr>
            <a:r>
              <a:rPr lang="en-US" sz="1100" dirty="0">
                <a:solidFill>
                  <a:srgbClr val="0F172A"/>
                </a:solidFill>
                <a:latin typeface="Courier New" pitchFamily="34" charset="0"/>
                <a:ea typeface="Courier New" pitchFamily="34" charset="-122"/>
                <a:cs typeface="Courier New" pitchFamily="34" charset="-120"/>
              </a:rPr>
              <a:t>   – [constraint, e.g. budget / time limit]</a:t>
            </a:r>
            <a:endParaRPr lang="en-US" sz="1100" dirty="0"/>
          </a:p>
        </p:txBody>
      </p:sp>
      <p:sp>
        <p:nvSpPr>
          <p:cNvPr id="12" name="Text 10"/>
          <p:cNvSpPr/>
          <p:nvPr/>
        </p:nvSpPr>
        <p:spPr>
          <a:xfrm>
            <a:off x="566928" y="2679192"/>
            <a:ext cx="3822192" cy="292608"/>
          </a:xfrm>
          <a:prstGeom prst="rect">
            <a:avLst/>
          </a:prstGeom>
          <a:noFill/>
          <a:ln/>
        </p:spPr>
        <p:txBody>
          <a:bodyPr wrap="square" lIns="0" tIns="0" rIns="0" bIns="0" rtlCol="0" anchor="ctr"/>
          <a:lstStyle/>
          <a:p>
            <a:pPr indent="0" marL="0">
              <a:buNone/>
            </a:pPr>
            <a:r>
              <a:rPr lang="en-US" sz="1100" dirty="0">
                <a:solidFill>
                  <a:srgbClr val="0F172A"/>
                </a:solidFill>
                <a:latin typeface="Courier New" pitchFamily="34" charset="0"/>
                <a:ea typeface="Courier New" pitchFamily="34" charset="-122"/>
                <a:cs typeface="Courier New" pitchFamily="34" charset="-120"/>
              </a:rPr>
              <a:t>   – [who it is for]</a:t>
            </a:r>
            <a:endParaRPr lang="en-US" sz="1100" dirty="0"/>
          </a:p>
        </p:txBody>
      </p:sp>
      <p:sp>
        <p:nvSpPr>
          <p:cNvPr id="13" name="Text 11"/>
          <p:cNvSpPr/>
          <p:nvPr/>
        </p:nvSpPr>
        <p:spPr>
          <a:xfrm>
            <a:off x="566928" y="2999232"/>
            <a:ext cx="3822192" cy="292608"/>
          </a:xfrm>
          <a:prstGeom prst="rect">
            <a:avLst/>
          </a:prstGeom>
          <a:noFill/>
          <a:ln/>
        </p:spPr>
        <p:txBody>
          <a:bodyPr wrap="square" lIns="0" tIns="0" rIns="0" bIns="0" rtlCol="0" anchor="ctr"/>
          <a:lstStyle/>
          <a:p>
            <a:pPr indent="0" marL="0">
              <a:buNone/>
            </a:pPr>
            <a:r>
              <a:rPr lang="en-US" sz="1100" dirty="0">
                <a:solidFill>
                  <a:srgbClr val="0F172A"/>
                </a:solidFill>
                <a:latin typeface="Courier New" pitchFamily="34" charset="0"/>
                <a:ea typeface="Courier New" pitchFamily="34" charset="-122"/>
                <a:cs typeface="Courier New" pitchFamily="34" charset="-120"/>
              </a:rPr>
              <a:t>   – [anything AI cannot guess]</a:t>
            </a:r>
            <a:endParaRPr lang="en-US" sz="1100" dirty="0"/>
          </a:p>
        </p:txBody>
      </p:sp>
      <p:sp>
        <p:nvSpPr>
          <p:cNvPr id="14" name="Text 12"/>
          <p:cNvSpPr/>
          <p:nvPr/>
        </p:nvSpPr>
        <p:spPr>
          <a:xfrm>
            <a:off x="566928" y="3319272"/>
            <a:ext cx="3822192" cy="292608"/>
          </a:xfrm>
          <a:prstGeom prst="rect">
            <a:avLst/>
          </a:prstGeom>
          <a:noFill/>
          <a:ln/>
        </p:spPr>
        <p:txBody>
          <a:bodyPr wrap="square" lIns="0" tIns="0" rIns="0" bIns="0" rtlCol="0" anchor="ctr"/>
          <a:lstStyle/>
          <a:p>
            <a:pPr indent="0" marL="0">
              <a:buNone/>
            </a:pPr>
            <a:r>
              <a:rPr lang="en-US" sz="1100" dirty="0">
                <a:solidFill>
                  <a:srgbClr val="0F172A"/>
                </a:solidFill>
                <a:latin typeface="Courier New" pitchFamily="34" charset="0"/>
                <a:ea typeface="Courier New" pitchFamily="34" charset="-122"/>
                <a:cs typeface="Courier New" pitchFamily="34" charset="-120"/>
              </a:rPr>
              <a:t>What I want back: [format / length].</a:t>
            </a:r>
            <a:endParaRPr lang="en-US" sz="1100" dirty="0"/>
          </a:p>
        </p:txBody>
      </p:sp>
      <p:sp>
        <p:nvSpPr>
          <p:cNvPr id="15" name="Shape 13"/>
          <p:cNvSpPr/>
          <p:nvPr/>
        </p:nvSpPr>
        <p:spPr>
          <a:xfrm>
            <a:off x="4681728" y="1261872"/>
            <a:ext cx="4096512" cy="2651760"/>
          </a:xfrm>
          <a:prstGeom prst="roundRect">
            <a:avLst>
              <a:gd name="adj" fmla="val 4138"/>
            </a:avLst>
          </a:prstGeom>
          <a:solidFill>
            <a:srgbClr val="FFFBEB"/>
          </a:solidFill>
          <a:ln w="6350">
            <a:solidFill>
              <a:srgbClr val="E2E8F0"/>
            </a:solidFill>
            <a:prstDash val="solid"/>
          </a:ln>
        </p:spPr>
      </p:sp>
      <p:sp>
        <p:nvSpPr>
          <p:cNvPr id="16" name="Text 14"/>
          <p:cNvSpPr/>
          <p:nvPr/>
        </p:nvSpPr>
        <p:spPr>
          <a:xfrm>
            <a:off x="4864608" y="1371600"/>
            <a:ext cx="3730752" cy="256032"/>
          </a:xfrm>
          <a:prstGeom prst="rect">
            <a:avLst/>
          </a:prstGeom>
          <a:noFill/>
          <a:ln/>
        </p:spPr>
        <p:txBody>
          <a:bodyPr wrap="square" lIns="0" tIns="0" rIns="0" bIns="0" rtlCol="0" anchor="ctr"/>
          <a:lstStyle/>
          <a:p>
            <a:pPr indent="0" marL="0">
              <a:buNone/>
            </a:pPr>
            <a:r>
              <a:rPr lang="en-US" sz="900" b="1" spc="200" kern="0" dirty="0">
                <a:solidFill>
                  <a:srgbClr val="D97706"/>
                </a:solidFill>
              </a:rPr>
              <a:t>FILLED IN EXAMPLE</a:t>
            </a:r>
            <a:endParaRPr lang="en-US" sz="900" dirty="0"/>
          </a:p>
        </p:txBody>
      </p:sp>
      <p:sp>
        <p:nvSpPr>
          <p:cNvPr id="17" name="Text 15"/>
          <p:cNvSpPr/>
          <p:nvPr/>
        </p:nvSpPr>
        <p:spPr>
          <a:xfrm>
            <a:off x="4864608" y="1719072"/>
            <a:ext cx="3822192" cy="292608"/>
          </a:xfrm>
          <a:prstGeom prst="rect">
            <a:avLst/>
          </a:prstGeom>
          <a:noFill/>
          <a:ln/>
        </p:spPr>
        <p:txBody>
          <a:bodyPr wrap="square" lIns="0" tIns="0" rIns="0" bIns="0" rtlCol="0" anchor="ctr"/>
          <a:lstStyle/>
          <a:p>
            <a:pPr indent="0" marL="0">
              <a:buNone/>
            </a:pPr>
            <a:r>
              <a:rPr lang="en-US" sz="1100" dirty="0">
                <a:solidFill>
                  <a:srgbClr val="0F172A"/>
                </a:solidFill>
                <a:latin typeface="Courier New" pitchFamily="34" charset="0"/>
                <a:ea typeface="Courier New" pitchFamily="34" charset="-122"/>
                <a:cs typeface="Courier New" pitchFamily="34" charset="-120"/>
              </a:rPr>
              <a:t>I need help planning dinner tonight.</a:t>
            </a:r>
            <a:endParaRPr lang="en-US" sz="1100" dirty="0"/>
          </a:p>
        </p:txBody>
      </p:sp>
      <p:sp>
        <p:nvSpPr>
          <p:cNvPr id="18" name="Text 16"/>
          <p:cNvSpPr/>
          <p:nvPr/>
        </p:nvSpPr>
        <p:spPr>
          <a:xfrm>
            <a:off x="4864608" y="2039112"/>
            <a:ext cx="3822192" cy="292608"/>
          </a:xfrm>
          <a:prstGeom prst="rect">
            <a:avLst/>
          </a:prstGeom>
          <a:noFill/>
          <a:ln/>
        </p:spPr>
        <p:txBody>
          <a:bodyPr wrap="square" lIns="0" tIns="0" rIns="0" bIns="0" rtlCol="0" anchor="ctr"/>
          <a:lstStyle/>
          <a:p>
            <a:pPr indent="0" marL="0">
              <a:buNone/>
            </a:pPr>
            <a:r>
              <a:rPr lang="en-US" sz="1100" dirty="0">
                <a:solidFill>
                  <a:srgbClr val="0F172A"/>
                </a:solidFill>
                <a:latin typeface="Courier New" pitchFamily="34" charset="0"/>
                <a:ea typeface="Courier New" pitchFamily="34" charset="-122"/>
                <a:cs typeface="Courier New" pitchFamily="34" charset="-120"/>
              </a:rPr>
              <a:t>Here is what you need to know:</a:t>
            </a:r>
            <a:endParaRPr lang="en-US" sz="1100" dirty="0"/>
          </a:p>
        </p:txBody>
      </p:sp>
      <p:sp>
        <p:nvSpPr>
          <p:cNvPr id="19" name="Text 17"/>
          <p:cNvSpPr/>
          <p:nvPr/>
        </p:nvSpPr>
        <p:spPr>
          <a:xfrm>
            <a:off x="4864608" y="2359152"/>
            <a:ext cx="3822192" cy="292608"/>
          </a:xfrm>
          <a:prstGeom prst="rect">
            <a:avLst/>
          </a:prstGeom>
          <a:noFill/>
          <a:ln/>
        </p:spPr>
        <p:txBody>
          <a:bodyPr wrap="square" lIns="0" tIns="0" rIns="0" bIns="0" rtlCol="0" anchor="ctr"/>
          <a:lstStyle/>
          <a:p>
            <a:pPr indent="0" marL="0">
              <a:buNone/>
            </a:pPr>
            <a:r>
              <a:rPr lang="en-US" sz="1100" dirty="0">
                <a:solidFill>
                  <a:srgbClr val="0F172A"/>
                </a:solidFill>
                <a:latin typeface="Courier New" pitchFamily="34" charset="0"/>
                <a:ea typeface="Courier New" pitchFamily="34" charset="-122"/>
                <a:cs typeface="Courier New" pitchFamily="34" charset="-120"/>
              </a:rPr>
              <a:t>   – I have chicken, rice, onions, yogurt</a:t>
            </a:r>
            <a:endParaRPr lang="en-US" sz="1100" dirty="0"/>
          </a:p>
        </p:txBody>
      </p:sp>
      <p:sp>
        <p:nvSpPr>
          <p:cNvPr id="20" name="Text 18"/>
          <p:cNvSpPr/>
          <p:nvPr/>
        </p:nvSpPr>
        <p:spPr>
          <a:xfrm>
            <a:off x="4864608" y="2679192"/>
            <a:ext cx="3822192" cy="292608"/>
          </a:xfrm>
          <a:prstGeom prst="rect">
            <a:avLst/>
          </a:prstGeom>
          <a:noFill/>
          <a:ln/>
        </p:spPr>
        <p:txBody>
          <a:bodyPr wrap="square" lIns="0" tIns="0" rIns="0" bIns="0" rtlCol="0" anchor="ctr"/>
          <a:lstStyle/>
          <a:p>
            <a:pPr indent="0" marL="0">
              <a:buNone/>
            </a:pPr>
            <a:r>
              <a:rPr lang="en-US" sz="1100" dirty="0">
                <a:solidFill>
                  <a:srgbClr val="0F172A"/>
                </a:solidFill>
                <a:latin typeface="Courier New" pitchFamily="34" charset="0"/>
                <a:ea typeface="Courier New" pitchFamily="34" charset="-122"/>
                <a:cs typeface="Courier New" pitchFamily="34" charset="-120"/>
              </a:rPr>
              <a:t>   – I only have 30 minutes</a:t>
            </a:r>
            <a:endParaRPr lang="en-US" sz="1100" dirty="0"/>
          </a:p>
        </p:txBody>
      </p:sp>
      <p:sp>
        <p:nvSpPr>
          <p:cNvPr id="21" name="Text 19"/>
          <p:cNvSpPr/>
          <p:nvPr/>
        </p:nvSpPr>
        <p:spPr>
          <a:xfrm>
            <a:off x="4864608" y="2999232"/>
            <a:ext cx="3822192" cy="292608"/>
          </a:xfrm>
          <a:prstGeom prst="rect">
            <a:avLst/>
          </a:prstGeom>
          <a:noFill/>
          <a:ln/>
        </p:spPr>
        <p:txBody>
          <a:bodyPr wrap="square" lIns="0" tIns="0" rIns="0" bIns="0" rtlCol="0" anchor="ctr"/>
          <a:lstStyle/>
          <a:p>
            <a:pPr indent="0" marL="0">
              <a:buNone/>
            </a:pPr>
            <a:r>
              <a:rPr lang="en-US" sz="1100" dirty="0">
                <a:solidFill>
                  <a:srgbClr val="0F172A"/>
                </a:solidFill>
                <a:latin typeface="Courier New" pitchFamily="34" charset="0"/>
                <a:ea typeface="Courier New" pitchFamily="34" charset="-122"/>
                <a:cs typeface="Courier New" pitchFamily="34" charset="-120"/>
              </a:rPr>
              <a:t>   – One person does not eat spicy food</a:t>
            </a:r>
            <a:endParaRPr lang="en-US" sz="1100" dirty="0"/>
          </a:p>
        </p:txBody>
      </p:sp>
      <p:sp>
        <p:nvSpPr>
          <p:cNvPr id="22" name="Text 20"/>
          <p:cNvSpPr/>
          <p:nvPr/>
        </p:nvSpPr>
        <p:spPr>
          <a:xfrm>
            <a:off x="4864608" y="3319272"/>
            <a:ext cx="3822192" cy="292608"/>
          </a:xfrm>
          <a:prstGeom prst="rect">
            <a:avLst/>
          </a:prstGeom>
          <a:noFill/>
          <a:ln/>
        </p:spPr>
        <p:txBody>
          <a:bodyPr wrap="square" lIns="0" tIns="0" rIns="0" bIns="0" rtlCol="0" anchor="ctr"/>
          <a:lstStyle/>
          <a:p>
            <a:pPr indent="0" marL="0">
              <a:buNone/>
            </a:pPr>
            <a:r>
              <a:rPr lang="en-US" sz="1100" dirty="0">
                <a:solidFill>
                  <a:srgbClr val="0F172A"/>
                </a:solidFill>
                <a:latin typeface="Courier New" pitchFamily="34" charset="0"/>
                <a:ea typeface="Courier New" pitchFamily="34" charset="-122"/>
                <a:cs typeface="Courier New" pitchFamily="34" charset="-120"/>
              </a:rPr>
              <a:t>What I want back: 3 simple options only.</a:t>
            </a:r>
            <a:endParaRPr lang="en-US" sz="1100" dirty="0"/>
          </a:p>
        </p:txBody>
      </p:sp>
      <p:sp>
        <p:nvSpPr>
          <p:cNvPr id="23" name="Shape 21"/>
          <p:cNvSpPr/>
          <p:nvPr/>
        </p:nvSpPr>
        <p:spPr>
          <a:xfrm>
            <a:off x="365760" y="4041648"/>
            <a:ext cx="8412480" cy="804672"/>
          </a:xfrm>
          <a:prstGeom prst="roundRect">
            <a:avLst>
              <a:gd name="adj" fmla="val 13636"/>
            </a:avLst>
          </a:prstGeom>
          <a:solidFill>
            <a:srgbClr val="FFFFFF"/>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24" name="Text 22"/>
          <p:cNvSpPr/>
          <p:nvPr/>
        </p:nvSpPr>
        <p:spPr>
          <a:xfrm>
            <a:off x="566928" y="4133088"/>
            <a:ext cx="1463040" cy="256032"/>
          </a:xfrm>
          <a:prstGeom prst="rect">
            <a:avLst/>
          </a:prstGeom>
          <a:noFill/>
          <a:ln/>
        </p:spPr>
        <p:txBody>
          <a:bodyPr wrap="square" lIns="0" tIns="0" rIns="0" bIns="0" rtlCol="0" anchor="ctr"/>
          <a:lstStyle/>
          <a:p>
            <a:pPr indent="0" marL="0">
              <a:buNone/>
            </a:pPr>
            <a:r>
              <a:rPr lang="en-US" sz="900" b="1" spc="150" kern="0" dirty="0">
                <a:solidFill>
                  <a:srgbClr val="0D9488"/>
                </a:solidFill>
              </a:rPr>
              <a:t>WHY THIS WORKS:</a:t>
            </a:r>
            <a:endParaRPr lang="en-US" sz="900" dirty="0"/>
          </a:p>
        </p:txBody>
      </p:sp>
      <p:sp>
        <p:nvSpPr>
          <p:cNvPr id="25" name="Text 23"/>
          <p:cNvSpPr/>
          <p:nvPr/>
        </p:nvSpPr>
        <p:spPr>
          <a:xfrm>
            <a:off x="2057400" y="4133088"/>
            <a:ext cx="6492240" cy="594360"/>
          </a:xfrm>
          <a:prstGeom prst="rect">
            <a:avLst/>
          </a:prstGeom>
          <a:noFill/>
          <a:ln/>
        </p:spPr>
        <p:txBody>
          <a:bodyPr wrap="square" lIns="0" tIns="0" rIns="0" bIns="0" rtlCol="0" anchor="ctr"/>
          <a:lstStyle/>
          <a:p>
            <a:pPr indent="0" marL="0">
              <a:buNone/>
            </a:pPr>
            <a:r>
              <a:rPr lang="en-US" sz="1150" dirty="0">
                <a:solidFill>
                  <a:srgbClr val="475569"/>
                </a:solidFill>
              </a:rPr>
              <a:t>The last line — 'What I want back: ...' — is the most powerful part. It tells the AI exactly what format to give you. This single line removes 80% of all follow-up messages.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56032"/>
            <a:ext cx="1188720" cy="274320"/>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1188720" cy="274320"/>
          </a:xfrm>
          <a:prstGeom prst="rect">
            <a:avLst/>
          </a:prstGeom>
          <a:noFill/>
          <a:ln/>
        </p:spPr>
        <p:txBody>
          <a:bodyPr wrap="square" lIns="0" tIns="0" rIns="0" bIns="0" rtlCol="0" anchor="ctr"/>
          <a:lstStyle/>
          <a:p>
            <a:pPr algn="ctr" indent="0" marL="0">
              <a:buNone/>
            </a:pPr>
            <a:r>
              <a:rPr lang="en-US" sz="850" b="1" spc="200" kern="0" dirty="0">
                <a:solidFill>
                  <a:srgbClr val="FFFFFF"/>
                </a:solidFill>
              </a:rPr>
              <a:t>CONCEPT 5</a:t>
            </a:r>
            <a:endParaRPr lang="en-US" sz="850" dirty="0"/>
          </a:p>
        </p:txBody>
      </p:sp>
      <p:sp>
        <p:nvSpPr>
          <p:cNvPr id="4" name="Text 2"/>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0F172A"/>
                </a:solidFill>
              </a:rPr>
              <a:t>Think Hard — See the Difference</a:t>
            </a:r>
            <a:endParaRPr lang="en-US" sz="2800" dirty="0"/>
          </a:p>
        </p:txBody>
      </p:sp>
      <p:sp>
        <p:nvSpPr>
          <p:cNvPr id="5" name="Text 3"/>
          <p:cNvSpPr/>
          <p:nvPr/>
        </p:nvSpPr>
        <p:spPr>
          <a:xfrm>
            <a:off x="457200" y="804672"/>
            <a:ext cx="8229600" cy="310896"/>
          </a:xfrm>
          <a:prstGeom prst="rect">
            <a:avLst/>
          </a:prstGeom>
          <a:noFill/>
          <a:ln/>
        </p:spPr>
        <p:txBody>
          <a:bodyPr wrap="square" lIns="0" tIns="0" rIns="0" bIns="0" rtlCol="0" anchor="ctr"/>
          <a:lstStyle/>
          <a:p>
            <a:pPr indent="0" marL="0">
              <a:buNone/>
            </a:pPr>
            <a:r>
              <a:rPr lang="en-US" sz="1300" dirty="0">
                <a:solidFill>
                  <a:srgbClr val="475569"/>
                </a:solidFill>
              </a:rPr>
              <a:t>Two words change everything. Here is the exact same question, answered two ways.</a:t>
            </a:r>
            <a:endParaRPr lang="en-US" sz="1300" dirty="0"/>
          </a:p>
        </p:txBody>
      </p:sp>
      <p:sp>
        <p:nvSpPr>
          <p:cNvPr id="6" name="Shape 4"/>
          <p:cNvSpPr/>
          <p:nvPr/>
        </p:nvSpPr>
        <p:spPr>
          <a:xfrm>
            <a:off x="457200" y="1143000"/>
            <a:ext cx="8229600" cy="0"/>
          </a:xfrm>
          <a:prstGeom prst="line">
            <a:avLst/>
          </a:prstGeom>
          <a:noFill/>
          <a:ln w="6350">
            <a:solidFill>
              <a:srgbClr val="E2E8F0"/>
            </a:solidFill>
            <a:prstDash val="solid"/>
          </a:ln>
        </p:spPr>
      </p:sp>
      <p:sp>
        <p:nvSpPr>
          <p:cNvPr id="7" name="Shape 5"/>
          <p:cNvSpPr/>
          <p:nvPr/>
        </p:nvSpPr>
        <p:spPr>
          <a:xfrm>
            <a:off x="365760" y="1261872"/>
            <a:ext cx="3977640" cy="3566160"/>
          </a:xfrm>
          <a:prstGeom prst="roundRect">
            <a:avLst>
              <a:gd name="adj" fmla="val 3077"/>
            </a:avLst>
          </a:prstGeom>
          <a:solidFill>
            <a:srgbClr val="FEF2F2"/>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8" name="Shape 6"/>
          <p:cNvSpPr/>
          <p:nvPr/>
        </p:nvSpPr>
        <p:spPr>
          <a:xfrm>
            <a:off x="365760" y="1261872"/>
            <a:ext cx="3977640" cy="402336"/>
          </a:xfrm>
          <a:prstGeom prst="roundRect">
            <a:avLst>
              <a:gd name="adj" fmla="val 27273"/>
            </a:avLst>
          </a:prstGeom>
          <a:solidFill>
            <a:srgbClr val="DC2626"/>
          </a:solidFill>
          <a:ln w="12700">
            <a:solidFill>
              <a:srgbClr val="DC2626"/>
            </a:solidFill>
            <a:prstDash val="solid"/>
          </a:ln>
        </p:spPr>
      </p:sp>
      <p:sp>
        <p:nvSpPr>
          <p:cNvPr id="9" name="Text 7"/>
          <p:cNvSpPr/>
          <p:nvPr/>
        </p:nvSpPr>
        <p:spPr>
          <a:xfrm>
            <a:off x="365760" y="1261872"/>
            <a:ext cx="3977640" cy="402336"/>
          </a:xfrm>
          <a:prstGeom prst="rect">
            <a:avLst/>
          </a:prstGeom>
          <a:noFill/>
          <a:ln/>
        </p:spPr>
        <p:txBody>
          <a:bodyPr wrap="square" lIns="0" tIns="0" rIns="0" bIns="0" rtlCol="0" anchor="ctr"/>
          <a:lstStyle/>
          <a:p>
            <a:pPr algn="ctr" indent="0" marL="0">
              <a:buNone/>
            </a:pPr>
            <a:r>
              <a:rPr lang="en-US" sz="1150" b="1" dirty="0">
                <a:solidFill>
                  <a:srgbClr val="FFFFFF"/>
                </a:solidFill>
              </a:rPr>
              <a:t>WITHOUT 'Think Hard'  ❌</a:t>
            </a:r>
            <a:endParaRPr lang="en-US" sz="1150" dirty="0"/>
          </a:p>
        </p:txBody>
      </p:sp>
      <p:sp>
        <p:nvSpPr>
          <p:cNvPr id="10" name="Shape 8"/>
          <p:cNvSpPr/>
          <p:nvPr/>
        </p:nvSpPr>
        <p:spPr>
          <a:xfrm>
            <a:off x="475488" y="1773936"/>
            <a:ext cx="3749040" cy="658368"/>
          </a:xfrm>
          <a:prstGeom prst="roundRect">
            <a:avLst>
              <a:gd name="adj" fmla="val 16667"/>
            </a:avLst>
          </a:prstGeom>
          <a:solidFill>
            <a:srgbClr val="FFFFFF"/>
          </a:solidFill>
          <a:ln w="6350">
            <a:solidFill>
              <a:srgbClr val="E2E8F0"/>
            </a:solidFill>
            <a:prstDash val="solid"/>
          </a:ln>
        </p:spPr>
      </p:sp>
      <p:sp>
        <p:nvSpPr>
          <p:cNvPr id="11" name="Text 9"/>
          <p:cNvSpPr/>
          <p:nvPr/>
        </p:nvSpPr>
        <p:spPr>
          <a:xfrm>
            <a:off x="594360" y="1828800"/>
            <a:ext cx="3511296" cy="201168"/>
          </a:xfrm>
          <a:prstGeom prst="rect">
            <a:avLst/>
          </a:prstGeom>
          <a:noFill/>
          <a:ln/>
        </p:spPr>
        <p:txBody>
          <a:bodyPr wrap="square" lIns="0" tIns="0" rIns="0" bIns="0" rtlCol="0" anchor="ctr"/>
          <a:lstStyle/>
          <a:p>
            <a:pPr indent="0" marL="0">
              <a:buNone/>
            </a:pPr>
            <a:r>
              <a:rPr lang="en-US" sz="850" b="1" spc="100" kern="0" dirty="0">
                <a:solidFill>
                  <a:srgbClr val="DC2626"/>
                </a:solidFill>
              </a:rPr>
              <a:t>THE PROMPT:</a:t>
            </a:r>
            <a:endParaRPr lang="en-US" sz="850" dirty="0"/>
          </a:p>
        </p:txBody>
      </p:sp>
      <p:sp>
        <p:nvSpPr>
          <p:cNvPr id="12" name="Text 10"/>
          <p:cNvSpPr/>
          <p:nvPr/>
        </p:nvSpPr>
        <p:spPr>
          <a:xfrm>
            <a:off x="594360" y="2029968"/>
            <a:ext cx="3511296" cy="347472"/>
          </a:xfrm>
          <a:prstGeom prst="rect">
            <a:avLst/>
          </a:prstGeom>
          <a:noFill/>
          <a:ln/>
        </p:spPr>
        <p:txBody>
          <a:bodyPr wrap="square" lIns="0" tIns="0" rIns="0" bIns="0" rtlCol="0" anchor="ctr"/>
          <a:lstStyle/>
          <a:p>
            <a:pPr indent="0" marL="0">
              <a:buNone/>
            </a:pPr>
            <a:r>
              <a:rPr lang="en-US" sz="1000" i="1" dirty="0">
                <a:solidFill>
                  <a:srgbClr val="0F172A"/>
                </a:solidFill>
              </a:rPr>
              <a:t>I need to choose between Job A (higher pay, long commute) and Job B (lower pay, remote, more learning). Which should I pick?</a:t>
            </a:r>
            <a:endParaRPr lang="en-US" sz="1000" dirty="0"/>
          </a:p>
        </p:txBody>
      </p:sp>
      <p:sp>
        <p:nvSpPr>
          <p:cNvPr id="13" name="Text 11"/>
          <p:cNvSpPr/>
          <p:nvPr/>
        </p:nvSpPr>
        <p:spPr>
          <a:xfrm>
            <a:off x="548640" y="2560320"/>
            <a:ext cx="3657600" cy="228600"/>
          </a:xfrm>
          <a:prstGeom prst="rect">
            <a:avLst/>
          </a:prstGeom>
          <a:noFill/>
          <a:ln/>
        </p:spPr>
        <p:txBody>
          <a:bodyPr wrap="square" lIns="0" tIns="0" rIns="0" bIns="0" rtlCol="0" anchor="ctr"/>
          <a:lstStyle/>
          <a:p>
            <a:pPr indent="0" marL="0">
              <a:buNone/>
            </a:pPr>
            <a:r>
              <a:rPr lang="en-US" sz="900" b="1" dirty="0">
                <a:solidFill>
                  <a:srgbClr val="DC2626"/>
                </a:solidFill>
              </a:rPr>
              <a:t>THE AI SAYS:</a:t>
            </a:r>
            <a:endParaRPr lang="en-US" sz="900" dirty="0"/>
          </a:p>
        </p:txBody>
      </p:sp>
      <p:sp>
        <p:nvSpPr>
          <p:cNvPr id="14" name="Text 12"/>
          <p:cNvSpPr/>
          <p:nvPr/>
        </p:nvSpPr>
        <p:spPr>
          <a:xfrm>
            <a:off x="548640" y="2816352"/>
            <a:ext cx="3657600" cy="1417320"/>
          </a:xfrm>
          <a:prstGeom prst="rect">
            <a:avLst/>
          </a:prstGeom>
          <a:noFill/>
          <a:ln/>
        </p:spPr>
        <p:txBody>
          <a:bodyPr wrap="square" lIns="0" tIns="0" rIns="0" bIns="0" rtlCol="0" anchor="ctr"/>
          <a:lstStyle/>
          <a:p>
            <a:pPr indent="0" marL="0">
              <a:buNone/>
            </a:pPr>
            <a:r>
              <a:rPr lang="en-US" sz="1100" dirty="0">
                <a:solidFill>
                  <a:srgbClr val="475569"/>
                </a:solidFill>
              </a:rPr>
              <a:t>Job A: Higher salary, financial security.
</a:t>
            </a:r>
            <a:endParaRPr lang="en-US" sz="1100" dirty="0"/>
          </a:p>
          <a:p>
            <a:pPr indent="0" marL="0">
              <a:buNone/>
            </a:pPr>
            <a:r>
              <a:rPr lang="en-US" sz="1100" dirty="0">
                <a:solidFill>
                  <a:srgbClr val="475569"/>
                </a:solidFill>
              </a:rPr>
              <a:t>Job B: Better work-life balance, learning.
</a:t>
            </a:r>
            <a:endParaRPr lang="en-US" sz="1100" dirty="0"/>
          </a:p>
          <a:p>
            <a:pPr indent="0" marL="0">
              <a:buNone/>
            </a:pPr>
            <a:r>
              <a:rPr lang="en-US" sz="1100" dirty="0">
                <a:solidFill>
                  <a:srgbClr val="475569"/>
                </a:solidFill>
              </a:rPr>
              <a:t>Both have pros and cons.
</a:t>
            </a:r>
            <a:endParaRPr lang="en-US" sz="1100" dirty="0"/>
          </a:p>
          <a:p>
            <a:pPr indent="0" marL="0">
              <a:buNone/>
            </a:pPr>
            <a:r>
              <a:rPr lang="en-US" sz="1100" dirty="0">
                <a:solidFill>
                  <a:srgbClr val="475569"/>
                </a:solidFill>
              </a:rPr>
              <a:t>Consider your priorities.
</a:t>
            </a:r>
            <a:endParaRPr lang="en-US" sz="1100" dirty="0"/>
          </a:p>
          <a:p>
            <a:pPr indent="0" marL="0">
              <a:buNone/>
            </a:pPr>
            <a:r>
              <a:rPr lang="en-US" sz="1100" dirty="0">
                <a:solidFill>
                  <a:srgbClr val="475569"/>
                </a:solidFill>
              </a:rPr>
              <a:t>The choice depends on what matters most to you.</a:t>
            </a:r>
            <a:endParaRPr lang="en-US" sz="1100" dirty="0"/>
          </a:p>
        </p:txBody>
      </p:sp>
      <p:sp>
        <p:nvSpPr>
          <p:cNvPr id="15" name="Text 13"/>
          <p:cNvSpPr/>
          <p:nvPr/>
        </p:nvSpPr>
        <p:spPr>
          <a:xfrm>
            <a:off x="548640" y="4279392"/>
            <a:ext cx="3657600" cy="320040"/>
          </a:xfrm>
          <a:prstGeom prst="rect">
            <a:avLst/>
          </a:prstGeom>
          <a:noFill/>
          <a:ln/>
        </p:spPr>
        <p:txBody>
          <a:bodyPr wrap="square" lIns="0" tIns="0" rIns="0" bIns="0" rtlCol="0" anchor="ctr"/>
          <a:lstStyle/>
          <a:p>
            <a:pPr indent="0" marL="0">
              <a:buNone/>
            </a:pPr>
            <a:r>
              <a:rPr lang="en-US" sz="1000" b="1" i="1" dirty="0">
                <a:solidFill>
                  <a:srgbClr val="DC2626"/>
                </a:solidFill>
              </a:rPr>
              <a:t>Shallow. Generic. You already knew all this.</a:t>
            </a:r>
            <a:endParaRPr lang="en-US" sz="1000" dirty="0"/>
          </a:p>
        </p:txBody>
      </p:sp>
      <p:sp>
        <p:nvSpPr>
          <p:cNvPr id="16" name="Shape 14"/>
          <p:cNvSpPr/>
          <p:nvPr/>
        </p:nvSpPr>
        <p:spPr>
          <a:xfrm>
            <a:off x="4800600" y="1261872"/>
            <a:ext cx="3977640" cy="3566160"/>
          </a:xfrm>
          <a:prstGeom prst="roundRect">
            <a:avLst>
              <a:gd name="adj" fmla="val 3077"/>
            </a:avLst>
          </a:prstGeom>
          <a:solidFill>
            <a:srgbClr val="ECFDF5"/>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17" name="Shape 15"/>
          <p:cNvSpPr/>
          <p:nvPr/>
        </p:nvSpPr>
        <p:spPr>
          <a:xfrm>
            <a:off x="4800600" y="1261872"/>
            <a:ext cx="3977640" cy="402336"/>
          </a:xfrm>
          <a:prstGeom prst="roundRect">
            <a:avLst>
              <a:gd name="adj" fmla="val 27273"/>
            </a:avLst>
          </a:prstGeom>
          <a:solidFill>
            <a:srgbClr val="059669"/>
          </a:solidFill>
          <a:ln w="12700">
            <a:solidFill>
              <a:srgbClr val="059669"/>
            </a:solidFill>
            <a:prstDash val="solid"/>
          </a:ln>
        </p:spPr>
      </p:sp>
      <p:sp>
        <p:nvSpPr>
          <p:cNvPr id="18" name="Text 16"/>
          <p:cNvSpPr/>
          <p:nvPr/>
        </p:nvSpPr>
        <p:spPr>
          <a:xfrm>
            <a:off x="4800600" y="1261872"/>
            <a:ext cx="3977640" cy="402336"/>
          </a:xfrm>
          <a:prstGeom prst="rect">
            <a:avLst/>
          </a:prstGeom>
          <a:noFill/>
          <a:ln/>
        </p:spPr>
        <p:txBody>
          <a:bodyPr wrap="square" lIns="0" tIns="0" rIns="0" bIns="0" rtlCol="0" anchor="ctr"/>
          <a:lstStyle/>
          <a:p>
            <a:pPr algn="ctr" indent="0" marL="0">
              <a:buNone/>
            </a:pPr>
            <a:r>
              <a:rPr lang="en-US" sz="1150" b="1" dirty="0">
                <a:solidFill>
                  <a:srgbClr val="FFFFFF"/>
                </a:solidFill>
              </a:rPr>
              <a:t>WITH 'Think Hard'  ✓</a:t>
            </a:r>
            <a:endParaRPr lang="en-US" sz="1150" dirty="0"/>
          </a:p>
        </p:txBody>
      </p:sp>
      <p:sp>
        <p:nvSpPr>
          <p:cNvPr id="19" name="Shape 17"/>
          <p:cNvSpPr/>
          <p:nvPr/>
        </p:nvSpPr>
        <p:spPr>
          <a:xfrm>
            <a:off x="4919472" y="1773936"/>
            <a:ext cx="3749040" cy="841248"/>
          </a:xfrm>
          <a:prstGeom prst="roundRect">
            <a:avLst>
              <a:gd name="adj" fmla="val 13043"/>
            </a:avLst>
          </a:prstGeom>
          <a:solidFill>
            <a:srgbClr val="FFFFFF"/>
          </a:solidFill>
          <a:ln w="6350">
            <a:solidFill>
              <a:srgbClr val="E2E8F0"/>
            </a:solidFill>
            <a:prstDash val="solid"/>
          </a:ln>
        </p:spPr>
      </p:sp>
      <p:sp>
        <p:nvSpPr>
          <p:cNvPr id="20" name="Text 18"/>
          <p:cNvSpPr/>
          <p:nvPr/>
        </p:nvSpPr>
        <p:spPr>
          <a:xfrm>
            <a:off x="5029200" y="1828800"/>
            <a:ext cx="3511296" cy="201168"/>
          </a:xfrm>
          <a:prstGeom prst="rect">
            <a:avLst/>
          </a:prstGeom>
          <a:noFill/>
          <a:ln/>
        </p:spPr>
        <p:txBody>
          <a:bodyPr wrap="square" lIns="0" tIns="0" rIns="0" bIns="0" rtlCol="0" anchor="ctr"/>
          <a:lstStyle/>
          <a:p>
            <a:pPr indent="0" marL="0">
              <a:buNone/>
            </a:pPr>
            <a:r>
              <a:rPr lang="en-US" sz="850" b="1" spc="100" kern="0" dirty="0">
                <a:solidFill>
                  <a:srgbClr val="059669"/>
                </a:solidFill>
              </a:rPr>
              <a:t>THE PROMPT:</a:t>
            </a:r>
            <a:endParaRPr lang="en-US" sz="850" dirty="0"/>
          </a:p>
        </p:txBody>
      </p:sp>
      <p:sp>
        <p:nvSpPr>
          <p:cNvPr id="21" name="Text 19"/>
          <p:cNvSpPr/>
          <p:nvPr/>
        </p:nvSpPr>
        <p:spPr>
          <a:xfrm>
            <a:off x="5029200" y="2029968"/>
            <a:ext cx="3511296" cy="530352"/>
          </a:xfrm>
          <a:prstGeom prst="rect">
            <a:avLst/>
          </a:prstGeom>
          <a:noFill/>
          <a:ln/>
        </p:spPr>
        <p:txBody>
          <a:bodyPr wrap="square" lIns="0" tIns="0" rIns="0" bIns="0" rtlCol="0" anchor="ctr"/>
          <a:lstStyle/>
          <a:p>
            <a:pPr indent="0" marL="0">
              <a:buNone/>
            </a:pPr>
            <a:r>
              <a:rPr lang="en-US" sz="1000" i="1" dirty="0">
                <a:solidFill>
                  <a:srgbClr val="0F172A"/>
                </a:solidFill>
              </a:rPr>
              <a:t>Same job question. I value learning and time with my family. Think hard. Tell me: 1) the 3 trade-offs that actually matter to me, 2) which you would pick and why, 3) under what conditions your answer changes.</a:t>
            </a:r>
            <a:endParaRPr lang="en-US" sz="1000" dirty="0"/>
          </a:p>
        </p:txBody>
      </p:sp>
      <p:sp>
        <p:nvSpPr>
          <p:cNvPr id="22" name="Text 20"/>
          <p:cNvSpPr/>
          <p:nvPr/>
        </p:nvSpPr>
        <p:spPr>
          <a:xfrm>
            <a:off x="4956048" y="2724912"/>
            <a:ext cx="3657600" cy="228600"/>
          </a:xfrm>
          <a:prstGeom prst="rect">
            <a:avLst/>
          </a:prstGeom>
          <a:noFill/>
          <a:ln/>
        </p:spPr>
        <p:txBody>
          <a:bodyPr wrap="square" lIns="0" tIns="0" rIns="0" bIns="0" rtlCol="0" anchor="ctr"/>
          <a:lstStyle/>
          <a:p>
            <a:pPr indent="0" marL="0">
              <a:buNone/>
            </a:pPr>
            <a:r>
              <a:rPr lang="en-US" sz="900" b="1" dirty="0">
                <a:solidFill>
                  <a:srgbClr val="059669"/>
                </a:solidFill>
              </a:rPr>
              <a:t>THE AI SAYS:</a:t>
            </a:r>
            <a:endParaRPr lang="en-US" sz="900" dirty="0"/>
          </a:p>
        </p:txBody>
      </p:sp>
      <p:sp>
        <p:nvSpPr>
          <p:cNvPr id="23" name="Text 21"/>
          <p:cNvSpPr/>
          <p:nvPr/>
        </p:nvSpPr>
        <p:spPr>
          <a:xfrm>
            <a:off x="4956048" y="2980944"/>
            <a:ext cx="3657600" cy="1627632"/>
          </a:xfrm>
          <a:prstGeom prst="rect">
            <a:avLst/>
          </a:prstGeom>
          <a:noFill/>
          <a:ln/>
        </p:spPr>
        <p:txBody>
          <a:bodyPr wrap="square" lIns="0" tIns="0" rIns="0" bIns="0" rtlCol="0" anchor="ctr"/>
          <a:lstStyle/>
          <a:p>
            <a:pPr indent="0" marL="0">
              <a:buNone/>
            </a:pPr>
            <a:r>
              <a:rPr lang="en-US" sz="1000" dirty="0">
                <a:solidFill>
                  <a:srgbClr val="1E293B"/>
                </a:solidFill>
              </a:rPr>
              <a:t>1. Long commutes drain energy — which reduces your family time AND your ability to learn after work. The two offers are more connected than they appear.
</a:t>
            </a:r>
            <a:endParaRPr lang="en-US" sz="1000" dirty="0"/>
          </a:p>
          <a:p>
            <a:pPr indent="0" marL="0">
              <a:buNone/>
            </a:pPr>
            <a:r>
              <a:rPr lang="en-US" sz="1000" dirty="0">
                <a:solidFill>
                  <a:srgbClr val="1E293B"/>
                </a:solidFill>
              </a:rPr>
              <a:t>2. I would pick Job B — because your stated values (learning + family) both point there. Higher pay does not compensate for what you value.
</a:t>
            </a:r>
            <a:endParaRPr lang="en-US" sz="1000" dirty="0"/>
          </a:p>
          <a:p>
            <a:pPr indent="0" marL="0">
              <a:buNone/>
            </a:pPr>
            <a:r>
              <a:rPr lang="en-US" sz="1000" dirty="0">
                <a:solidFill>
                  <a:srgbClr val="1E293B"/>
                </a:solidFill>
              </a:rPr>
              <a:t>3. My answer changes if: your family has a financial emergency, Job A offers a clear promotion path within 12 months, or Job B turns out to have a poor team culture.</a:t>
            </a:r>
            <a:endParaRPr lang="en-US" sz="1000" dirty="0"/>
          </a:p>
        </p:txBody>
      </p:sp>
      <p:sp>
        <p:nvSpPr>
          <p:cNvPr id="24" name="Text 22"/>
          <p:cNvSpPr/>
          <p:nvPr/>
        </p:nvSpPr>
        <p:spPr>
          <a:xfrm>
            <a:off x="4956048" y="4279392"/>
            <a:ext cx="3657600" cy="320040"/>
          </a:xfrm>
          <a:prstGeom prst="rect">
            <a:avLst/>
          </a:prstGeom>
          <a:noFill/>
          <a:ln/>
        </p:spPr>
        <p:txBody>
          <a:bodyPr wrap="square" lIns="0" tIns="0" rIns="0" bIns="0" rtlCol="0" anchor="ctr"/>
          <a:lstStyle/>
          <a:p>
            <a:pPr indent="0" marL="0">
              <a:buNone/>
            </a:pPr>
            <a:r>
              <a:rPr lang="en-US" sz="1000" b="1" i="1" dirty="0">
                <a:solidFill>
                  <a:srgbClr val="059669"/>
                </a:solidFill>
              </a:rPr>
              <a:t>Specific. Personalised. Actionable. ✓</a:t>
            </a:r>
            <a:endParaRPr lang="en-US" sz="1000" dirty="0"/>
          </a:p>
        </p:txBody>
      </p:sp>
      <p:sp>
        <p:nvSpPr>
          <p:cNvPr id="25" name="Shape 23"/>
          <p:cNvSpPr/>
          <p:nvPr/>
        </p:nvSpPr>
        <p:spPr>
          <a:xfrm>
            <a:off x="4407408" y="1261872"/>
            <a:ext cx="0" cy="3566160"/>
          </a:xfrm>
          <a:prstGeom prst="line">
            <a:avLst/>
          </a:prstGeom>
          <a:noFill/>
          <a:ln w="6350">
            <a:solidFill>
              <a:srgbClr val="E2E8F0"/>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56032"/>
            <a:ext cx="1188720" cy="274320"/>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1188720" cy="274320"/>
          </a:xfrm>
          <a:prstGeom prst="rect">
            <a:avLst/>
          </a:prstGeom>
          <a:noFill/>
          <a:ln/>
        </p:spPr>
        <p:txBody>
          <a:bodyPr wrap="square" lIns="0" tIns="0" rIns="0" bIns="0" rtlCol="0" anchor="ctr"/>
          <a:lstStyle/>
          <a:p>
            <a:pPr algn="ctr" indent="0" marL="0">
              <a:buNone/>
            </a:pPr>
            <a:r>
              <a:rPr lang="en-US" sz="850" b="1" spc="200" kern="0" dirty="0">
                <a:solidFill>
                  <a:srgbClr val="FFFFFF"/>
                </a:solidFill>
              </a:rPr>
              <a:t>CONCEPT 5</a:t>
            </a:r>
            <a:endParaRPr lang="en-US" sz="850" dirty="0"/>
          </a:p>
        </p:txBody>
      </p:sp>
      <p:sp>
        <p:nvSpPr>
          <p:cNvPr id="4" name="Text 2"/>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0F172A"/>
                </a:solidFill>
              </a:rPr>
              <a:t>Think Hard — When to Use It (and When Not To)</a:t>
            </a:r>
            <a:endParaRPr lang="en-US" sz="2800" dirty="0"/>
          </a:p>
        </p:txBody>
      </p:sp>
      <p:sp>
        <p:nvSpPr>
          <p:cNvPr id="5" name="Text 3"/>
          <p:cNvSpPr/>
          <p:nvPr/>
        </p:nvSpPr>
        <p:spPr>
          <a:xfrm>
            <a:off x="457200" y="804672"/>
            <a:ext cx="8229600" cy="310896"/>
          </a:xfrm>
          <a:prstGeom prst="rect">
            <a:avLst/>
          </a:prstGeom>
          <a:noFill/>
          <a:ln/>
        </p:spPr>
        <p:txBody>
          <a:bodyPr wrap="square" lIns="0" tIns="0" rIns="0" bIns="0" rtlCol="0" anchor="ctr"/>
          <a:lstStyle/>
          <a:p>
            <a:pPr indent="0" marL="0">
              <a:buNone/>
            </a:pPr>
            <a:r>
              <a:rPr lang="en-US" sz="1300" dirty="0">
                <a:solidFill>
                  <a:srgbClr val="475569"/>
                </a:solidFill>
              </a:rPr>
              <a:t>Save it for hard decisions. Do not use it for simple lookups.</a:t>
            </a:r>
            <a:endParaRPr lang="en-US" sz="1300" dirty="0"/>
          </a:p>
        </p:txBody>
      </p:sp>
      <p:sp>
        <p:nvSpPr>
          <p:cNvPr id="6" name="Shape 4"/>
          <p:cNvSpPr/>
          <p:nvPr/>
        </p:nvSpPr>
        <p:spPr>
          <a:xfrm>
            <a:off x="457200" y="1143000"/>
            <a:ext cx="8229600" cy="0"/>
          </a:xfrm>
          <a:prstGeom prst="line">
            <a:avLst/>
          </a:prstGeom>
          <a:noFill/>
          <a:ln w="6350">
            <a:solidFill>
              <a:srgbClr val="E2E8F0"/>
            </a:solidFill>
            <a:prstDash val="solid"/>
          </a:ln>
        </p:spPr>
      </p:sp>
      <p:sp>
        <p:nvSpPr>
          <p:cNvPr id="7" name="Shape 5"/>
          <p:cNvSpPr/>
          <p:nvPr/>
        </p:nvSpPr>
        <p:spPr>
          <a:xfrm>
            <a:off x="365760" y="1261872"/>
            <a:ext cx="3977640" cy="3566160"/>
          </a:xfrm>
          <a:prstGeom prst="roundRect">
            <a:avLst>
              <a:gd name="adj" fmla="val 3077"/>
            </a:avLst>
          </a:prstGeom>
          <a:solidFill>
            <a:srgbClr val="ECFDF5"/>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8" name="Shape 6"/>
          <p:cNvSpPr/>
          <p:nvPr/>
        </p:nvSpPr>
        <p:spPr>
          <a:xfrm>
            <a:off x="365760" y="1261872"/>
            <a:ext cx="3977640" cy="384048"/>
          </a:xfrm>
          <a:prstGeom prst="roundRect">
            <a:avLst>
              <a:gd name="adj" fmla="val 28571"/>
            </a:avLst>
          </a:prstGeom>
          <a:solidFill>
            <a:srgbClr val="059669"/>
          </a:solidFill>
          <a:ln w="12700">
            <a:solidFill>
              <a:srgbClr val="059669"/>
            </a:solidFill>
            <a:prstDash val="solid"/>
          </a:ln>
        </p:spPr>
      </p:sp>
      <p:sp>
        <p:nvSpPr>
          <p:cNvPr id="9" name="Text 7"/>
          <p:cNvSpPr/>
          <p:nvPr/>
        </p:nvSpPr>
        <p:spPr>
          <a:xfrm>
            <a:off x="365760" y="1261872"/>
            <a:ext cx="3977640" cy="384048"/>
          </a:xfrm>
          <a:prstGeom prst="rect">
            <a:avLst/>
          </a:prstGeom>
          <a:noFill/>
          <a:ln/>
        </p:spPr>
        <p:txBody>
          <a:bodyPr wrap="square" lIns="0" tIns="0" rIns="0" bIns="0" rtlCol="0" anchor="ctr"/>
          <a:lstStyle/>
          <a:p>
            <a:pPr algn="ctr" indent="0" marL="0">
              <a:buNone/>
            </a:pPr>
            <a:r>
              <a:rPr lang="en-US" sz="1150" b="1" dirty="0">
                <a:solidFill>
                  <a:srgbClr val="FFFFFF"/>
                </a:solidFill>
              </a:rPr>
              <a:t>USE 'Think Hard' when...  ✓</a:t>
            </a:r>
            <a:endParaRPr lang="en-US" sz="1150" dirty="0"/>
          </a:p>
        </p:txBody>
      </p:sp>
      <p:sp>
        <p:nvSpPr>
          <p:cNvPr id="10" name="Shape 8"/>
          <p:cNvSpPr/>
          <p:nvPr/>
        </p:nvSpPr>
        <p:spPr>
          <a:xfrm>
            <a:off x="502920" y="1865376"/>
            <a:ext cx="219456" cy="219456"/>
          </a:xfrm>
          <a:prstGeom prst="ellipse">
            <a:avLst/>
          </a:prstGeom>
          <a:solidFill>
            <a:srgbClr val="059669"/>
          </a:solidFill>
          <a:ln w="12700">
            <a:solidFill>
              <a:srgbClr val="059669"/>
            </a:solidFill>
            <a:prstDash val="solid"/>
          </a:ln>
        </p:spPr>
      </p:sp>
      <p:sp>
        <p:nvSpPr>
          <p:cNvPr id="11" name="Text 9"/>
          <p:cNvSpPr/>
          <p:nvPr/>
        </p:nvSpPr>
        <p:spPr>
          <a:xfrm>
            <a:off x="822960" y="1755648"/>
            <a:ext cx="3364992" cy="256032"/>
          </a:xfrm>
          <a:prstGeom prst="rect">
            <a:avLst/>
          </a:prstGeom>
          <a:noFill/>
          <a:ln/>
        </p:spPr>
        <p:txBody>
          <a:bodyPr wrap="square" lIns="0" tIns="0" rIns="0" bIns="0" rtlCol="0" anchor="ctr"/>
          <a:lstStyle/>
          <a:p>
            <a:pPr indent="0" marL="0">
              <a:buNone/>
            </a:pPr>
            <a:r>
              <a:rPr lang="en-US" sz="1100" b="1" dirty="0">
                <a:solidFill>
                  <a:srgbClr val="0F172A"/>
                </a:solidFill>
              </a:rPr>
              <a:t>Choosing between options</a:t>
            </a:r>
            <a:endParaRPr lang="en-US" sz="1100" dirty="0"/>
          </a:p>
        </p:txBody>
      </p:sp>
      <p:sp>
        <p:nvSpPr>
          <p:cNvPr id="12" name="Text 10"/>
          <p:cNvSpPr/>
          <p:nvPr/>
        </p:nvSpPr>
        <p:spPr>
          <a:xfrm>
            <a:off x="822960" y="2029968"/>
            <a:ext cx="3364992" cy="219456"/>
          </a:xfrm>
          <a:prstGeom prst="rect">
            <a:avLst/>
          </a:prstGeom>
          <a:noFill/>
          <a:ln/>
        </p:spPr>
        <p:txBody>
          <a:bodyPr wrap="square" lIns="0" tIns="0" rIns="0" bIns="0" rtlCol="0" anchor="ctr"/>
          <a:lstStyle/>
          <a:p>
            <a:pPr indent="0" marL="0">
              <a:buNone/>
            </a:pPr>
            <a:r>
              <a:rPr lang="en-US" sz="950" dirty="0">
                <a:solidFill>
                  <a:srgbClr val="475569"/>
                </a:solidFill>
              </a:rPr>
              <a:t>Job offers, university courses, business decisions</a:t>
            </a:r>
            <a:endParaRPr lang="en-US" sz="950" dirty="0"/>
          </a:p>
        </p:txBody>
      </p:sp>
      <p:sp>
        <p:nvSpPr>
          <p:cNvPr id="13" name="Shape 11"/>
          <p:cNvSpPr/>
          <p:nvPr/>
        </p:nvSpPr>
        <p:spPr>
          <a:xfrm>
            <a:off x="502920" y="2414016"/>
            <a:ext cx="219456" cy="219456"/>
          </a:xfrm>
          <a:prstGeom prst="ellipse">
            <a:avLst/>
          </a:prstGeom>
          <a:solidFill>
            <a:srgbClr val="059669"/>
          </a:solidFill>
          <a:ln w="12700">
            <a:solidFill>
              <a:srgbClr val="059669"/>
            </a:solidFill>
            <a:prstDash val="solid"/>
          </a:ln>
        </p:spPr>
      </p:sp>
      <p:sp>
        <p:nvSpPr>
          <p:cNvPr id="14" name="Text 12"/>
          <p:cNvSpPr/>
          <p:nvPr/>
        </p:nvSpPr>
        <p:spPr>
          <a:xfrm>
            <a:off x="822960" y="2304288"/>
            <a:ext cx="3364992" cy="256032"/>
          </a:xfrm>
          <a:prstGeom prst="rect">
            <a:avLst/>
          </a:prstGeom>
          <a:noFill/>
          <a:ln/>
        </p:spPr>
        <p:txBody>
          <a:bodyPr wrap="square" lIns="0" tIns="0" rIns="0" bIns="0" rtlCol="0" anchor="ctr"/>
          <a:lstStyle/>
          <a:p>
            <a:pPr indent="0" marL="0">
              <a:buNone/>
            </a:pPr>
            <a:r>
              <a:rPr lang="en-US" sz="1100" b="1" dirty="0">
                <a:solidFill>
                  <a:srgbClr val="0F172A"/>
                </a:solidFill>
              </a:rPr>
              <a:t>Complex trade-offs</a:t>
            </a:r>
            <a:endParaRPr lang="en-US" sz="1100" dirty="0"/>
          </a:p>
        </p:txBody>
      </p:sp>
      <p:sp>
        <p:nvSpPr>
          <p:cNvPr id="15" name="Text 13"/>
          <p:cNvSpPr/>
          <p:nvPr/>
        </p:nvSpPr>
        <p:spPr>
          <a:xfrm>
            <a:off x="822960" y="2578608"/>
            <a:ext cx="3364992" cy="219456"/>
          </a:xfrm>
          <a:prstGeom prst="rect">
            <a:avLst/>
          </a:prstGeom>
          <a:noFill/>
          <a:ln/>
        </p:spPr>
        <p:txBody>
          <a:bodyPr wrap="square" lIns="0" tIns="0" rIns="0" bIns="0" rtlCol="0" anchor="ctr"/>
          <a:lstStyle/>
          <a:p>
            <a:pPr indent="0" marL="0">
              <a:buNone/>
            </a:pPr>
            <a:r>
              <a:rPr lang="en-US" sz="950" dirty="0">
                <a:solidFill>
                  <a:srgbClr val="475569"/>
                </a:solidFill>
              </a:rPr>
              <a:t>Budget vs quality, speed vs accuracy, risk vs reward</a:t>
            </a:r>
            <a:endParaRPr lang="en-US" sz="950" dirty="0"/>
          </a:p>
        </p:txBody>
      </p:sp>
      <p:sp>
        <p:nvSpPr>
          <p:cNvPr id="16" name="Shape 14"/>
          <p:cNvSpPr/>
          <p:nvPr/>
        </p:nvSpPr>
        <p:spPr>
          <a:xfrm>
            <a:off x="502920" y="2962656"/>
            <a:ext cx="219456" cy="219456"/>
          </a:xfrm>
          <a:prstGeom prst="ellipse">
            <a:avLst/>
          </a:prstGeom>
          <a:solidFill>
            <a:srgbClr val="059669"/>
          </a:solidFill>
          <a:ln w="12700">
            <a:solidFill>
              <a:srgbClr val="059669"/>
            </a:solidFill>
            <a:prstDash val="solid"/>
          </a:ln>
        </p:spPr>
      </p:sp>
      <p:sp>
        <p:nvSpPr>
          <p:cNvPr id="17" name="Text 15"/>
          <p:cNvSpPr/>
          <p:nvPr/>
        </p:nvSpPr>
        <p:spPr>
          <a:xfrm>
            <a:off x="822960" y="2852928"/>
            <a:ext cx="3364992" cy="256032"/>
          </a:xfrm>
          <a:prstGeom prst="rect">
            <a:avLst/>
          </a:prstGeom>
          <a:noFill/>
          <a:ln/>
        </p:spPr>
        <p:txBody>
          <a:bodyPr wrap="square" lIns="0" tIns="0" rIns="0" bIns="0" rtlCol="0" anchor="ctr"/>
          <a:lstStyle/>
          <a:p>
            <a:pPr indent="0" marL="0">
              <a:buNone/>
            </a:pPr>
            <a:r>
              <a:rPr lang="en-US" sz="1100" b="1" dirty="0">
                <a:solidFill>
                  <a:srgbClr val="0F172A"/>
                </a:solidFill>
              </a:rPr>
              <a:t>Planning something multi-step</a:t>
            </a:r>
            <a:endParaRPr lang="en-US" sz="1100" dirty="0"/>
          </a:p>
        </p:txBody>
      </p:sp>
      <p:sp>
        <p:nvSpPr>
          <p:cNvPr id="18" name="Text 16"/>
          <p:cNvSpPr/>
          <p:nvPr/>
        </p:nvSpPr>
        <p:spPr>
          <a:xfrm>
            <a:off x="822960" y="3127248"/>
            <a:ext cx="3364992" cy="219456"/>
          </a:xfrm>
          <a:prstGeom prst="rect">
            <a:avLst/>
          </a:prstGeom>
          <a:noFill/>
          <a:ln/>
        </p:spPr>
        <p:txBody>
          <a:bodyPr wrap="square" lIns="0" tIns="0" rIns="0" bIns="0" rtlCol="0" anchor="ctr"/>
          <a:lstStyle/>
          <a:p>
            <a:pPr indent="0" marL="0">
              <a:buNone/>
            </a:pPr>
            <a:r>
              <a:rPr lang="en-US" sz="950" dirty="0">
                <a:solidFill>
                  <a:srgbClr val="475569"/>
                </a:solidFill>
              </a:rPr>
              <a:t>Launch plan, study schedule, project roadmap</a:t>
            </a:r>
            <a:endParaRPr lang="en-US" sz="950" dirty="0"/>
          </a:p>
        </p:txBody>
      </p:sp>
      <p:sp>
        <p:nvSpPr>
          <p:cNvPr id="19" name="Shape 17"/>
          <p:cNvSpPr/>
          <p:nvPr/>
        </p:nvSpPr>
        <p:spPr>
          <a:xfrm>
            <a:off x="502920" y="3511296"/>
            <a:ext cx="219456" cy="219456"/>
          </a:xfrm>
          <a:prstGeom prst="ellipse">
            <a:avLst/>
          </a:prstGeom>
          <a:solidFill>
            <a:srgbClr val="059669"/>
          </a:solidFill>
          <a:ln w="12700">
            <a:solidFill>
              <a:srgbClr val="059669"/>
            </a:solidFill>
            <a:prstDash val="solid"/>
          </a:ln>
        </p:spPr>
      </p:sp>
      <p:sp>
        <p:nvSpPr>
          <p:cNvPr id="20" name="Text 18"/>
          <p:cNvSpPr/>
          <p:nvPr/>
        </p:nvSpPr>
        <p:spPr>
          <a:xfrm>
            <a:off x="822960" y="3401568"/>
            <a:ext cx="3364992" cy="256032"/>
          </a:xfrm>
          <a:prstGeom prst="rect">
            <a:avLst/>
          </a:prstGeom>
          <a:noFill/>
          <a:ln/>
        </p:spPr>
        <p:txBody>
          <a:bodyPr wrap="square" lIns="0" tIns="0" rIns="0" bIns="0" rtlCol="0" anchor="ctr"/>
          <a:lstStyle/>
          <a:p>
            <a:pPr indent="0" marL="0">
              <a:buNone/>
            </a:pPr>
            <a:r>
              <a:rPr lang="en-US" sz="1100" b="1" dirty="0">
                <a:solidFill>
                  <a:srgbClr val="0F172A"/>
                </a:solidFill>
              </a:rPr>
              <a:t>When you need to see conditions</a:t>
            </a:r>
            <a:endParaRPr lang="en-US" sz="1100" dirty="0"/>
          </a:p>
        </p:txBody>
      </p:sp>
      <p:sp>
        <p:nvSpPr>
          <p:cNvPr id="21" name="Text 19"/>
          <p:cNvSpPr/>
          <p:nvPr/>
        </p:nvSpPr>
        <p:spPr>
          <a:xfrm>
            <a:off x="822960" y="3675888"/>
            <a:ext cx="3364992" cy="219456"/>
          </a:xfrm>
          <a:prstGeom prst="rect">
            <a:avLst/>
          </a:prstGeom>
          <a:noFill/>
          <a:ln/>
        </p:spPr>
        <p:txBody>
          <a:bodyPr wrap="square" lIns="0" tIns="0" rIns="0" bIns="0" rtlCol="0" anchor="ctr"/>
          <a:lstStyle/>
          <a:p>
            <a:pPr indent="0" marL="0">
              <a:buNone/>
            </a:pPr>
            <a:r>
              <a:rPr lang="en-US" sz="950" dirty="0">
                <a:solidFill>
                  <a:srgbClr val="475569"/>
                </a:solidFill>
              </a:rPr>
              <a:t>'Under what conditions does this answer change?'</a:t>
            </a:r>
            <a:endParaRPr lang="en-US" sz="950" dirty="0"/>
          </a:p>
        </p:txBody>
      </p:sp>
      <p:sp>
        <p:nvSpPr>
          <p:cNvPr id="22" name="Shape 20"/>
          <p:cNvSpPr/>
          <p:nvPr/>
        </p:nvSpPr>
        <p:spPr>
          <a:xfrm>
            <a:off x="502920" y="4059936"/>
            <a:ext cx="219456" cy="219456"/>
          </a:xfrm>
          <a:prstGeom prst="ellipse">
            <a:avLst/>
          </a:prstGeom>
          <a:solidFill>
            <a:srgbClr val="059669"/>
          </a:solidFill>
          <a:ln w="12700">
            <a:solidFill>
              <a:srgbClr val="059669"/>
            </a:solidFill>
            <a:prstDash val="solid"/>
          </a:ln>
        </p:spPr>
      </p:sp>
      <p:sp>
        <p:nvSpPr>
          <p:cNvPr id="23" name="Text 21"/>
          <p:cNvSpPr/>
          <p:nvPr/>
        </p:nvSpPr>
        <p:spPr>
          <a:xfrm>
            <a:off x="822960" y="3950208"/>
            <a:ext cx="3364992" cy="256032"/>
          </a:xfrm>
          <a:prstGeom prst="rect">
            <a:avLst/>
          </a:prstGeom>
          <a:noFill/>
          <a:ln/>
        </p:spPr>
        <p:txBody>
          <a:bodyPr wrap="square" lIns="0" tIns="0" rIns="0" bIns="0" rtlCol="0" anchor="ctr"/>
          <a:lstStyle/>
          <a:p>
            <a:pPr indent="0" marL="0">
              <a:buNone/>
            </a:pPr>
            <a:r>
              <a:rPr lang="en-US" sz="1100" b="1" dirty="0">
                <a:solidFill>
                  <a:srgbClr val="0F172A"/>
                </a:solidFill>
              </a:rPr>
              <a:t>High-stakes decisions</a:t>
            </a:r>
            <a:endParaRPr lang="en-US" sz="1100" dirty="0"/>
          </a:p>
        </p:txBody>
      </p:sp>
      <p:sp>
        <p:nvSpPr>
          <p:cNvPr id="24" name="Text 22"/>
          <p:cNvSpPr/>
          <p:nvPr/>
        </p:nvSpPr>
        <p:spPr>
          <a:xfrm>
            <a:off x="822960" y="4224528"/>
            <a:ext cx="3364992" cy="219456"/>
          </a:xfrm>
          <a:prstGeom prst="rect">
            <a:avLst/>
          </a:prstGeom>
          <a:noFill/>
          <a:ln/>
        </p:spPr>
        <p:txBody>
          <a:bodyPr wrap="square" lIns="0" tIns="0" rIns="0" bIns="0" rtlCol="0" anchor="ctr"/>
          <a:lstStyle/>
          <a:p>
            <a:pPr indent="0" marL="0">
              <a:buNone/>
            </a:pPr>
            <a:r>
              <a:rPr lang="en-US" sz="950" dirty="0">
                <a:solidFill>
                  <a:srgbClr val="475569"/>
                </a:solidFill>
              </a:rPr>
              <a:t>Anything you would regret getting wrong</a:t>
            </a:r>
            <a:endParaRPr lang="en-US" sz="950" dirty="0"/>
          </a:p>
        </p:txBody>
      </p:sp>
      <p:sp>
        <p:nvSpPr>
          <p:cNvPr id="25" name="Shape 23"/>
          <p:cNvSpPr/>
          <p:nvPr/>
        </p:nvSpPr>
        <p:spPr>
          <a:xfrm>
            <a:off x="4800600" y="1261872"/>
            <a:ext cx="3977640" cy="3566160"/>
          </a:xfrm>
          <a:prstGeom prst="roundRect">
            <a:avLst>
              <a:gd name="adj" fmla="val 3077"/>
            </a:avLst>
          </a:prstGeom>
          <a:solidFill>
            <a:srgbClr val="FEF2F2"/>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26" name="Shape 24"/>
          <p:cNvSpPr/>
          <p:nvPr/>
        </p:nvSpPr>
        <p:spPr>
          <a:xfrm>
            <a:off x="4800600" y="1261872"/>
            <a:ext cx="3977640" cy="384048"/>
          </a:xfrm>
          <a:prstGeom prst="roundRect">
            <a:avLst>
              <a:gd name="adj" fmla="val 28571"/>
            </a:avLst>
          </a:prstGeom>
          <a:solidFill>
            <a:srgbClr val="DC2626"/>
          </a:solidFill>
          <a:ln w="12700">
            <a:solidFill>
              <a:srgbClr val="DC2626"/>
            </a:solidFill>
            <a:prstDash val="solid"/>
          </a:ln>
        </p:spPr>
      </p:sp>
      <p:sp>
        <p:nvSpPr>
          <p:cNvPr id="27" name="Text 25"/>
          <p:cNvSpPr/>
          <p:nvPr/>
        </p:nvSpPr>
        <p:spPr>
          <a:xfrm>
            <a:off x="4800600" y="1261872"/>
            <a:ext cx="3977640" cy="384048"/>
          </a:xfrm>
          <a:prstGeom prst="rect">
            <a:avLst/>
          </a:prstGeom>
          <a:noFill/>
          <a:ln/>
        </p:spPr>
        <p:txBody>
          <a:bodyPr wrap="square" lIns="0" tIns="0" rIns="0" bIns="0" rtlCol="0" anchor="ctr"/>
          <a:lstStyle/>
          <a:p>
            <a:pPr algn="ctr" indent="0" marL="0">
              <a:buNone/>
            </a:pPr>
            <a:r>
              <a:rPr lang="en-US" sz="1150" b="1" dirty="0">
                <a:solidFill>
                  <a:srgbClr val="FFFFFF"/>
                </a:solidFill>
              </a:rPr>
              <a:t>Do NOT use it when...  ✗</a:t>
            </a:r>
            <a:endParaRPr lang="en-US" sz="1150" dirty="0"/>
          </a:p>
        </p:txBody>
      </p:sp>
      <p:sp>
        <p:nvSpPr>
          <p:cNvPr id="28" name="Shape 26"/>
          <p:cNvSpPr/>
          <p:nvPr/>
        </p:nvSpPr>
        <p:spPr>
          <a:xfrm>
            <a:off x="4937760" y="1865376"/>
            <a:ext cx="219456" cy="219456"/>
          </a:xfrm>
          <a:prstGeom prst="ellipse">
            <a:avLst/>
          </a:prstGeom>
          <a:solidFill>
            <a:srgbClr val="DC2626"/>
          </a:solidFill>
          <a:ln w="12700">
            <a:solidFill>
              <a:srgbClr val="DC2626"/>
            </a:solidFill>
            <a:prstDash val="solid"/>
          </a:ln>
        </p:spPr>
      </p:sp>
      <p:sp>
        <p:nvSpPr>
          <p:cNvPr id="29" name="Text 27"/>
          <p:cNvSpPr/>
          <p:nvPr/>
        </p:nvSpPr>
        <p:spPr>
          <a:xfrm>
            <a:off x="5257800" y="1755648"/>
            <a:ext cx="3364992" cy="256032"/>
          </a:xfrm>
          <a:prstGeom prst="rect">
            <a:avLst/>
          </a:prstGeom>
          <a:noFill/>
          <a:ln/>
        </p:spPr>
        <p:txBody>
          <a:bodyPr wrap="square" lIns="0" tIns="0" rIns="0" bIns="0" rtlCol="0" anchor="ctr"/>
          <a:lstStyle/>
          <a:p>
            <a:pPr indent="0" marL="0">
              <a:buNone/>
            </a:pPr>
            <a:r>
              <a:rPr lang="en-US" sz="1100" b="1" dirty="0">
                <a:solidFill>
                  <a:srgbClr val="0F172A"/>
                </a:solidFill>
              </a:rPr>
              <a:t>Simple factual questions</a:t>
            </a:r>
            <a:endParaRPr lang="en-US" sz="1100" dirty="0"/>
          </a:p>
        </p:txBody>
      </p:sp>
      <p:sp>
        <p:nvSpPr>
          <p:cNvPr id="30" name="Text 28"/>
          <p:cNvSpPr/>
          <p:nvPr/>
        </p:nvSpPr>
        <p:spPr>
          <a:xfrm>
            <a:off x="5257800" y="2029968"/>
            <a:ext cx="3364992" cy="219456"/>
          </a:xfrm>
          <a:prstGeom prst="rect">
            <a:avLst/>
          </a:prstGeom>
          <a:noFill/>
          <a:ln/>
        </p:spPr>
        <p:txBody>
          <a:bodyPr wrap="square" lIns="0" tIns="0" rIns="0" bIns="0" rtlCol="0" anchor="ctr"/>
          <a:lstStyle/>
          <a:p>
            <a:pPr indent="0" marL="0">
              <a:buNone/>
            </a:pPr>
            <a:r>
              <a:rPr lang="en-US" sz="950" dirty="0">
                <a:solidFill>
                  <a:srgbClr val="475569"/>
                </a:solidFill>
              </a:rPr>
              <a:t>'What is the capital of France?' — just answer</a:t>
            </a:r>
            <a:endParaRPr lang="en-US" sz="950" dirty="0"/>
          </a:p>
        </p:txBody>
      </p:sp>
      <p:sp>
        <p:nvSpPr>
          <p:cNvPr id="31" name="Shape 29"/>
          <p:cNvSpPr/>
          <p:nvPr/>
        </p:nvSpPr>
        <p:spPr>
          <a:xfrm>
            <a:off x="4937760" y="2414016"/>
            <a:ext cx="219456" cy="219456"/>
          </a:xfrm>
          <a:prstGeom prst="ellipse">
            <a:avLst/>
          </a:prstGeom>
          <a:solidFill>
            <a:srgbClr val="DC2626"/>
          </a:solidFill>
          <a:ln w="12700">
            <a:solidFill>
              <a:srgbClr val="DC2626"/>
            </a:solidFill>
            <a:prstDash val="solid"/>
          </a:ln>
        </p:spPr>
      </p:sp>
      <p:sp>
        <p:nvSpPr>
          <p:cNvPr id="32" name="Text 30"/>
          <p:cNvSpPr/>
          <p:nvPr/>
        </p:nvSpPr>
        <p:spPr>
          <a:xfrm>
            <a:off x="5257800" y="2304288"/>
            <a:ext cx="3364992" cy="256032"/>
          </a:xfrm>
          <a:prstGeom prst="rect">
            <a:avLst/>
          </a:prstGeom>
          <a:noFill/>
          <a:ln/>
        </p:spPr>
        <p:txBody>
          <a:bodyPr wrap="square" lIns="0" tIns="0" rIns="0" bIns="0" rtlCol="0" anchor="ctr"/>
          <a:lstStyle/>
          <a:p>
            <a:pPr indent="0" marL="0">
              <a:buNone/>
            </a:pPr>
            <a:r>
              <a:rPr lang="en-US" sz="1100" b="1" dirty="0">
                <a:solidFill>
                  <a:srgbClr val="0F172A"/>
                </a:solidFill>
              </a:rPr>
              <a:t>Quick lookups</a:t>
            </a:r>
            <a:endParaRPr lang="en-US" sz="1100" dirty="0"/>
          </a:p>
        </p:txBody>
      </p:sp>
      <p:sp>
        <p:nvSpPr>
          <p:cNvPr id="33" name="Text 31"/>
          <p:cNvSpPr/>
          <p:nvPr/>
        </p:nvSpPr>
        <p:spPr>
          <a:xfrm>
            <a:off x="5257800" y="2578608"/>
            <a:ext cx="3364992" cy="219456"/>
          </a:xfrm>
          <a:prstGeom prst="rect">
            <a:avLst/>
          </a:prstGeom>
          <a:noFill/>
          <a:ln/>
        </p:spPr>
        <p:txBody>
          <a:bodyPr wrap="square" lIns="0" tIns="0" rIns="0" bIns="0" rtlCol="0" anchor="ctr"/>
          <a:lstStyle/>
          <a:p>
            <a:pPr indent="0" marL="0">
              <a:buNone/>
            </a:pPr>
            <a:r>
              <a:rPr lang="en-US" sz="950" dirty="0">
                <a:solidFill>
                  <a:srgbClr val="475569"/>
                </a:solidFill>
              </a:rPr>
              <a:t>'What time is it in New York?' — no reasoning needed</a:t>
            </a:r>
            <a:endParaRPr lang="en-US" sz="950" dirty="0"/>
          </a:p>
        </p:txBody>
      </p:sp>
      <p:sp>
        <p:nvSpPr>
          <p:cNvPr id="34" name="Shape 32"/>
          <p:cNvSpPr/>
          <p:nvPr/>
        </p:nvSpPr>
        <p:spPr>
          <a:xfrm>
            <a:off x="4937760" y="2962656"/>
            <a:ext cx="219456" cy="219456"/>
          </a:xfrm>
          <a:prstGeom prst="ellipse">
            <a:avLst/>
          </a:prstGeom>
          <a:solidFill>
            <a:srgbClr val="DC2626"/>
          </a:solidFill>
          <a:ln w="12700">
            <a:solidFill>
              <a:srgbClr val="DC2626"/>
            </a:solidFill>
            <a:prstDash val="solid"/>
          </a:ln>
        </p:spPr>
      </p:sp>
      <p:sp>
        <p:nvSpPr>
          <p:cNvPr id="35" name="Text 33"/>
          <p:cNvSpPr/>
          <p:nvPr/>
        </p:nvSpPr>
        <p:spPr>
          <a:xfrm>
            <a:off x="5257800" y="2852928"/>
            <a:ext cx="3364992" cy="256032"/>
          </a:xfrm>
          <a:prstGeom prst="rect">
            <a:avLst/>
          </a:prstGeom>
          <a:noFill/>
          <a:ln/>
        </p:spPr>
        <p:txBody>
          <a:bodyPr wrap="square" lIns="0" tIns="0" rIns="0" bIns="0" rtlCol="0" anchor="ctr"/>
          <a:lstStyle/>
          <a:p>
            <a:pPr indent="0" marL="0">
              <a:buNone/>
            </a:pPr>
            <a:r>
              <a:rPr lang="en-US" sz="1100" b="1" dirty="0">
                <a:solidFill>
                  <a:srgbClr val="0F172A"/>
                </a:solidFill>
              </a:rPr>
              <a:t>Short writing tasks</a:t>
            </a:r>
            <a:endParaRPr lang="en-US" sz="1100" dirty="0"/>
          </a:p>
        </p:txBody>
      </p:sp>
      <p:sp>
        <p:nvSpPr>
          <p:cNvPr id="36" name="Text 34"/>
          <p:cNvSpPr/>
          <p:nvPr/>
        </p:nvSpPr>
        <p:spPr>
          <a:xfrm>
            <a:off x="5257800" y="3127248"/>
            <a:ext cx="3364992" cy="219456"/>
          </a:xfrm>
          <a:prstGeom prst="rect">
            <a:avLst/>
          </a:prstGeom>
          <a:noFill/>
          <a:ln/>
        </p:spPr>
        <p:txBody>
          <a:bodyPr wrap="square" lIns="0" tIns="0" rIns="0" bIns="0" rtlCol="0" anchor="ctr"/>
          <a:lstStyle/>
          <a:p>
            <a:pPr indent="0" marL="0">
              <a:buNone/>
            </a:pPr>
            <a:r>
              <a:rPr lang="en-US" sz="950" dirty="0">
                <a:solidFill>
                  <a:srgbClr val="475569"/>
                </a:solidFill>
              </a:rPr>
              <a:t>'Write a 3-line caption for my photo'</a:t>
            </a:r>
            <a:endParaRPr lang="en-US" sz="950" dirty="0"/>
          </a:p>
        </p:txBody>
      </p:sp>
      <p:sp>
        <p:nvSpPr>
          <p:cNvPr id="37" name="Shape 35"/>
          <p:cNvSpPr/>
          <p:nvPr/>
        </p:nvSpPr>
        <p:spPr>
          <a:xfrm>
            <a:off x="4937760" y="3511296"/>
            <a:ext cx="219456" cy="219456"/>
          </a:xfrm>
          <a:prstGeom prst="ellipse">
            <a:avLst/>
          </a:prstGeom>
          <a:solidFill>
            <a:srgbClr val="DC2626"/>
          </a:solidFill>
          <a:ln w="12700">
            <a:solidFill>
              <a:srgbClr val="DC2626"/>
            </a:solidFill>
            <a:prstDash val="solid"/>
          </a:ln>
        </p:spPr>
      </p:sp>
      <p:sp>
        <p:nvSpPr>
          <p:cNvPr id="38" name="Text 36"/>
          <p:cNvSpPr/>
          <p:nvPr/>
        </p:nvSpPr>
        <p:spPr>
          <a:xfrm>
            <a:off x="5257800" y="3401568"/>
            <a:ext cx="3364992" cy="256032"/>
          </a:xfrm>
          <a:prstGeom prst="rect">
            <a:avLst/>
          </a:prstGeom>
          <a:noFill/>
          <a:ln/>
        </p:spPr>
        <p:txBody>
          <a:bodyPr wrap="square" lIns="0" tIns="0" rIns="0" bIns="0" rtlCol="0" anchor="ctr"/>
          <a:lstStyle/>
          <a:p>
            <a:pPr indent="0" marL="0">
              <a:buNone/>
            </a:pPr>
            <a:r>
              <a:rPr lang="en-US" sz="1100" b="1" dirty="0">
                <a:solidFill>
                  <a:srgbClr val="0F172A"/>
                </a:solidFill>
              </a:rPr>
              <a:t>Basic definitions</a:t>
            </a:r>
            <a:endParaRPr lang="en-US" sz="1100" dirty="0"/>
          </a:p>
        </p:txBody>
      </p:sp>
      <p:sp>
        <p:nvSpPr>
          <p:cNvPr id="39" name="Text 37"/>
          <p:cNvSpPr/>
          <p:nvPr/>
        </p:nvSpPr>
        <p:spPr>
          <a:xfrm>
            <a:off x="5257800" y="3675888"/>
            <a:ext cx="3364992" cy="219456"/>
          </a:xfrm>
          <a:prstGeom prst="rect">
            <a:avLst/>
          </a:prstGeom>
          <a:noFill/>
          <a:ln/>
        </p:spPr>
        <p:txBody>
          <a:bodyPr wrap="square" lIns="0" tIns="0" rIns="0" bIns="0" rtlCol="0" anchor="ctr"/>
          <a:lstStyle/>
          <a:p>
            <a:pPr indent="0" marL="0">
              <a:buNone/>
            </a:pPr>
            <a:r>
              <a:rPr lang="en-US" sz="950" dirty="0">
                <a:solidFill>
                  <a:srgbClr val="475569"/>
                </a:solidFill>
              </a:rPr>
              <a:t>'What does API mean?'</a:t>
            </a:r>
            <a:endParaRPr lang="en-US" sz="950" dirty="0"/>
          </a:p>
        </p:txBody>
      </p:sp>
      <p:sp>
        <p:nvSpPr>
          <p:cNvPr id="40" name="Shape 38"/>
          <p:cNvSpPr/>
          <p:nvPr/>
        </p:nvSpPr>
        <p:spPr>
          <a:xfrm>
            <a:off x="4937760" y="4059936"/>
            <a:ext cx="219456" cy="219456"/>
          </a:xfrm>
          <a:prstGeom prst="ellipse">
            <a:avLst/>
          </a:prstGeom>
          <a:solidFill>
            <a:srgbClr val="DC2626"/>
          </a:solidFill>
          <a:ln w="12700">
            <a:solidFill>
              <a:srgbClr val="DC2626"/>
            </a:solidFill>
            <a:prstDash val="solid"/>
          </a:ln>
        </p:spPr>
      </p:sp>
      <p:sp>
        <p:nvSpPr>
          <p:cNvPr id="41" name="Text 39"/>
          <p:cNvSpPr/>
          <p:nvPr/>
        </p:nvSpPr>
        <p:spPr>
          <a:xfrm>
            <a:off x="5257800" y="3950208"/>
            <a:ext cx="3364992" cy="256032"/>
          </a:xfrm>
          <a:prstGeom prst="rect">
            <a:avLst/>
          </a:prstGeom>
          <a:noFill/>
          <a:ln/>
        </p:spPr>
        <p:txBody>
          <a:bodyPr wrap="square" lIns="0" tIns="0" rIns="0" bIns="0" rtlCol="0" anchor="ctr"/>
          <a:lstStyle/>
          <a:p>
            <a:pPr indent="0" marL="0">
              <a:buNone/>
            </a:pPr>
            <a:r>
              <a:rPr lang="en-US" sz="1100" b="1" dirty="0">
                <a:solidFill>
                  <a:srgbClr val="0F172A"/>
                </a:solidFill>
              </a:rPr>
              <a:t>When speed matters more</a:t>
            </a:r>
            <a:endParaRPr lang="en-US" sz="1100" dirty="0"/>
          </a:p>
        </p:txBody>
      </p:sp>
      <p:sp>
        <p:nvSpPr>
          <p:cNvPr id="42" name="Text 40"/>
          <p:cNvSpPr/>
          <p:nvPr/>
        </p:nvSpPr>
        <p:spPr>
          <a:xfrm>
            <a:off x="5257800" y="4224528"/>
            <a:ext cx="3364992" cy="219456"/>
          </a:xfrm>
          <a:prstGeom prst="rect">
            <a:avLst/>
          </a:prstGeom>
          <a:noFill/>
          <a:ln/>
        </p:spPr>
        <p:txBody>
          <a:bodyPr wrap="square" lIns="0" tIns="0" rIns="0" bIns="0" rtlCol="0" anchor="ctr"/>
          <a:lstStyle/>
          <a:p>
            <a:pPr indent="0" marL="0">
              <a:buNone/>
            </a:pPr>
            <a:r>
              <a:rPr lang="en-US" sz="950" dirty="0">
                <a:solidFill>
                  <a:srgbClr val="475569"/>
                </a:solidFill>
              </a:rPr>
              <a:t>Quick replies in a live chat or meeting</a:t>
            </a:r>
            <a:endParaRPr lang="en-US" sz="950" dirty="0"/>
          </a:p>
        </p:txBody>
      </p:sp>
      <p:sp>
        <p:nvSpPr>
          <p:cNvPr id="43" name="Shape 41"/>
          <p:cNvSpPr/>
          <p:nvPr/>
        </p:nvSpPr>
        <p:spPr>
          <a:xfrm>
            <a:off x="4407408" y="1261872"/>
            <a:ext cx="0" cy="3566160"/>
          </a:xfrm>
          <a:prstGeom prst="line">
            <a:avLst/>
          </a:prstGeom>
          <a:noFill/>
          <a:ln w="6350">
            <a:solidFill>
              <a:srgbClr val="E2E8F0"/>
            </a:solidFill>
            <a:prstDash val="solid"/>
          </a:ln>
        </p:spPr>
      </p:sp>
      <p:sp>
        <p:nvSpPr>
          <p:cNvPr id="44" name="Shape 42"/>
          <p:cNvSpPr/>
          <p:nvPr/>
        </p:nvSpPr>
        <p:spPr>
          <a:xfrm>
            <a:off x="365760" y="4919472"/>
            <a:ext cx="8412480" cy="0"/>
          </a:xfrm>
          <a:prstGeom prst="roundRect">
            <a:avLst>
              <a:gd name="adj" fmla="val Infinity"/>
            </a:avLst>
          </a:prstGeom>
          <a:solidFill>
            <a:srgbClr val="FFFFFF"/>
          </a:solidFill>
          <a:ln w="6350">
            <a:solidFill>
              <a:srgbClr val="E2E8F0"/>
            </a:solidFill>
            <a:prstDash val="solid"/>
          </a:ln>
        </p:spPr>
      </p:sp>
      <p:sp>
        <p:nvSpPr>
          <p:cNvPr id="45" name="Shape 43"/>
          <p:cNvSpPr/>
          <p:nvPr/>
        </p:nvSpPr>
        <p:spPr>
          <a:xfrm>
            <a:off x="365760" y="4882896"/>
            <a:ext cx="8412480" cy="0"/>
          </a:xfrm>
          <a:prstGeom prst="line">
            <a:avLst/>
          </a:prstGeom>
          <a:noFill/>
          <a:ln w="6350">
            <a:solidFill>
              <a:srgbClr val="E2E8F0"/>
            </a:solidFill>
            <a:prstDash val="solid"/>
          </a:ln>
        </p:spPr>
      </p:sp>
      <p:sp>
        <p:nvSpPr>
          <p:cNvPr id="46" name="Text 44"/>
          <p:cNvSpPr/>
          <p:nvPr/>
        </p:nvSpPr>
        <p:spPr>
          <a:xfrm>
            <a:off x="548640" y="4754880"/>
            <a:ext cx="8046720" cy="320040"/>
          </a:xfrm>
          <a:prstGeom prst="rect">
            <a:avLst/>
          </a:prstGeom>
          <a:noFill/>
          <a:ln/>
        </p:spPr>
        <p:txBody>
          <a:bodyPr wrap="square" lIns="0" tIns="0" rIns="0" bIns="0" rtlCol="0" anchor="ctr"/>
          <a:lstStyle/>
          <a:p>
            <a:pPr indent="0" marL="0">
              <a:buNone/>
            </a:pPr>
            <a:r>
              <a:rPr lang="en-US" sz="1050" i="1" dirty="0">
                <a:solidFill>
                  <a:srgbClr val="0D9488"/>
                </a:solidFill>
              </a:rPr>
              <a:t>FORMULA: [Your question] + I value [X and Y]. Think hard. Tell me: 1) the key trade-offs, 2) your recommendation and why, 3) when your answer changes.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56032"/>
            <a:ext cx="1188720" cy="274320"/>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1188720" cy="274320"/>
          </a:xfrm>
          <a:prstGeom prst="rect">
            <a:avLst/>
          </a:prstGeom>
          <a:noFill/>
          <a:ln/>
        </p:spPr>
        <p:txBody>
          <a:bodyPr wrap="square" lIns="0" tIns="0" rIns="0" bIns="0" rtlCol="0" anchor="ctr"/>
          <a:lstStyle/>
          <a:p>
            <a:pPr algn="ctr" indent="0" marL="0">
              <a:buNone/>
            </a:pPr>
            <a:r>
              <a:rPr lang="en-US" sz="850" b="1" spc="200" kern="0" dirty="0">
                <a:solidFill>
                  <a:srgbClr val="FFFFFF"/>
                </a:solidFill>
              </a:rPr>
              <a:t>CONCEPT 6</a:t>
            </a:r>
            <a:endParaRPr lang="en-US" sz="850" dirty="0"/>
          </a:p>
        </p:txBody>
      </p:sp>
      <p:sp>
        <p:nvSpPr>
          <p:cNvPr id="4" name="Text 2"/>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0F172A"/>
                </a:solidFill>
              </a:rPr>
              <a:t>Stop the Flattery (Sycophancy)</a:t>
            </a:r>
            <a:endParaRPr lang="en-US" sz="2800" dirty="0"/>
          </a:p>
        </p:txBody>
      </p:sp>
      <p:sp>
        <p:nvSpPr>
          <p:cNvPr id="5" name="Text 3"/>
          <p:cNvSpPr/>
          <p:nvPr/>
        </p:nvSpPr>
        <p:spPr>
          <a:xfrm>
            <a:off x="457200" y="804672"/>
            <a:ext cx="8229600" cy="310896"/>
          </a:xfrm>
          <a:prstGeom prst="rect">
            <a:avLst/>
          </a:prstGeom>
          <a:noFill/>
          <a:ln/>
        </p:spPr>
        <p:txBody>
          <a:bodyPr wrap="square" lIns="0" tIns="0" rIns="0" bIns="0" rtlCol="0" anchor="ctr"/>
          <a:lstStyle/>
          <a:p>
            <a:pPr indent="0" marL="0">
              <a:buNone/>
            </a:pPr>
            <a:r>
              <a:rPr lang="en-US" sz="1300" dirty="0">
                <a:solidFill>
                  <a:srgbClr val="475569"/>
                </a:solidFill>
              </a:rPr>
              <a:t>AI is trained to be agreeable. This makes it useless for real decisions unless you stop it.</a:t>
            </a:r>
            <a:endParaRPr lang="en-US" sz="1300" dirty="0"/>
          </a:p>
        </p:txBody>
      </p:sp>
      <p:sp>
        <p:nvSpPr>
          <p:cNvPr id="6" name="Shape 4"/>
          <p:cNvSpPr/>
          <p:nvPr/>
        </p:nvSpPr>
        <p:spPr>
          <a:xfrm>
            <a:off x="457200" y="1143000"/>
            <a:ext cx="8229600" cy="0"/>
          </a:xfrm>
          <a:prstGeom prst="line">
            <a:avLst/>
          </a:prstGeom>
          <a:noFill/>
          <a:ln w="6350">
            <a:solidFill>
              <a:srgbClr val="E2E8F0"/>
            </a:solidFill>
            <a:prstDash val="solid"/>
          </a:ln>
        </p:spPr>
      </p:sp>
      <p:sp>
        <p:nvSpPr>
          <p:cNvPr id="7" name="Shape 5"/>
          <p:cNvSpPr/>
          <p:nvPr/>
        </p:nvSpPr>
        <p:spPr>
          <a:xfrm>
            <a:off x="365760" y="1261872"/>
            <a:ext cx="8412480" cy="1078992"/>
          </a:xfrm>
          <a:prstGeom prst="roundRect">
            <a:avLst>
              <a:gd name="adj" fmla="val 10169"/>
            </a:avLst>
          </a:prstGeom>
          <a:solidFill>
            <a:srgbClr val="FFFBEB"/>
          </a:solidFill>
          <a:ln w="6350">
            <a:solidFill>
              <a:srgbClr val="E2E8F0"/>
            </a:solidFill>
            <a:prstDash val="solid"/>
          </a:ln>
        </p:spPr>
      </p:sp>
      <p:sp>
        <p:nvSpPr>
          <p:cNvPr id="8" name="Text 6"/>
          <p:cNvSpPr/>
          <p:nvPr/>
        </p:nvSpPr>
        <p:spPr>
          <a:xfrm>
            <a:off x="566928" y="1353312"/>
            <a:ext cx="2194560" cy="256032"/>
          </a:xfrm>
          <a:prstGeom prst="rect">
            <a:avLst/>
          </a:prstGeom>
          <a:noFill/>
          <a:ln/>
        </p:spPr>
        <p:txBody>
          <a:bodyPr wrap="square" lIns="0" tIns="0" rIns="0" bIns="0" rtlCol="0" anchor="ctr"/>
          <a:lstStyle/>
          <a:p>
            <a:pPr indent="0" marL="0">
              <a:buNone/>
            </a:pPr>
            <a:r>
              <a:rPr lang="en-US" sz="900" b="1" spc="150" kern="0" dirty="0">
                <a:solidFill>
                  <a:srgbClr val="D97706"/>
                </a:solidFill>
              </a:rPr>
              <a:t>WHAT IS SYCOPHANCY?</a:t>
            </a:r>
            <a:endParaRPr lang="en-US" sz="900" dirty="0"/>
          </a:p>
        </p:txBody>
      </p:sp>
      <p:sp>
        <p:nvSpPr>
          <p:cNvPr id="9" name="Text 7"/>
          <p:cNvSpPr/>
          <p:nvPr/>
        </p:nvSpPr>
        <p:spPr>
          <a:xfrm>
            <a:off x="566928" y="1609344"/>
            <a:ext cx="7955280" cy="566928"/>
          </a:xfrm>
          <a:prstGeom prst="rect">
            <a:avLst/>
          </a:prstGeom>
          <a:noFill/>
          <a:ln/>
        </p:spPr>
        <p:txBody>
          <a:bodyPr wrap="square" lIns="0" tIns="0" rIns="0" bIns="0" rtlCol="0" anchor="ctr"/>
          <a:lstStyle/>
          <a:p>
            <a:pPr indent="0" marL="0">
              <a:buNone/>
            </a:pPr>
            <a:r>
              <a:rPr lang="en-US" sz="1200" dirty="0">
                <a:solidFill>
                  <a:srgbClr val="475569"/>
                </a:solidFill>
              </a:rPr>
              <a:t>When you ask a question that implies an answer, the AI tends to agree with you and find supporting reasons. It is not lying — it is pattern-matching to what seems like the answer you want. This is called sycophancy.</a:t>
            </a:r>
            <a:endParaRPr lang="en-US" sz="1200" dirty="0"/>
          </a:p>
        </p:txBody>
      </p:sp>
      <p:sp>
        <p:nvSpPr>
          <p:cNvPr id="10" name="Shape 8"/>
          <p:cNvSpPr/>
          <p:nvPr/>
        </p:nvSpPr>
        <p:spPr>
          <a:xfrm>
            <a:off x="365760" y="2468880"/>
            <a:ext cx="3950208" cy="1097280"/>
          </a:xfrm>
          <a:prstGeom prst="roundRect">
            <a:avLst>
              <a:gd name="adj" fmla="val 10000"/>
            </a:avLst>
          </a:prstGeom>
          <a:solidFill>
            <a:srgbClr val="FEF2F2"/>
          </a:solidFill>
          <a:ln w="6350">
            <a:solidFill>
              <a:srgbClr val="E2E8F0"/>
            </a:solidFill>
            <a:prstDash val="solid"/>
          </a:ln>
        </p:spPr>
      </p:sp>
      <p:sp>
        <p:nvSpPr>
          <p:cNvPr id="11" name="Text 9"/>
          <p:cNvSpPr/>
          <p:nvPr/>
        </p:nvSpPr>
        <p:spPr>
          <a:xfrm>
            <a:off x="530352" y="2542032"/>
            <a:ext cx="3566160" cy="228600"/>
          </a:xfrm>
          <a:prstGeom prst="rect">
            <a:avLst/>
          </a:prstGeom>
          <a:noFill/>
          <a:ln/>
        </p:spPr>
        <p:txBody>
          <a:bodyPr wrap="square" lIns="0" tIns="0" rIns="0" bIns="0" rtlCol="0" anchor="ctr"/>
          <a:lstStyle/>
          <a:p>
            <a:pPr indent="0" marL="0">
              <a:buNone/>
            </a:pPr>
            <a:r>
              <a:rPr lang="en-US" sz="900" b="1" dirty="0">
                <a:solidFill>
                  <a:srgbClr val="DC2626"/>
                </a:solidFill>
              </a:rPr>
              <a:t>❌ BAIT PROMPT</a:t>
            </a:r>
            <a:endParaRPr lang="en-US" sz="900" dirty="0"/>
          </a:p>
        </p:txBody>
      </p:sp>
      <p:sp>
        <p:nvSpPr>
          <p:cNvPr id="12" name="Text 10"/>
          <p:cNvSpPr/>
          <p:nvPr/>
        </p:nvSpPr>
        <p:spPr>
          <a:xfrm>
            <a:off x="530352" y="2761488"/>
            <a:ext cx="3566160" cy="365760"/>
          </a:xfrm>
          <a:prstGeom prst="rect">
            <a:avLst/>
          </a:prstGeom>
          <a:noFill/>
          <a:ln/>
        </p:spPr>
        <p:txBody>
          <a:bodyPr wrap="square" lIns="0" tIns="0" rIns="0" bIns="0" rtlCol="0" anchor="ctr"/>
          <a:lstStyle/>
          <a:p>
            <a:pPr indent="0" marL="0">
              <a:buNone/>
            </a:pPr>
            <a:r>
              <a:rPr lang="en-US" sz="950" i="1" dirty="0">
                <a:solidFill>
                  <a:srgbClr val="0F172A"/>
                </a:solidFill>
              </a:rPr>
              <a:t>Bait: "Do not you think mornings are the BEST time to exercise? Obviously nothing else compares right?"</a:t>
            </a:r>
            <a:endParaRPr lang="en-US" sz="950" dirty="0"/>
          </a:p>
        </p:txBody>
      </p:sp>
      <p:sp>
        <p:nvSpPr>
          <p:cNvPr id="13" name="Text 11"/>
          <p:cNvSpPr/>
          <p:nvPr/>
        </p:nvSpPr>
        <p:spPr>
          <a:xfrm>
            <a:off x="530352" y="3163824"/>
            <a:ext cx="3566160" cy="347472"/>
          </a:xfrm>
          <a:prstGeom prst="rect">
            <a:avLst/>
          </a:prstGeom>
          <a:noFill/>
          <a:ln/>
        </p:spPr>
        <p:txBody>
          <a:bodyPr wrap="square" lIns="0" tIns="0" rIns="0" bIns="0" rtlCol="0" anchor="ctr"/>
          <a:lstStyle/>
          <a:p>
            <a:pPr indent="0" marL="0">
              <a:buNone/>
            </a:pPr>
            <a:r>
              <a:rPr lang="en-US" sz="900" dirty="0">
                <a:solidFill>
                  <a:srgbClr val="DC2626"/>
                </a:solidFill>
              </a:rPr>
              <a:t>Result: AI agrees: lists only morning benefits. Ignores evening. Useless for deciding.</a:t>
            </a:r>
            <a:endParaRPr lang="en-US" sz="900" dirty="0"/>
          </a:p>
        </p:txBody>
      </p:sp>
      <p:sp>
        <p:nvSpPr>
          <p:cNvPr id="14" name="Shape 12"/>
          <p:cNvSpPr/>
          <p:nvPr/>
        </p:nvSpPr>
        <p:spPr>
          <a:xfrm>
            <a:off x="4828032" y="2468880"/>
            <a:ext cx="3950208" cy="1097280"/>
          </a:xfrm>
          <a:prstGeom prst="roundRect">
            <a:avLst>
              <a:gd name="adj" fmla="val 10000"/>
            </a:avLst>
          </a:prstGeom>
          <a:solidFill>
            <a:srgbClr val="ECFDF5"/>
          </a:solidFill>
          <a:ln w="6350">
            <a:solidFill>
              <a:srgbClr val="E2E8F0"/>
            </a:solidFill>
            <a:prstDash val="solid"/>
          </a:ln>
        </p:spPr>
      </p:sp>
      <p:sp>
        <p:nvSpPr>
          <p:cNvPr id="15" name="Text 13"/>
          <p:cNvSpPr/>
          <p:nvPr/>
        </p:nvSpPr>
        <p:spPr>
          <a:xfrm>
            <a:off x="4983480" y="2542032"/>
            <a:ext cx="3566160" cy="228600"/>
          </a:xfrm>
          <a:prstGeom prst="rect">
            <a:avLst/>
          </a:prstGeom>
          <a:noFill/>
          <a:ln/>
        </p:spPr>
        <p:txBody>
          <a:bodyPr wrap="square" lIns="0" tIns="0" rIns="0" bIns="0" rtlCol="0" anchor="ctr"/>
          <a:lstStyle/>
          <a:p>
            <a:pPr indent="0" marL="0">
              <a:buNone/>
            </a:pPr>
            <a:r>
              <a:rPr lang="en-US" sz="900" b="1" dirty="0">
                <a:solidFill>
                  <a:srgbClr val="059669"/>
                </a:solidFill>
              </a:rPr>
              <a:t>✓ NEUTRAL PROMPT</a:t>
            </a:r>
            <a:endParaRPr lang="en-US" sz="900" dirty="0"/>
          </a:p>
        </p:txBody>
      </p:sp>
      <p:sp>
        <p:nvSpPr>
          <p:cNvPr id="16" name="Text 14"/>
          <p:cNvSpPr/>
          <p:nvPr/>
        </p:nvSpPr>
        <p:spPr>
          <a:xfrm>
            <a:off x="4983480" y="2761488"/>
            <a:ext cx="3566160" cy="365760"/>
          </a:xfrm>
          <a:prstGeom prst="rect">
            <a:avLst/>
          </a:prstGeom>
          <a:noFill/>
          <a:ln/>
        </p:spPr>
        <p:txBody>
          <a:bodyPr wrap="square" lIns="0" tIns="0" rIns="0" bIns="0" rtlCol="0" anchor="ctr"/>
          <a:lstStyle/>
          <a:p>
            <a:pPr indent="0" marL="0">
              <a:buNone/>
            </a:pPr>
            <a:r>
              <a:rPr lang="en-US" sz="950" i="1" dirty="0">
                <a:solidFill>
                  <a:srgbClr val="0F172A"/>
                </a:solidFill>
              </a:rPr>
              <a:t>Neutral: "Compare exercising in the morning versus evening. List the strongest case for each. Do not tell me which is better."</a:t>
            </a:r>
            <a:endParaRPr lang="en-US" sz="950" dirty="0"/>
          </a:p>
        </p:txBody>
      </p:sp>
      <p:sp>
        <p:nvSpPr>
          <p:cNvPr id="17" name="Text 15"/>
          <p:cNvSpPr/>
          <p:nvPr/>
        </p:nvSpPr>
        <p:spPr>
          <a:xfrm>
            <a:off x="4983480" y="3163824"/>
            <a:ext cx="3566160" cy="347472"/>
          </a:xfrm>
          <a:prstGeom prst="rect">
            <a:avLst/>
          </a:prstGeom>
          <a:noFill/>
          <a:ln/>
        </p:spPr>
        <p:txBody>
          <a:bodyPr wrap="square" lIns="0" tIns="0" rIns="0" bIns="0" rtlCol="0" anchor="ctr"/>
          <a:lstStyle/>
          <a:p>
            <a:pPr indent="0" marL="0">
              <a:buNone/>
            </a:pPr>
            <a:r>
              <a:rPr lang="en-US" sz="900" dirty="0">
                <a:solidFill>
                  <a:srgbClr val="059669"/>
                </a:solidFill>
              </a:rPr>
              <a:t>Result: AI gives both sides honestly: morning benefits cortisol and routine, evening suits night owls and is often better for performance. Now you can actually decide.</a:t>
            </a:r>
            <a:endParaRPr lang="en-US" sz="900" dirty="0"/>
          </a:p>
        </p:txBody>
      </p:sp>
      <p:sp>
        <p:nvSpPr>
          <p:cNvPr id="18" name="Shape 16"/>
          <p:cNvSpPr/>
          <p:nvPr/>
        </p:nvSpPr>
        <p:spPr>
          <a:xfrm>
            <a:off x="4343400" y="2468880"/>
            <a:ext cx="0" cy="1097280"/>
          </a:xfrm>
          <a:prstGeom prst="line">
            <a:avLst/>
          </a:prstGeom>
          <a:noFill/>
          <a:ln w="6350">
            <a:solidFill>
              <a:srgbClr val="E2E8F0"/>
            </a:solidFill>
            <a:prstDash val="solid"/>
          </a:ln>
        </p:spPr>
      </p:sp>
      <p:sp>
        <p:nvSpPr>
          <p:cNvPr id="19" name="Shape 17"/>
          <p:cNvSpPr/>
          <p:nvPr/>
        </p:nvSpPr>
        <p:spPr>
          <a:xfrm>
            <a:off x="365760" y="3749040"/>
            <a:ext cx="3950208" cy="1097280"/>
          </a:xfrm>
          <a:prstGeom prst="roundRect">
            <a:avLst>
              <a:gd name="adj" fmla="val 10000"/>
            </a:avLst>
          </a:prstGeom>
          <a:solidFill>
            <a:srgbClr val="FEF2F2"/>
          </a:solidFill>
          <a:ln w="6350">
            <a:solidFill>
              <a:srgbClr val="E2E8F0"/>
            </a:solidFill>
            <a:prstDash val="solid"/>
          </a:ln>
        </p:spPr>
      </p:sp>
      <p:sp>
        <p:nvSpPr>
          <p:cNvPr id="20" name="Text 18"/>
          <p:cNvSpPr/>
          <p:nvPr/>
        </p:nvSpPr>
        <p:spPr>
          <a:xfrm>
            <a:off x="530352" y="3822192"/>
            <a:ext cx="3566160" cy="228600"/>
          </a:xfrm>
          <a:prstGeom prst="rect">
            <a:avLst/>
          </a:prstGeom>
          <a:noFill/>
          <a:ln/>
        </p:spPr>
        <p:txBody>
          <a:bodyPr wrap="square" lIns="0" tIns="0" rIns="0" bIns="0" rtlCol="0" anchor="ctr"/>
          <a:lstStyle/>
          <a:p>
            <a:pPr indent="0" marL="0">
              <a:buNone/>
            </a:pPr>
            <a:r>
              <a:rPr lang="en-US" sz="900" b="1" dirty="0">
                <a:solidFill>
                  <a:srgbClr val="DC2626"/>
                </a:solidFill>
              </a:rPr>
              <a:t>❌ BAIT PROMPT</a:t>
            </a:r>
            <a:endParaRPr lang="en-US" sz="900" dirty="0"/>
          </a:p>
        </p:txBody>
      </p:sp>
      <p:sp>
        <p:nvSpPr>
          <p:cNvPr id="21" name="Text 19"/>
          <p:cNvSpPr/>
          <p:nvPr/>
        </p:nvSpPr>
        <p:spPr>
          <a:xfrm>
            <a:off x="530352" y="4041648"/>
            <a:ext cx="3566160" cy="365760"/>
          </a:xfrm>
          <a:prstGeom prst="rect">
            <a:avLst/>
          </a:prstGeom>
          <a:noFill/>
          <a:ln/>
        </p:spPr>
        <p:txBody>
          <a:bodyPr wrap="square" lIns="0" tIns="0" rIns="0" bIns="0" rtlCol="0" anchor="ctr"/>
          <a:lstStyle/>
          <a:p>
            <a:pPr indent="0" marL="0">
              <a:buNone/>
            </a:pPr>
            <a:r>
              <a:rPr lang="en-US" sz="950" i="1" dirty="0">
                <a:solidFill>
                  <a:srgbClr val="0F172A"/>
                </a:solidFill>
              </a:rPr>
              <a:t>Bait: "Working from home is clearly better than office right? Do not you agree?"</a:t>
            </a:r>
            <a:endParaRPr lang="en-US" sz="950" dirty="0"/>
          </a:p>
        </p:txBody>
      </p:sp>
      <p:sp>
        <p:nvSpPr>
          <p:cNvPr id="22" name="Text 20"/>
          <p:cNvSpPr/>
          <p:nvPr/>
        </p:nvSpPr>
        <p:spPr>
          <a:xfrm>
            <a:off x="530352" y="4443984"/>
            <a:ext cx="3566160" cy="347472"/>
          </a:xfrm>
          <a:prstGeom prst="rect">
            <a:avLst/>
          </a:prstGeom>
          <a:noFill/>
          <a:ln/>
        </p:spPr>
        <p:txBody>
          <a:bodyPr wrap="square" lIns="0" tIns="0" rIns="0" bIns="0" rtlCol="0" anchor="ctr"/>
          <a:lstStyle/>
          <a:p>
            <a:pPr indent="0" marL="0">
              <a:buNone/>
            </a:pPr>
            <a:r>
              <a:rPr lang="en-US" sz="900" dirty="0">
                <a:solidFill>
                  <a:srgbClr val="DC2626"/>
                </a:solidFill>
              </a:rPr>
              <a:t>Result: AI agrees: lists only WFH benefits. Sounds confident. Misses key WFH downsides.</a:t>
            </a:r>
            <a:endParaRPr lang="en-US" sz="900" dirty="0"/>
          </a:p>
        </p:txBody>
      </p:sp>
      <p:sp>
        <p:nvSpPr>
          <p:cNvPr id="23" name="Shape 21"/>
          <p:cNvSpPr/>
          <p:nvPr/>
        </p:nvSpPr>
        <p:spPr>
          <a:xfrm>
            <a:off x="4828032" y="3749040"/>
            <a:ext cx="3950208" cy="1097280"/>
          </a:xfrm>
          <a:prstGeom prst="roundRect">
            <a:avLst>
              <a:gd name="adj" fmla="val 10000"/>
            </a:avLst>
          </a:prstGeom>
          <a:solidFill>
            <a:srgbClr val="ECFDF5"/>
          </a:solidFill>
          <a:ln w="6350">
            <a:solidFill>
              <a:srgbClr val="E2E8F0"/>
            </a:solidFill>
            <a:prstDash val="solid"/>
          </a:ln>
        </p:spPr>
      </p:sp>
      <p:sp>
        <p:nvSpPr>
          <p:cNvPr id="24" name="Text 22"/>
          <p:cNvSpPr/>
          <p:nvPr/>
        </p:nvSpPr>
        <p:spPr>
          <a:xfrm>
            <a:off x="4983480" y="3822192"/>
            <a:ext cx="3566160" cy="228600"/>
          </a:xfrm>
          <a:prstGeom prst="rect">
            <a:avLst/>
          </a:prstGeom>
          <a:noFill/>
          <a:ln/>
        </p:spPr>
        <p:txBody>
          <a:bodyPr wrap="square" lIns="0" tIns="0" rIns="0" bIns="0" rtlCol="0" anchor="ctr"/>
          <a:lstStyle/>
          <a:p>
            <a:pPr indent="0" marL="0">
              <a:buNone/>
            </a:pPr>
            <a:r>
              <a:rPr lang="en-US" sz="900" b="1" dirty="0">
                <a:solidFill>
                  <a:srgbClr val="059669"/>
                </a:solidFill>
              </a:rPr>
              <a:t>✓ NEUTRAL PROMPT</a:t>
            </a:r>
            <a:endParaRPr lang="en-US" sz="900" dirty="0"/>
          </a:p>
        </p:txBody>
      </p:sp>
      <p:sp>
        <p:nvSpPr>
          <p:cNvPr id="25" name="Text 23"/>
          <p:cNvSpPr/>
          <p:nvPr/>
        </p:nvSpPr>
        <p:spPr>
          <a:xfrm>
            <a:off x="4983480" y="4041648"/>
            <a:ext cx="3566160" cy="365760"/>
          </a:xfrm>
          <a:prstGeom prst="rect">
            <a:avLst/>
          </a:prstGeom>
          <a:noFill/>
          <a:ln/>
        </p:spPr>
        <p:txBody>
          <a:bodyPr wrap="square" lIns="0" tIns="0" rIns="0" bIns="0" rtlCol="0" anchor="ctr"/>
          <a:lstStyle/>
          <a:p>
            <a:pPr indent="0" marL="0">
              <a:buNone/>
            </a:pPr>
            <a:r>
              <a:rPr lang="en-US" sz="950" i="1" dirty="0">
                <a:solidFill>
                  <a:srgbClr val="0F172A"/>
                </a:solidFill>
              </a:rPr>
              <a:t>Neutral: "Compare WFH versus office work. Strongest arguments for each. Do not tell me which is better."</a:t>
            </a:r>
            <a:endParaRPr lang="en-US" sz="950" dirty="0"/>
          </a:p>
        </p:txBody>
      </p:sp>
      <p:sp>
        <p:nvSpPr>
          <p:cNvPr id="26" name="Text 24"/>
          <p:cNvSpPr/>
          <p:nvPr/>
        </p:nvSpPr>
        <p:spPr>
          <a:xfrm>
            <a:off x="4983480" y="4443984"/>
            <a:ext cx="3566160" cy="347472"/>
          </a:xfrm>
          <a:prstGeom prst="rect">
            <a:avLst/>
          </a:prstGeom>
          <a:noFill/>
          <a:ln/>
        </p:spPr>
        <p:txBody>
          <a:bodyPr wrap="square" lIns="0" tIns="0" rIns="0" bIns="0" rtlCol="0" anchor="ctr"/>
          <a:lstStyle/>
          <a:p>
            <a:pPr indent="0" marL="0">
              <a:buNone/>
            </a:pPr>
            <a:r>
              <a:rPr lang="en-US" sz="900" dirty="0">
                <a:solidFill>
                  <a:srgbClr val="059669"/>
                </a:solidFill>
              </a:rPr>
              <a:t>Result: AI lists both: WFH isolation, blurred work-life boundary, harder collaboration — alongside all the benefits. Balanced and honest.</a:t>
            </a:r>
            <a:endParaRPr lang="en-US" sz="900" dirty="0"/>
          </a:p>
        </p:txBody>
      </p:sp>
      <p:sp>
        <p:nvSpPr>
          <p:cNvPr id="27" name="Shape 25"/>
          <p:cNvSpPr/>
          <p:nvPr/>
        </p:nvSpPr>
        <p:spPr>
          <a:xfrm>
            <a:off x="4343400" y="3749040"/>
            <a:ext cx="0" cy="1097280"/>
          </a:xfrm>
          <a:prstGeom prst="line">
            <a:avLst/>
          </a:prstGeom>
          <a:noFill/>
          <a:ln w="6350">
            <a:solidFill>
              <a:srgbClr val="E2E8F0"/>
            </a:solidFill>
            <a:prstDash val="solid"/>
          </a:ln>
        </p:spPr>
      </p:sp>
      <p:sp>
        <p:nvSpPr>
          <p:cNvPr id="28" name="Text 26"/>
          <p:cNvSpPr/>
          <p:nvPr/>
        </p:nvSpPr>
        <p:spPr>
          <a:xfrm>
            <a:off x="457200" y="4754880"/>
            <a:ext cx="8229600" cy="274320"/>
          </a:xfrm>
          <a:prstGeom prst="rect">
            <a:avLst/>
          </a:prstGeom>
          <a:noFill/>
          <a:ln/>
        </p:spPr>
        <p:txBody>
          <a:bodyPr wrap="square" lIns="0" tIns="0" rIns="0" bIns="0" rtlCol="0" anchor="ctr"/>
          <a:lstStyle/>
          <a:p>
            <a:pPr indent="0" marL="0">
              <a:buNone/>
            </a:pPr>
            <a:r>
              <a:rPr lang="en-US" sz="1000" i="1" dirty="0">
                <a:solidFill>
                  <a:srgbClr val="0D9488"/>
                </a:solidFill>
              </a:rPr>
              <a:t>RULE: Replace 'Do not you agree / prove / confirm / obviously' → with 'Compare / evaluate / list both sides / do not tell me which is better'</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56032"/>
            <a:ext cx="1188720" cy="274320"/>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1188720" cy="274320"/>
          </a:xfrm>
          <a:prstGeom prst="rect">
            <a:avLst/>
          </a:prstGeom>
          <a:noFill/>
          <a:ln/>
        </p:spPr>
        <p:txBody>
          <a:bodyPr wrap="square" lIns="0" tIns="0" rIns="0" bIns="0" rtlCol="0" anchor="ctr"/>
          <a:lstStyle/>
          <a:p>
            <a:pPr algn="ctr" indent="0" marL="0">
              <a:buNone/>
            </a:pPr>
            <a:r>
              <a:rPr lang="en-US" sz="850" b="1" spc="200" kern="0" dirty="0">
                <a:solidFill>
                  <a:srgbClr val="FFFFFF"/>
                </a:solidFill>
              </a:rPr>
              <a:t>CONCEPT 7</a:t>
            </a:r>
            <a:endParaRPr lang="en-US" sz="850" dirty="0"/>
          </a:p>
        </p:txBody>
      </p:sp>
      <p:sp>
        <p:nvSpPr>
          <p:cNvPr id="4" name="Text 2"/>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0F172A"/>
                </a:solidFill>
              </a:rPr>
              <a:t>The Brainstorm–Iterate Loop</a:t>
            </a:r>
            <a:endParaRPr lang="en-US" sz="2800" dirty="0"/>
          </a:p>
        </p:txBody>
      </p:sp>
      <p:sp>
        <p:nvSpPr>
          <p:cNvPr id="5" name="Text 3"/>
          <p:cNvSpPr/>
          <p:nvPr/>
        </p:nvSpPr>
        <p:spPr>
          <a:xfrm>
            <a:off x="457200" y="804672"/>
            <a:ext cx="8229600" cy="310896"/>
          </a:xfrm>
          <a:prstGeom prst="rect">
            <a:avLst/>
          </a:prstGeom>
          <a:noFill/>
          <a:ln/>
        </p:spPr>
        <p:txBody>
          <a:bodyPr wrap="square" lIns="0" tIns="0" rIns="0" bIns="0" rtlCol="0" anchor="ctr"/>
          <a:lstStyle/>
          <a:p>
            <a:pPr indent="0" marL="0">
              <a:buNone/>
            </a:pPr>
            <a:r>
              <a:rPr lang="en-US" sz="1300" dirty="0">
                <a:solidFill>
                  <a:srgbClr val="475569"/>
                </a:solidFill>
              </a:rPr>
              <a:t>The first answer is always a draft. The best answer is always 2-3 rounds in.</a:t>
            </a:r>
            <a:endParaRPr lang="en-US" sz="1300" dirty="0"/>
          </a:p>
        </p:txBody>
      </p:sp>
      <p:sp>
        <p:nvSpPr>
          <p:cNvPr id="6" name="Shape 4"/>
          <p:cNvSpPr/>
          <p:nvPr/>
        </p:nvSpPr>
        <p:spPr>
          <a:xfrm>
            <a:off x="457200" y="1143000"/>
            <a:ext cx="8229600" cy="0"/>
          </a:xfrm>
          <a:prstGeom prst="line">
            <a:avLst/>
          </a:prstGeom>
          <a:noFill/>
          <a:ln w="6350">
            <a:solidFill>
              <a:srgbClr val="E2E8F0"/>
            </a:solidFill>
            <a:prstDash val="solid"/>
          </a:ln>
        </p:spPr>
      </p:sp>
      <p:sp>
        <p:nvSpPr>
          <p:cNvPr id="7" name="Shape 5"/>
          <p:cNvSpPr/>
          <p:nvPr/>
        </p:nvSpPr>
        <p:spPr>
          <a:xfrm>
            <a:off x="365760" y="1261872"/>
            <a:ext cx="8412480" cy="1078992"/>
          </a:xfrm>
          <a:prstGeom prst="roundRect">
            <a:avLst>
              <a:gd name="adj" fmla="val 10169"/>
            </a:avLst>
          </a:prstGeom>
          <a:solidFill>
            <a:srgbClr val="FFFFFF"/>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8" name="Shape 6"/>
          <p:cNvSpPr/>
          <p:nvPr/>
        </p:nvSpPr>
        <p:spPr>
          <a:xfrm>
            <a:off x="365760" y="1261872"/>
            <a:ext cx="1353312" cy="1078992"/>
          </a:xfrm>
          <a:prstGeom prst="roundRect">
            <a:avLst>
              <a:gd name="adj" fmla="val 10169"/>
            </a:avLst>
          </a:prstGeom>
          <a:solidFill>
            <a:srgbClr val="0D9488"/>
          </a:solidFill>
          <a:ln w="12700">
            <a:solidFill>
              <a:srgbClr val="0D9488"/>
            </a:solidFill>
            <a:prstDash val="solid"/>
          </a:ln>
        </p:spPr>
      </p:sp>
      <p:sp>
        <p:nvSpPr>
          <p:cNvPr id="9" name="Text 7"/>
          <p:cNvSpPr/>
          <p:nvPr/>
        </p:nvSpPr>
        <p:spPr>
          <a:xfrm>
            <a:off x="365760" y="1371600"/>
            <a:ext cx="1353312"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rPr>
              <a:t>Round 1</a:t>
            </a:r>
            <a:endParaRPr lang="en-US" sz="1000" dirty="0"/>
          </a:p>
        </p:txBody>
      </p:sp>
      <p:sp>
        <p:nvSpPr>
          <p:cNvPr id="10" name="Text 8"/>
          <p:cNvSpPr/>
          <p:nvPr/>
        </p:nvSpPr>
        <p:spPr>
          <a:xfrm>
            <a:off x="365760" y="1664208"/>
            <a:ext cx="1353312" cy="292608"/>
          </a:xfrm>
          <a:prstGeom prst="rect">
            <a:avLst/>
          </a:prstGeom>
          <a:noFill/>
          <a:ln/>
        </p:spPr>
        <p:txBody>
          <a:bodyPr wrap="square" lIns="0" tIns="0" rIns="0" bIns="0" rtlCol="0" anchor="ctr"/>
          <a:lstStyle/>
          <a:p>
            <a:pPr algn="ctr" indent="0" marL="0">
              <a:buNone/>
            </a:pPr>
            <a:r>
              <a:rPr lang="en-US" sz="1300" b="1" dirty="0">
                <a:solidFill>
                  <a:srgbClr val="FFFFFF"/>
                </a:solidFill>
              </a:rPr>
              <a:t>Ask for Options</a:t>
            </a:r>
            <a:endParaRPr lang="en-US" sz="1300" dirty="0"/>
          </a:p>
        </p:txBody>
      </p:sp>
      <p:sp>
        <p:nvSpPr>
          <p:cNvPr id="11" name="Shape 9"/>
          <p:cNvSpPr/>
          <p:nvPr/>
        </p:nvSpPr>
        <p:spPr>
          <a:xfrm>
            <a:off x="1737360" y="1353312"/>
            <a:ext cx="0" cy="896112"/>
          </a:xfrm>
          <a:prstGeom prst="line">
            <a:avLst/>
          </a:prstGeom>
          <a:noFill/>
          <a:ln w="6350">
            <a:solidFill>
              <a:srgbClr val="E2E8F0"/>
            </a:solidFill>
            <a:prstDash val="solid"/>
          </a:ln>
        </p:spPr>
      </p:sp>
      <p:sp>
        <p:nvSpPr>
          <p:cNvPr id="12" name="Text 10"/>
          <p:cNvSpPr/>
          <p:nvPr/>
        </p:nvSpPr>
        <p:spPr>
          <a:xfrm>
            <a:off x="1865376" y="1335024"/>
            <a:ext cx="4069080" cy="822960"/>
          </a:xfrm>
          <a:prstGeom prst="rect">
            <a:avLst/>
          </a:prstGeom>
          <a:noFill/>
          <a:ln/>
        </p:spPr>
        <p:txBody>
          <a:bodyPr wrap="square" lIns="0" tIns="0" rIns="0" bIns="0" rtlCol="0" anchor="ctr"/>
          <a:lstStyle/>
          <a:p>
            <a:pPr indent="0" marL="0">
              <a:buNone/>
            </a:pPr>
            <a:r>
              <a:rPr lang="en-US" sz="1000" i="1" dirty="0">
                <a:solidFill>
                  <a:srgbClr val="0F172A"/>
                </a:solidFill>
              </a:rPr>
              <a:t>"I want a cheap hobby I can do at home for 15 minutes. Give me 5 different ideas, one line each. Do not explain any of them yet."</a:t>
            </a:r>
            <a:endParaRPr lang="en-US" sz="1000" dirty="0"/>
          </a:p>
        </p:txBody>
      </p:sp>
      <p:sp>
        <p:nvSpPr>
          <p:cNvPr id="13" name="Shape 11"/>
          <p:cNvSpPr/>
          <p:nvPr/>
        </p:nvSpPr>
        <p:spPr>
          <a:xfrm>
            <a:off x="5961888" y="1353312"/>
            <a:ext cx="0" cy="896112"/>
          </a:xfrm>
          <a:prstGeom prst="line">
            <a:avLst/>
          </a:prstGeom>
          <a:noFill/>
          <a:ln w="6350">
            <a:solidFill>
              <a:srgbClr val="E2E8F0"/>
            </a:solidFill>
            <a:prstDash val="solid"/>
          </a:ln>
        </p:spPr>
      </p:sp>
      <p:sp>
        <p:nvSpPr>
          <p:cNvPr id="14" name="Text 12"/>
          <p:cNvSpPr/>
          <p:nvPr/>
        </p:nvSpPr>
        <p:spPr>
          <a:xfrm>
            <a:off x="6080760" y="1335024"/>
            <a:ext cx="2468880" cy="228600"/>
          </a:xfrm>
          <a:prstGeom prst="rect">
            <a:avLst/>
          </a:prstGeom>
          <a:noFill/>
          <a:ln/>
        </p:spPr>
        <p:txBody>
          <a:bodyPr wrap="square" lIns="0" tIns="0" rIns="0" bIns="0" rtlCol="0" anchor="ctr"/>
          <a:lstStyle/>
          <a:p>
            <a:pPr indent="0" marL="0">
              <a:buNone/>
            </a:pPr>
            <a:r>
              <a:rPr lang="en-US" sz="850" b="1" dirty="0">
                <a:solidFill>
                  <a:srgbClr val="0D9488"/>
                </a:solidFill>
              </a:rPr>
              <a:t>WHY:</a:t>
            </a:r>
            <a:endParaRPr lang="en-US" sz="850" dirty="0"/>
          </a:p>
        </p:txBody>
      </p:sp>
      <p:sp>
        <p:nvSpPr>
          <p:cNvPr id="15" name="Text 13"/>
          <p:cNvSpPr/>
          <p:nvPr/>
        </p:nvSpPr>
        <p:spPr>
          <a:xfrm>
            <a:off x="6080760" y="1563624"/>
            <a:ext cx="2468880" cy="658368"/>
          </a:xfrm>
          <a:prstGeom prst="rect">
            <a:avLst/>
          </a:prstGeom>
          <a:noFill/>
          <a:ln/>
        </p:spPr>
        <p:txBody>
          <a:bodyPr wrap="square" lIns="0" tIns="0" rIns="0" bIns="0" rtlCol="0" anchor="ctr"/>
          <a:lstStyle/>
          <a:p>
            <a:pPr indent="0" marL="0">
              <a:buNone/>
            </a:pPr>
            <a:r>
              <a:rPr lang="en-US" sz="950" dirty="0">
                <a:solidFill>
                  <a:srgbClr val="475569"/>
                </a:solidFill>
              </a:rPr>
              <a:t>You get 5 choices, not 1. This forces the AI to think broadly. Do NOT ask for one answer here.</a:t>
            </a:r>
            <a:endParaRPr lang="en-US" sz="950" dirty="0"/>
          </a:p>
        </p:txBody>
      </p:sp>
      <p:sp>
        <p:nvSpPr>
          <p:cNvPr id="16" name="Shape 14"/>
          <p:cNvSpPr/>
          <p:nvPr/>
        </p:nvSpPr>
        <p:spPr>
          <a:xfrm>
            <a:off x="365760" y="2487168"/>
            <a:ext cx="8412480" cy="1078992"/>
          </a:xfrm>
          <a:prstGeom prst="roundRect">
            <a:avLst>
              <a:gd name="adj" fmla="val 10169"/>
            </a:avLst>
          </a:prstGeom>
          <a:solidFill>
            <a:srgbClr val="FFFFFF"/>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17" name="Shape 15"/>
          <p:cNvSpPr/>
          <p:nvPr/>
        </p:nvSpPr>
        <p:spPr>
          <a:xfrm>
            <a:off x="365760" y="2487168"/>
            <a:ext cx="1353312" cy="1078992"/>
          </a:xfrm>
          <a:prstGeom prst="roundRect">
            <a:avLst>
              <a:gd name="adj" fmla="val 10169"/>
            </a:avLst>
          </a:prstGeom>
          <a:solidFill>
            <a:srgbClr val="D97706"/>
          </a:solidFill>
          <a:ln w="12700">
            <a:solidFill>
              <a:srgbClr val="D97706"/>
            </a:solidFill>
            <a:prstDash val="solid"/>
          </a:ln>
        </p:spPr>
      </p:sp>
      <p:sp>
        <p:nvSpPr>
          <p:cNvPr id="18" name="Text 16"/>
          <p:cNvSpPr/>
          <p:nvPr/>
        </p:nvSpPr>
        <p:spPr>
          <a:xfrm>
            <a:off x="365760" y="2596896"/>
            <a:ext cx="1353312"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rPr>
              <a:t>Round 2</a:t>
            </a:r>
            <a:endParaRPr lang="en-US" sz="1000" dirty="0"/>
          </a:p>
        </p:txBody>
      </p:sp>
      <p:sp>
        <p:nvSpPr>
          <p:cNvPr id="19" name="Text 17"/>
          <p:cNvSpPr/>
          <p:nvPr/>
        </p:nvSpPr>
        <p:spPr>
          <a:xfrm>
            <a:off x="365760" y="2889504"/>
            <a:ext cx="1353312" cy="292608"/>
          </a:xfrm>
          <a:prstGeom prst="rect">
            <a:avLst/>
          </a:prstGeom>
          <a:noFill/>
          <a:ln/>
        </p:spPr>
        <p:txBody>
          <a:bodyPr wrap="square" lIns="0" tIns="0" rIns="0" bIns="0" rtlCol="0" anchor="ctr"/>
          <a:lstStyle/>
          <a:p>
            <a:pPr algn="ctr" indent="0" marL="0">
              <a:buNone/>
            </a:pPr>
            <a:r>
              <a:rPr lang="en-US" sz="1300" b="1" dirty="0">
                <a:solidFill>
                  <a:srgbClr val="FFFFFF"/>
                </a:solidFill>
              </a:rPr>
              <a:t>Give Feedback</a:t>
            </a:r>
            <a:endParaRPr lang="en-US" sz="1300" dirty="0"/>
          </a:p>
        </p:txBody>
      </p:sp>
      <p:sp>
        <p:nvSpPr>
          <p:cNvPr id="20" name="Shape 18"/>
          <p:cNvSpPr/>
          <p:nvPr/>
        </p:nvSpPr>
        <p:spPr>
          <a:xfrm>
            <a:off x="1737360" y="2578608"/>
            <a:ext cx="0" cy="896112"/>
          </a:xfrm>
          <a:prstGeom prst="line">
            <a:avLst/>
          </a:prstGeom>
          <a:noFill/>
          <a:ln w="6350">
            <a:solidFill>
              <a:srgbClr val="E2E8F0"/>
            </a:solidFill>
            <a:prstDash val="solid"/>
          </a:ln>
        </p:spPr>
      </p:sp>
      <p:sp>
        <p:nvSpPr>
          <p:cNvPr id="21" name="Text 19"/>
          <p:cNvSpPr/>
          <p:nvPr/>
        </p:nvSpPr>
        <p:spPr>
          <a:xfrm>
            <a:off x="1865376" y="2560320"/>
            <a:ext cx="4069080" cy="822960"/>
          </a:xfrm>
          <a:prstGeom prst="rect">
            <a:avLst/>
          </a:prstGeom>
          <a:noFill/>
          <a:ln/>
        </p:spPr>
        <p:txBody>
          <a:bodyPr wrap="square" lIns="0" tIns="0" rIns="0" bIns="0" rtlCol="0" anchor="ctr"/>
          <a:lstStyle/>
          <a:p>
            <a:pPr indent="0" marL="0">
              <a:buNone/>
            </a:pPr>
            <a:r>
              <a:rPr lang="en-US" sz="1000" i="1" dirty="0">
                <a:solidFill>
                  <a:srgbClr val="0F172A"/>
                </a:solidFill>
              </a:rPr>
              <a:t>"I do not like option 3 because it needs equipment. I like option 1 but want it more creative. Give me 5 NEW ideas based on this feedback."</a:t>
            </a:r>
            <a:endParaRPr lang="en-US" sz="1000" dirty="0"/>
          </a:p>
        </p:txBody>
      </p:sp>
      <p:sp>
        <p:nvSpPr>
          <p:cNvPr id="22" name="Shape 20"/>
          <p:cNvSpPr/>
          <p:nvPr/>
        </p:nvSpPr>
        <p:spPr>
          <a:xfrm>
            <a:off x="5961888" y="2578608"/>
            <a:ext cx="0" cy="896112"/>
          </a:xfrm>
          <a:prstGeom prst="line">
            <a:avLst/>
          </a:prstGeom>
          <a:noFill/>
          <a:ln w="6350">
            <a:solidFill>
              <a:srgbClr val="E2E8F0"/>
            </a:solidFill>
            <a:prstDash val="solid"/>
          </a:ln>
        </p:spPr>
      </p:sp>
      <p:sp>
        <p:nvSpPr>
          <p:cNvPr id="23" name="Text 21"/>
          <p:cNvSpPr/>
          <p:nvPr/>
        </p:nvSpPr>
        <p:spPr>
          <a:xfrm>
            <a:off x="6080760" y="2560320"/>
            <a:ext cx="2468880" cy="228600"/>
          </a:xfrm>
          <a:prstGeom prst="rect">
            <a:avLst/>
          </a:prstGeom>
          <a:noFill/>
          <a:ln/>
        </p:spPr>
        <p:txBody>
          <a:bodyPr wrap="square" lIns="0" tIns="0" rIns="0" bIns="0" rtlCol="0" anchor="ctr"/>
          <a:lstStyle/>
          <a:p>
            <a:pPr indent="0" marL="0">
              <a:buNone/>
            </a:pPr>
            <a:r>
              <a:rPr lang="en-US" sz="850" b="1" dirty="0">
                <a:solidFill>
                  <a:srgbClr val="D97706"/>
                </a:solidFill>
              </a:rPr>
              <a:t>WHY:</a:t>
            </a:r>
            <a:endParaRPr lang="en-US" sz="850" dirty="0"/>
          </a:p>
        </p:txBody>
      </p:sp>
      <p:sp>
        <p:nvSpPr>
          <p:cNvPr id="24" name="Text 22"/>
          <p:cNvSpPr/>
          <p:nvPr/>
        </p:nvSpPr>
        <p:spPr>
          <a:xfrm>
            <a:off x="6080760" y="2788920"/>
            <a:ext cx="2468880" cy="658368"/>
          </a:xfrm>
          <a:prstGeom prst="rect">
            <a:avLst/>
          </a:prstGeom>
          <a:noFill/>
          <a:ln/>
        </p:spPr>
        <p:txBody>
          <a:bodyPr wrap="square" lIns="0" tIns="0" rIns="0" bIns="0" rtlCol="0" anchor="ctr"/>
          <a:lstStyle/>
          <a:p>
            <a:pPr indent="0" marL="0">
              <a:buNone/>
            </a:pPr>
            <a:r>
              <a:rPr lang="en-US" sz="950" dirty="0">
                <a:solidFill>
                  <a:srgbClr val="475569"/>
                </a:solidFill>
              </a:rPr>
              <a:t>You steer with real feedback. The AI now knows your preferences. The new options are far better targeted.</a:t>
            </a:r>
            <a:endParaRPr lang="en-US" sz="950" dirty="0"/>
          </a:p>
        </p:txBody>
      </p:sp>
      <p:sp>
        <p:nvSpPr>
          <p:cNvPr id="25" name="Shape 23"/>
          <p:cNvSpPr/>
          <p:nvPr/>
        </p:nvSpPr>
        <p:spPr>
          <a:xfrm>
            <a:off x="365760" y="3712464"/>
            <a:ext cx="8412480" cy="1078992"/>
          </a:xfrm>
          <a:prstGeom prst="roundRect">
            <a:avLst>
              <a:gd name="adj" fmla="val 10169"/>
            </a:avLst>
          </a:prstGeom>
          <a:solidFill>
            <a:srgbClr val="FFFFFF"/>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26" name="Shape 24"/>
          <p:cNvSpPr/>
          <p:nvPr/>
        </p:nvSpPr>
        <p:spPr>
          <a:xfrm>
            <a:off x="365760" y="3712464"/>
            <a:ext cx="1353312" cy="1078992"/>
          </a:xfrm>
          <a:prstGeom prst="roundRect">
            <a:avLst>
              <a:gd name="adj" fmla="val 10169"/>
            </a:avLst>
          </a:prstGeom>
          <a:solidFill>
            <a:srgbClr val="059669"/>
          </a:solidFill>
          <a:ln w="12700">
            <a:solidFill>
              <a:srgbClr val="059669"/>
            </a:solidFill>
            <a:prstDash val="solid"/>
          </a:ln>
        </p:spPr>
      </p:sp>
      <p:sp>
        <p:nvSpPr>
          <p:cNvPr id="27" name="Text 25"/>
          <p:cNvSpPr/>
          <p:nvPr/>
        </p:nvSpPr>
        <p:spPr>
          <a:xfrm>
            <a:off x="365760" y="3822192"/>
            <a:ext cx="1353312"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rPr>
              <a:t>Round 3</a:t>
            </a:r>
            <a:endParaRPr lang="en-US" sz="1000" dirty="0"/>
          </a:p>
        </p:txBody>
      </p:sp>
      <p:sp>
        <p:nvSpPr>
          <p:cNvPr id="28" name="Text 26"/>
          <p:cNvSpPr/>
          <p:nvPr/>
        </p:nvSpPr>
        <p:spPr>
          <a:xfrm>
            <a:off x="365760" y="4114800"/>
            <a:ext cx="1353312" cy="292608"/>
          </a:xfrm>
          <a:prstGeom prst="rect">
            <a:avLst/>
          </a:prstGeom>
          <a:noFill/>
          <a:ln/>
        </p:spPr>
        <p:txBody>
          <a:bodyPr wrap="square" lIns="0" tIns="0" rIns="0" bIns="0" rtlCol="0" anchor="ctr"/>
          <a:lstStyle/>
          <a:p>
            <a:pPr algn="ctr" indent="0" marL="0">
              <a:buNone/>
            </a:pPr>
            <a:r>
              <a:rPr lang="en-US" sz="1300" b="1" dirty="0">
                <a:solidFill>
                  <a:srgbClr val="FFFFFF"/>
                </a:solidFill>
              </a:rPr>
              <a:t>Expand the Winner</a:t>
            </a:r>
            <a:endParaRPr lang="en-US" sz="1300" dirty="0"/>
          </a:p>
        </p:txBody>
      </p:sp>
      <p:sp>
        <p:nvSpPr>
          <p:cNvPr id="29" name="Shape 27"/>
          <p:cNvSpPr/>
          <p:nvPr/>
        </p:nvSpPr>
        <p:spPr>
          <a:xfrm>
            <a:off x="1737360" y="3803904"/>
            <a:ext cx="0" cy="896112"/>
          </a:xfrm>
          <a:prstGeom prst="line">
            <a:avLst/>
          </a:prstGeom>
          <a:noFill/>
          <a:ln w="6350">
            <a:solidFill>
              <a:srgbClr val="E2E8F0"/>
            </a:solidFill>
            <a:prstDash val="solid"/>
          </a:ln>
        </p:spPr>
      </p:sp>
      <p:sp>
        <p:nvSpPr>
          <p:cNvPr id="30" name="Text 28"/>
          <p:cNvSpPr/>
          <p:nvPr/>
        </p:nvSpPr>
        <p:spPr>
          <a:xfrm>
            <a:off x="1865376" y="3785616"/>
            <a:ext cx="4069080" cy="822960"/>
          </a:xfrm>
          <a:prstGeom prst="rect">
            <a:avLst/>
          </a:prstGeom>
          <a:noFill/>
          <a:ln/>
        </p:spPr>
        <p:txBody>
          <a:bodyPr wrap="square" lIns="0" tIns="0" rIns="0" bIns="0" rtlCol="0" anchor="ctr"/>
          <a:lstStyle/>
          <a:p>
            <a:pPr indent="0" marL="0">
              <a:buNone/>
            </a:pPr>
            <a:r>
              <a:rPr lang="en-US" sz="1000" i="1" dirty="0">
                <a:solidFill>
                  <a:srgbClr val="0F172A"/>
                </a:solidFill>
              </a:rPr>
              <a:t>"I will go with daily sketching. Give me a simple step-by-step plan to start this week with zero supplies."</a:t>
            </a:r>
            <a:endParaRPr lang="en-US" sz="1000" dirty="0"/>
          </a:p>
        </p:txBody>
      </p:sp>
      <p:sp>
        <p:nvSpPr>
          <p:cNvPr id="31" name="Shape 29"/>
          <p:cNvSpPr/>
          <p:nvPr/>
        </p:nvSpPr>
        <p:spPr>
          <a:xfrm>
            <a:off x="5961888" y="3803904"/>
            <a:ext cx="0" cy="896112"/>
          </a:xfrm>
          <a:prstGeom prst="line">
            <a:avLst/>
          </a:prstGeom>
          <a:noFill/>
          <a:ln w="6350">
            <a:solidFill>
              <a:srgbClr val="E2E8F0"/>
            </a:solidFill>
            <a:prstDash val="solid"/>
          </a:ln>
        </p:spPr>
      </p:sp>
      <p:sp>
        <p:nvSpPr>
          <p:cNvPr id="32" name="Text 30"/>
          <p:cNvSpPr/>
          <p:nvPr/>
        </p:nvSpPr>
        <p:spPr>
          <a:xfrm>
            <a:off x="6080760" y="3785616"/>
            <a:ext cx="2468880" cy="228600"/>
          </a:xfrm>
          <a:prstGeom prst="rect">
            <a:avLst/>
          </a:prstGeom>
          <a:noFill/>
          <a:ln/>
        </p:spPr>
        <p:txBody>
          <a:bodyPr wrap="square" lIns="0" tIns="0" rIns="0" bIns="0" rtlCol="0" anchor="ctr"/>
          <a:lstStyle/>
          <a:p>
            <a:pPr indent="0" marL="0">
              <a:buNone/>
            </a:pPr>
            <a:r>
              <a:rPr lang="en-US" sz="850" b="1" dirty="0">
                <a:solidFill>
                  <a:srgbClr val="059669"/>
                </a:solidFill>
              </a:rPr>
              <a:t>WHY:</a:t>
            </a:r>
            <a:endParaRPr lang="en-US" sz="850" dirty="0"/>
          </a:p>
        </p:txBody>
      </p:sp>
      <p:sp>
        <p:nvSpPr>
          <p:cNvPr id="33" name="Text 31"/>
          <p:cNvSpPr/>
          <p:nvPr/>
        </p:nvSpPr>
        <p:spPr>
          <a:xfrm>
            <a:off x="6080760" y="4014216"/>
            <a:ext cx="2468880" cy="658368"/>
          </a:xfrm>
          <a:prstGeom prst="rect">
            <a:avLst/>
          </a:prstGeom>
          <a:noFill/>
          <a:ln/>
        </p:spPr>
        <p:txBody>
          <a:bodyPr wrap="square" lIns="0" tIns="0" rIns="0" bIns="0" rtlCol="0" anchor="ctr"/>
          <a:lstStyle/>
          <a:p>
            <a:pPr indent="0" marL="0">
              <a:buNone/>
            </a:pPr>
            <a:r>
              <a:rPr lang="en-US" sz="950" dirty="0">
                <a:solidFill>
                  <a:srgbClr val="475569"/>
                </a:solidFill>
              </a:rPr>
              <a:t>Now you go deep on the one that fits. The final plan is personalised and immediately usable.</a:t>
            </a:r>
            <a:endParaRPr lang="en-US" sz="950" dirty="0"/>
          </a:p>
        </p:txBody>
      </p:sp>
      <p:sp>
        <p:nvSpPr>
          <p:cNvPr id="34" name="Shape 32"/>
          <p:cNvSpPr/>
          <p:nvPr/>
        </p:nvSpPr>
        <p:spPr>
          <a:xfrm>
            <a:off x="365760" y="4919472"/>
            <a:ext cx="8412480" cy="0"/>
          </a:xfrm>
          <a:prstGeom prst="roundRect">
            <a:avLst>
              <a:gd name="adj" fmla="val Infinity"/>
            </a:avLst>
          </a:prstGeom>
          <a:solidFill>
            <a:srgbClr val="FFFBEB"/>
          </a:solidFill>
          <a:ln w="6350">
            <a:solidFill>
              <a:srgbClr val="E2E8F0"/>
            </a:solidFill>
            <a:prstDash val="solid"/>
          </a:ln>
        </p:spPr>
      </p:sp>
      <p:sp>
        <p:nvSpPr>
          <p:cNvPr id="35" name="Shape 33"/>
          <p:cNvSpPr/>
          <p:nvPr/>
        </p:nvSpPr>
        <p:spPr>
          <a:xfrm>
            <a:off x="365760" y="4882896"/>
            <a:ext cx="8412480" cy="0"/>
          </a:xfrm>
          <a:prstGeom prst="line">
            <a:avLst/>
          </a:prstGeom>
          <a:noFill/>
          <a:ln w="6350">
            <a:solidFill>
              <a:srgbClr val="E2E8F0"/>
            </a:solidFill>
            <a:prstDash val="solid"/>
          </a:ln>
        </p:spPr>
      </p:sp>
      <p:sp>
        <p:nvSpPr>
          <p:cNvPr id="36" name="Text 34"/>
          <p:cNvSpPr/>
          <p:nvPr/>
        </p:nvSpPr>
        <p:spPr>
          <a:xfrm>
            <a:off x="548640" y="4754880"/>
            <a:ext cx="8046720" cy="320040"/>
          </a:xfrm>
          <a:prstGeom prst="rect">
            <a:avLst/>
          </a:prstGeom>
          <a:noFill/>
          <a:ln/>
        </p:spPr>
        <p:txBody>
          <a:bodyPr wrap="square" lIns="0" tIns="0" rIns="0" bIns="0" rtlCol="0" anchor="ctr"/>
          <a:lstStyle/>
          <a:p>
            <a:pPr indent="0" marL="0">
              <a:buNone/>
            </a:pPr>
            <a:r>
              <a:rPr lang="en-US" sz="1100" b="1" i="1" dirty="0">
                <a:solidFill>
                  <a:srgbClr val="D97706"/>
                </a:solidFill>
              </a:rPr>
              <a:t>KEY: The hobby I picked in this example (daily sketching) did NOT appear in Round 1. It only emerged after one feedback round. Always iterate.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475488"/>
          </a:xfrm>
          <a:prstGeom prst="rect">
            <a:avLst/>
          </a:prstGeom>
          <a:noFill/>
          <a:ln/>
        </p:spPr>
        <p:txBody>
          <a:bodyPr wrap="square" lIns="0" tIns="0" rIns="0" bIns="0" rtlCol="0" anchor="ctr"/>
          <a:lstStyle/>
          <a:p>
            <a:pPr indent="0" marL="0">
              <a:buNone/>
            </a:pPr>
            <a:r>
              <a:rPr lang="en-US" sz="2400" b="1" dirty="0">
                <a:solidFill>
                  <a:srgbClr val="0F172A"/>
                </a:solidFill>
              </a:rPr>
              <a:t>Part 3: Beyond Text — Concepts 8, 9, 10</a:t>
            </a:r>
            <a:endParaRPr lang="en-US" sz="2400" dirty="0"/>
          </a:p>
        </p:txBody>
      </p:sp>
      <p:sp>
        <p:nvSpPr>
          <p:cNvPr id="3" name="Text 1"/>
          <p:cNvSpPr/>
          <p:nvPr/>
        </p:nvSpPr>
        <p:spPr>
          <a:xfrm>
            <a:off x="457200" y="768096"/>
            <a:ext cx="8229600" cy="310896"/>
          </a:xfrm>
          <a:prstGeom prst="rect">
            <a:avLst/>
          </a:prstGeom>
          <a:noFill/>
          <a:ln/>
        </p:spPr>
        <p:txBody>
          <a:bodyPr wrap="square" lIns="0" tIns="0" rIns="0" bIns="0" rtlCol="0" anchor="ctr"/>
          <a:lstStyle/>
          <a:p>
            <a:pPr indent="0" marL="0">
              <a:buNone/>
            </a:pPr>
            <a:r>
              <a:rPr lang="en-US" sz="1300" dirty="0">
                <a:solidFill>
                  <a:srgbClr val="475569"/>
                </a:solidFill>
              </a:rPr>
              <a:t>AI is not just a text chatbot. Here is what else it can do.</a:t>
            </a:r>
            <a:endParaRPr lang="en-US" sz="1300" dirty="0"/>
          </a:p>
        </p:txBody>
      </p:sp>
      <p:sp>
        <p:nvSpPr>
          <p:cNvPr id="4" name="Shape 2"/>
          <p:cNvSpPr/>
          <p:nvPr/>
        </p:nvSpPr>
        <p:spPr>
          <a:xfrm>
            <a:off x="457200" y="1097280"/>
            <a:ext cx="8229600" cy="0"/>
          </a:xfrm>
          <a:prstGeom prst="line">
            <a:avLst/>
          </a:prstGeom>
          <a:noFill/>
          <a:ln w="6350">
            <a:solidFill>
              <a:srgbClr val="E2E8F0"/>
            </a:solidFill>
            <a:prstDash val="solid"/>
          </a:ln>
        </p:spPr>
      </p:sp>
      <p:sp>
        <p:nvSpPr>
          <p:cNvPr id="5" name="Shape 3"/>
          <p:cNvSpPr/>
          <p:nvPr/>
        </p:nvSpPr>
        <p:spPr>
          <a:xfrm>
            <a:off x="347472" y="1207008"/>
            <a:ext cx="2724912" cy="3657600"/>
          </a:xfrm>
          <a:prstGeom prst="roundRect">
            <a:avLst>
              <a:gd name="adj" fmla="val 4027"/>
            </a:avLst>
          </a:prstGeom>
          <a:solidFill>
            <a:srgbClr val="F5F3FF"/>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6" name="Shape 4"/>
          <p:cNvSpPr/>
          <p:nvPr/>
        </p:nvSpPr>
        <p:spPr>
          <a:xfrm>
            <a:off x="347472" y="1207008"/>
            <a:ext cx="2724912" cy="475488"/>
          </a:xfrm>
          <a:prstGeom prst="roundRect">
            <a:avLst>
              <a:gd name="adj" fmla="val 23077"/>
            </a:avLst>
          </a:prstGeom>
          <a:solidFill>
            <a:srgbClr val="7C3AED"/>
          </a:solidFill>
          <a:ln w="12700">
            <a:solidFill>
              <a:srgbClr val="7C3AED"/>
            </a:solidFill>
            <a:prstDash val="solid"/>
          </a:ln>
        </p:spPr>
      </p:sp>
      <p:sp>
        <p:nvSpPr>
          <p:cNvPr id="7" name="Text 5"/>
          <p:cNvSpPr/>
          <p:nvPr/>
        </p:nvSpPr>
        <p:spPr>
          <a:xfrm>
            <a:off x="347472" y="1207008"/>
            <a:ext cx="2724912" cy="475488"/>
          </a:xfrm>
          <a:prstGeom prst="rect">
            <a:avLst/>
          </a:prstGeom>
          <a:noFill/>
          <a:ln/>
        </p:spPr>
        <p:txBody>
          <a:bodyPr wrap="square" lIns="0" tIns="0" rIns="0" bIns="0" rtlCol="0" anchor="ctr"/>
          <a:lstStyle/>
          <a:p>
            <a:pPr algn="ctr" indent="0" marL="0">
              <a:buNone/>
            </a:pPr>
            <a:r>
              <a:rPr lang="en-US" sz="1100" b="1" dirty="0">
                <a:solidFill>
                  <a:srgbClr val="FFFFFF"/>
                </a:solidFill>
              </a:rPr>
              <a:t>8 — Multimodal</a:t>
            </a:r>
            <a:endParaRPr lang="en-US" sz="1100" dirty="0"/>
          </a:p>
          <a:p>
            <a:pPr algn="ctr" indent="0" marL="0">
              <a:buNone/>
            </a:pPr>
            <a:r>
              <a:rPr lang="en-US" sz="1100" b="1" dirty="0">
                <a:solidFill>
                  <a:srgbClr val="FFFFFF"/>
                </a:solidFill>
              </a:rPr>
              <a:t>(Images &amp; Files)</a:t>
            </a:r>
            <a:endParaRPr lang="en-US" sz="1100" dirty="0"/>
          </a:p>
        </p:txBody>
      </p:sp>
      <p:sp>
        <p:nvSpPr>
          <p:cNvPr id="8" name="Text 6"/>
          <p:cNvSpPr/>
          <p:nvPr/>
        </p:nvSpPr>
        <p:spPr>
          <a:xfrm>
            <a:off x="457200" y="1792224"/>
            <a:ext cx="2505456" cy="237744"/>
          </a:xfrm>
          <a:prstGeom prst="rect">
            <a:avLst/>
          </a:prstGeom>
          <a:noFill/>
          <a:ln/>
        </p:spPr>
        <p:txBody>
          <a:bodyPr wrap="square" lIns="0" tIns="0" rIns="0" bIns="0" rtlCol="0" anchor="ctr"/>
          <a:lstStyle/>
          <a:p>
            <a:pPr indent="0" marL="0">
              <a:buNone/>
            </a:pPr>
            <a:r>
              <a:rPr lang="en-US" sz="900" b="1" dirty="0">
                <a:solidFill>
                  <a:srgbClr val="7C3AED"/>
                </a:solidFill>
              </a:rPr>
              <a:t>What it does:</a:t>
            </a:r>
            <a:endParaRPr lang="en-US" sz="900" dirty="0"/>
          </a:p>
        </p:txBody>
      </p:sp>
      <p:sp>
        <p:nvSpPr>
          <p:cNvPr id="9" name="Text 7"/>
          <p:cNvSpPr/>
          <p:nvPr/>
        </p:nvSpPr>
        <p:spPr>
          <a:xfrm>
            <a:off x="457200" y="2029968"/>
            <a:ext cx="2505456" cy="658368"/>
          </a:xfrm>
          <a:prstGeom prst="rect">
            <a:avLst/>
          </a:prstGeom>
          <a:noFill/>
          <a:ln/>
        </p:spPr>
        <p:txBody>
          <a:bodyPr wrap="square" lIns="0" tIns="0" rIns="0" bIns="0" rtlCol="0" anchor="ctr"/>
          <a:lstStyle/>
          <a:p>
            <a:pPr indent="0" marL="0">
              <a:buNone/>
            </a:pPr>
            <a:r>
              <a:rPr lang="en-US" sz="1000" dirty="0">
                <a:solidFill>
                  <a:srgbClr val="475569"/>
                </a:solidFill>
              </a:rPr>
              <a:t>You can upload a photo, PDF, spreadsheet, or voice memo and ask questions about it.</a:t>
            </a:r>
            <a:endParaRPr lang="en-US" sz="1000" dirty="0"/>
          </a:p>
        </p:txBody>
      </p:sp>
      <p:sp>
        <p:nvSpPr>
          <p:cNvPr id="10" name="Shape 8"/>
          <p:cNvSpPr/>
          <p:nvPr/>
        </p:nvSpPr>
        <p:spPr>
          <a:xfrm>
            <a:off x="457200" y="2724912"/>
            <a:ext cx="2505456" cy="0"/>
          </a:xfrm>
          <a:prstGeom prst="line">
            <a:avLst/>
          </a:prstGeom>
          <a:noFill/>
          <a:ln w="6350">
            <a:solidFill>
              <a:srgbClr val="E2E8F0"/>
            </a:solidFill>
            <a:prstDash val="solid"/>
          </a:ln>
        </p:spPr>
      </p:sp>
      <p:sp>
        <p:nvSpPr>
          <p:cNvPr id="11" name="Text 9"/>
          <p:cNvSpPr/>
          <p:nvPr/>
        </p:nvSpPr>
        <p:spPr>
          <a:xfrm>
            <a:off x="457200" y="2798064"/>
            <a:ext cx="2505456" cy="228600"/>
          </a:xfrm>
          <a:prstGeom prst="rect">
            <a:avLst/>
          </a:prstGeom>
          <a:noFill/>
          <a:ln/>
        </p:spPr>
        <p:txBody>
          <a:bodyPr wrap="square" lIns="0" tIns="0" rIns="0" bIns="0" rtlCol="0" anchor="ctr"/>
          <a:lstStyle/>
          <a:p>
            <a:pPr indent="0" marL="0">
              <a:buNone/>
            </a:pPr>
            <a:r>
              <a:rPr lang="en-US" sz="900" b="1" dirty="0">
                <a:solidFill>
                  <a:srgbClr val="7C3AED"/>
                </a:solidFill>
              </a:rPr>
              <a:t>Example:</a:t>
            </a:r>
            <a:endParaRPr lang="en-US" sz="900" dirty="0"/>
          </a:p>
        </p:txBody>
      </p:sp>
      <p:sp>
        <p:nvSpPr>
          <p:cNvPr id="12" name="Text 10"/>
          <p:cNvSpPr/>
          <p:nvPr/>
        </p:nvSpPr>
        <p:spPr>
          <a:xfrm>
            <a:off x="457200" y="3017520"/>
            <a:ext cx="2505456" cy="1005840"/>
          </a:xfrm>
          <a:prstGeom prst="rect">
            <a:avLst/>
          </a:prstGeom>
          <a:noFill/>
          <a:ln/>
        </p:spPr>
        <p:txBody>
          <a:bodyPr wrap="square" lIns="0" tIns="0" rIns="0" bIns="0" rtlCol="0" anchor="ctr"/>
          <a:lstStyle/>
          <a:p>
            <a:pPr indent="0" marL="0">
              <a:buNone/>
            </a:pPr>
            <a:r>
              <a:rPr lang="en-US" sz="900" i="1" dirty="0">
                <a:solidFill>
                  <a:srgbClr val="0F172A"/>
                </a:solidFill>
              </a:rPr>
              <a:t>Upload a photo of your handwritten notes. Prompt: "Transcribe this. Keep the wording. Mark anything unclear as [unclear] and give 2 best guesses."</a:t>
            </a:r>
            <a:endParaRPr lang="en-US" sz="900" dirty="0"/>
          </a:p>
        </p:txBody>
      </p:sp>
      <p:sp>
        <p:nvSpPr>
          <p:cNvPr id="13" name="Shape 11"/>
          <p:cNvSpPr/>
          <p:nvPr/>
        </p:nvSpPr>
        <p:spPr>
          <a:xfrm>
            <a:off x="457200" y="4041648"/>
            <a:ext cx="2505456" cy="0"/>
          </a:xfrm>
          <a:prstGeom prst="line">
            <a:avLst/>
          </a:prstGeom>
          <a:noFill/>
          <a:ln w="6350">
            <a:solidFill>
              <a:srgbClr val="E2E8F0"/>
            </a:solidFill>
            <a:prstDash val="solid"/>
          </a:ln>
        </p:spPr>
      </p:sp>
      <p:sp>
        <p:nvSpPr>
          <p:cNvPr id="14" name="Text 12"/>
          <p:cNvSpPr/>
          <p:nvPr/>
        </p:nvSpPr>
        <p:spPr>
          <a:xfrm>
            <a:off x="457200" y="4114800"/>
            <a:ext cx="2505456" cy="640080"/>
          </a:xfrm>
          <a:prstGeom prst="rect">
            <a:avLst/>
          </a:prstGeom>
          <a:noFill/>
          <a:ln/>
        </p:spPr>
        <p:txBody>
          <a:bodyPr wrap="square" lIns="0" tIns="0" rIns="0" bIns="0" rtlCol="0" anchor="ctr"/>
          <a:lstStyle/>
          <a:p>
            <a:pPr indent="0" marL="0">
              <a:buNone/>
            </a:pPr>
            <a:r>
              <a:rPr lang="en-US" sz="950" b="1" dirty="0">
                <a:solidFill>
                  <a:srgbClr val="7C3AED"/>
                </a:solidFill>
              </a:rPr>
              <a:t>AI reads the boring 90%. You verify the 10% it flags. Always check totals and numbers.</a:t>
            </a:r>
            <a:endParaRPr lang="en-US" sz="950" dirty="0"/>
          </a:p>
        </p:txBody>
      </p:sp>
      <p:sp>
        <p:nvSpPr>
          <p:cNvPr id="15" name="Shape 13"/>
          <p:cNvSpPr/>
          <p:nvPr/>
        </p:nvSpPr>
        <p:spPr>
          <a:xfrm>
            <a:off x="3227832" y="1207008"/>
            <a:ext cx="2724912" cy="3657600"/>
          </a:xfrm>
          <a:prstGeom prst="roundRect">
            <a:avLst>
              <a:gd name="adj" fmla="val 4027"/>
            </a:avLst>
          </a:prstGeom>
          <a:solidFill>
            <a:srgbClr val="EFF6FF"/>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16" name="Shape 14"/>
          <p:cNvSpPr/>
          <p:nvPr/>
        </p:nvSpPr>
        <p:spPr>
          <a:xfrm>
            <a:off x="3227832" y="1207008"/>
            <a:ext cx="2724912" cy="475488"/>
          </a:xfrm>
          <a:prstGeom prst="roundRect">
            <a:avLst>
              <a:gd name="adj" fmla="val 23077"/>
            </a:avLst>
          </a:prstGeom>
          <a:solidFill>
            <a:srgbClr val="2563EB"/>
          </a:solidFill>
          <a:ln w="12700">
            <a:solidFill>
              <a:srgbClr val="2563EB"/>
            </a:solidFill>
            <a:prstDash val="solid"/>
          </a:ln>
        </p:spPr>
      </p:sp>
      <p:sp>
        <p:nvSpPr>
          <p:cNvPr id="17" name="Text 15"/>
          <p:cNvSpPr/>
          <p:nvPr/>
        </p:nvSpPr>
        <p:spPr>
          <a:xfrm>
            <a:off x="3227832" y="1207008"/>
            <a:ext cx="2724912" cy="475488"/>
          </a:xfrm>
          <a:prstGeom prst="rect">
            <a:avLst/>
          </a:prstGeom>
          <a:noFill/>
          <a:ln/>
        </p:spPr>
        <p:txBody>
          <a:bodyPr wrap="square" lIns="0" tIns="0" rIns="0" bIns="0" rtlCol="0" anchor="ctr"/>
          <a:lstStyle/>
          <a:p>
            <a:pPr algn="ctr" indent="0" marL="0">
              <a:buNone/>
            </a:pPr>
            <a:r>
              <a:rPr lang="en-US" sz="1100" b="1" dirty="0">
                <a:solidFill>
                  <a:srgbClr val="FFFFFF"/>
                </a:solidFill>
              </a:rPr>
              <a:t>9 — Build a Small App</a:t>
            </a:r>
            <a:endParaRPr lang="en-US" sz="1100" dirty="0"/>
          </a:p>
          <a:p>
            <a:pPr algn="ctr" indent="0" marL="0">
              <a:buNone/>
            </a:pPr>
            <a:r>
              <a:rPr lang="en-US" sz="1100" b="1" dirty="0">
                <a:solidFill>
                  <a:srgbClr val="FFFFFF"/>
                </a:solidFill>
              </a:rPr>
              <a:t>(No Coding Needed)</a:t>
            </a:r>
            <a:endParaRPr lang="en-US" sz="1100" dirty="0"/>
          </a:p>
        </p:txBody>
      </p:sp>
      <p:sp>
        <p:nvSpPr>
          <p:cNvPr id="18" name="Text 16"/>
          <p:cNvSpPr/>
          <p:nvPr/>
        </p:nvSpPr>
        <p:spPr>
          <a:xfrm>
            <a:off x="3337560" y="1792224"/>
            <a:ext cx="2505456" cy="237744"/>
          </a:xfrm>
          <a:prstGeom prst="rect">
            <a:avLst/>
          </a:prstGeom>
          <a:noFill/>
          <a:ln/>
        </p:spPr>
        <p:txBody>
          <a:bodyPr wrap="square" lIns="0" tIns="0" rIns="0" bIns="0" rtlCol="0" anchor="ctr"/>
          <a:lstStyle/>
          <a:p>
            <a:pPr indent="0" marL="0">
              <a:buNone/>
            </a:pPr>
            <a:r>
              <a:rPr lang="en-US" sz="900" b="1" dirty="0">
                <a:solidFill>
                  <a:srgbClr val="2563EB"/>
                </a:solidFill>
              </a:rPr>
              <a:t>What it does:</a:t>
            </a:r>
            <a:endParaRPr lang="en-US" sz="900" dirty="0"/>
          </a:p>
        </p:txBody>
      </p:sp>
      <p:sp>
        <p:nvSpPr>
          <p:cNvPr id="19" name="Text 17"/>
          <p:cNvSpPr/>
          <p:nvPr/>
        </p:nvSpPr>
        <p:spPr>
          <a:xfrm>
            <a:off x="3337560" y="2029968"/>
            <a:ext cx="2505456" cy="658368"/>
          </a:xfrm>
          <a:prstGeom prst="rect">
            <a:avLst/>
          </a:prstGeom>
          <a:noFill/>
          <a:ln/>
        </p:spPr>
        <p:txBody>
          <a:bodyPr wrap="square" lIns="0" tIns="0" rIns="0" bIns="0" rtlCol="0" anchor="ctr"/>
          <a:lstStyle/>
          <a:p>
            <a:pPr indent="0" marL="0">
              <a:buNone/>
            </a:pPr>
            <a:r>
              <a:rPr lang="en-US" sz="1000" dirty="0">
                <a:solidFill>
                  <a:srgbClr val="475569"/>
                </a:solidFill>
              </a:rPr>
              <a:t>Use the Goal / Input / Output template. Claude's Artifacts panel builds a real working tool in your browser.</a:t>
            </a:r>
            <a:endParaRPr lang="en-US" sz="1000" dirty="0"/>
          </a:p>
        </p:txBody>
      </p:sp>
      <p:sp>
        <p:nvSpPr>
          <p:cNvPr id="20" name="Shape 18"/>
          <p:cNvSpPr/>
          <p:nvPr/>
        </p:nvSpPr>
        <p:spPr>
          <a:xfrm>
            <a:off x="3337560" y="2724912"/>
            <a:ext cx="2505456" cy="0"/>
          </a:xfrm>
          <a:prstGeom prst="line">
            <a:avLst/>
          </a:prstGeom>
          <a:noFill/>
          <a:ln w="6350">
            <a:solidFill>
              <a:srgbClr val="E2E8F0"/>
            </a:solidFill>
            <a:prstDash val="solid"/>
          </a:ln>
        </p:spPr>
      </p:sp>
      <p:sp>
        <p:nvSpPr>
          <p:cNvPr id="21" name="Text 19"/>
          <p:cNvSpPr/>
          <p:nvPr/>
        </p:nvSpPr>
        <p:spPr>
          <a:xfrm>
            <a:off x="3337560" y="2798064"/>
            <a:ext cx="2505456" cy="228600"/>
          </a:xfrm>
          <a:prstGeom prst="rect">
            <a:avLst/>
          </a:prstGeom>
          <a:noFill/>
          <a:ln/>
        </p:spPr>
        <p:txBody>
          <a:bodyPr wrap="square" lIns="0" tIns="0" rIns="0" bIns="0" rtlCol="0" anchor="ctr"/>
          <a:lstStyle/>
          <a:p>
            <a:pPr indent="0" marL="0">
              <a:buNone/>
            </a:pPr>
            <a:r>
              <a:rPr lang="en-US" sz="900" b="1" dirty="0">
                <a:solidFill>
                  <a:srgbClr val="2563EB"/>
                </a:solidFill>
              </a:rPr>
              <a:t>Example:</a:t>
            </a:r>
            <a:endParaRPr lang="en-US" sz="900" dirty="0"/>
          </a:p>
        </p:txBody>
      </p:sp>
      <p:sp>
        <p:nvSpPr>
          <p:cNvPr id="22" name="Text 20"/>
          <p:cNvSpPr/>
          <p:nvPr/>
        </p:nvSpPr>
        <p:spPr>
          <a:xfrm>
            <a:off x="3337560" y="3017520"/>
            <a:ext cx="2505456" cy="1005840"/>
          </a:xfrm>
          <a:prstGeom prst="rect">
            <a:avLst/>
          </a:prstGeom>
          <a:noFill/>
          <a:ln/>
        </p:spPr>
        <p:txBody>
          <a:bodyPr wrap="square" lIns="0" tIns="0" rIns="0" bIns="0" rtlCol="0" anchor="ctr"/>
          <a:lstStyle/>
          <a:p>
            <a:pPr indent="0" marL="0">
              <a:buNone/>
            </a:pPr>
            <a:r>
              <a:rPr lang="en-US" sz="900" i="1" dirty="0">
                <a:solidFill>
                  <a:srgbClr val="0F172A"/>
                </a:solidFill>
              </a:rPr>
              <a:t>"Build me a tip calculator. Goal: split a bill. Input: I type total + tip % + number of people. Output: show tip amount and each person's share."</a:t>
            </a:r>
            <a:endParaRPr lang="en-US" sz="900" dirty="0"/>
          </a:p>
        </p:txBody>
      </p:sp>
      <p:sp>
        <p:nvSpPr>
          <p:cNvPr id="23" name="Shape 21"/>
          <p:cNvSpPr/>
          <p:nvPr/>
        </p:nvSpPr>
        <p:spPr>
          <a:xfrm>
            <a:off x="3337560" y="4041648"/>
            <a:ext cx="2505456" cy="0"/>
          </a:xfrm>
          <a:prstGeom prst="line">
            <a:avLst/>
          </a:prstGeom>
          <a:noFill/>
          <a:ln w="6350">
            <a:solidFill>
              <a:srgbClr val="E2E8F0"/>
            </a:solidFill>
            <a:prstDash val="solid"/>
          </a:ln>
        </p:spPr>
      </p:sp>
      <p:sp>
        <p:nvSpPr>
          <p:cNvPr id="24" name="Text 22"/>
          <p:cNvSpPr/>
          <p:nvPr/>
        </p:nvSpPr>
        <p:spPr>
          <a:xfrm>
            <a:off x="3337560" y="4114800"/>
            <a:ext cx="2505456" cy="640080"/>
          </a:xfrm>
          <a:prstGeom prst="rect">
            <a:avLst/>
          </a:prstGeom>
          <a:noFill/>
          <a:ln/>
        </p:spPr>
        <p:txBody>
          <a:bodyPr wrap="square" lIns="0" tIns="0" rIns="0" bIns="0" rtlCol="0" anchor="ctr"/>
          <a:lstStyle/>
          <a:p>
            <a:pPr indent="0" marL="0">
              <a:buNone/>
            </a:pPr>
            <a:r>
              <a:rPr lang="en-US" sz="950" b="1" dirty="0">
                <a:solidFill>
                  <a:srgbClr val="2563EB"/>
                </a:solidFill>
              </a:rPr>
              <a:t>The skill is NOT coding. It is writing a clear brief. Then say: Make the buttons bigger. Change the colour. Add a reset. It updates in place.</a:t>
            </a:r>
            <a:endParaRPr lang="en-US" sz="950" dirty="0"/>
          </a:p>
        </p:txBody>
      </p:sp>
      <p:sp>
        <p:nvSpPr>
          <p:cNvPr id="25" name="Shape 23"/>
          <p:cNvSpPr/>
          <p:nvPr/>
        </p:nvSpPr>
        <p:spPr>
          <a:xfrm>
            <a:off x="6108192" y="1207008"/>
            <a:ext cx="2724912" cy="3657600"/>
          </a:xfrm>
          <a:prstGeom prst="roundRect">
            <a:avLst>
              <a:gd name="adj" fmla="val 4027"/>
            </a:avLst>
          </a:prstGeom>
          <a:solidFill>
            <a:srgbClr val="ECFDF5"/>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26" name="Shape 24"/>
          <p:cNvSpPr/>
          <p:nvPr/>
        </p:nvSpPr>
        <p:spPr>
          <a:xfrm>
            <a:off x="6108192" y="1207008"/>
            <a:ext cx="2724912" cy="475488"/>
          </a:xfrm>
          <a:prstGeom prst="roundRect">
            <a:avLst>
              <a:gd name="adj" fmla="val 23077"/>
            </a:avLst>
          </a:prstGeom>
          <a:solidFill>
            <a:srgbClr val="059669"/>
          </a:solidFill>
          <a:ln w="12700">
            <a:solidFill>
              <a:srgbClr val="059669"/>
            </a:solidFill>
            <a:prstDash val="solid"/>
          </a:ln>
        </p:spPr>
      </p:sp>
      <p:sp>
        <p:nvSpPr>
          <p:cNvPr id="27" name="Text 25"/>
          <p:cNvSpPr/>
          <p:nvPr/>
        </p:nvSpPr>
        <p:spPr>
          <a:xfrm>
            <a:off x="6108192" y="1207008"/>
            <a:ext cx="2724912" cy="475488"/>
          </a:xfrm>
          <a:prstGeom prst="rect">
            <a:avLst/>
          </a:prstGeom>
          <a:noFill/>
          <a:ln/>
        </p:spPr>
        <p:txBody>
          <a:bodyPr wrap="square" lIns="0" tIns="0" rIns="0" bIns="0" rtlCol="0" anchor="ctr"/>
          <a:lstStyle/>
          <a:p>
            <a:pPr algn="ctr" indent="0" marL="0">
              <a:buNone/>
            </a:pPr>
            <a:r>
              <a:rPr lang="en-US" sz="1100" b="1" dirty="0">
                <a:solidFill>
                  <a:srgbClr val="FFFFFF"/>
                </a:solidFill>
              </a:rPr>
              <a:t>10 — Data Analysis</a:t>
            </a:r>
            <a:endParaRPr lang="en-US" sz="1100" dirty="0"/>
          </a:p>
          <a:p>
            <a:pPr algn="ctr" indent="0" marL="0">
              <a:buNone/>
            </a:pPr>
            <a:r>
              <a:rPr lang="en-US" sz="1100" b="1" dirty="0">
                <a:solidFill>
                  <a:srgbClr val="FFFFFF"/>
                </a:solidFill>
              </a:rPr>
              <a:t>(Force the Code)</a:t>
            </a:r>
            <a:endParaRPr lang="en-US" sz="1100" dirty="0"/>
          </a:p>
        </p:txBody>
      </p:sp>
      <p:sp>
        <p:nvSpPr>
          <p:cNvPr id="28" name="Text 26"/>
          <p:cNvSpPr/>
          <p:nvPr/>
        </p:nvSpPr>
        <p:spPr>
          <a:xfrm>
            <a:off x="6217920" y="1792224"/>
            <a:ext cx="2505456" cy="237744"/>
          </a:xfrm>
          <a:prstGeom prst="rect">
            <a:avLst/>
          </a:prstGeom>
          <a:noFill/>
          <a:ln/>
        </p:spPr>
        <p:txBody>
          <a:bodyPr wrap="square" lIns="0" tIns="0" rIns="0" bIns="0" rtlCol="0" anchor="ctr"/>
          <a:lstStyle/>
          <a:p>
            <a:pPr indent="0" marL="0">
              <a:buNone/>
            </a:pPr>
            <a:r>
              <a:rPr lang="en-US" sz="900" b="1" dirty="0">
                <a:solidFill>
                  <a:srgbClr val="059669"/>
                </a:solidFill>
              </a:rPr>
              <a:t>What it does:</a:t>
            </a:r>
            <a:endParaRPr lang="en-US" sz="900" dirty="0"/>
          </a:p>
        </p:txBody>
      </p:sp>
      <p:sp>
        <p:nvSpPr>
          <p:cNvPr id="29" name="Text 27"/>
          <p:cNvSpPr/>
          <p:nvPr/>
        </p:nvSpPr>
        <p:spPr>
          <a:xfrm>
            <a:off x="6217920" y="2029968"/>
            <a:ext cx="2505456" cy="658368"/>
          </a:xfrm>
          <a:prstGeom prst="rect">
            <a:avLst/>
          </a:prstGeom>
          <a:noFill/>
          <a:ln/>
        </p:spPr>
        <p:txBody>
          <a:bodyPr wrap="square" lIns="0" tIns="0" rIns="0" bIns="0" rtlCol="0" anchor="ctr"/>
          <a:lstStyle/>
          <a:p>
            <a:pPr indent="0" marL="0">
              <a:buNone/>
            </a:pPr>
            <a:r>
              <a:rPr lang="en-US" sz="1000" dirty="0">
                <a:solidFill>
                  <a:srgbClr val="475569"/>
                </a:solidFill>
              </a:rPr>
              <a:t>Without asking for code, AI estimates numbers and can give wrong answers confidently. Force it to actually calculate.</a:t>
            </a:r>
            <a:endParaRPr lang="en-US" sz="1000" dirty="0"/>
          </a:p>
        </p:txBody>
      </p:sp>
      <p:sp>
        <p:nvSpPr>
          <p:cNvPr id="30" name="Shape 28"/>
          <p:cNvSpPr/>
          <p:nvPr/>
        </p:nvSpPr>
        <p:spPr>
          <a:xfrm>
            <a:off x="6217920" y="2724912"/>
            <a:ext cx="2505456" cy="0"/>
          </a:xfrm>
          <a:prstGeom prst="line">
            <a:avLst/>
          </a:prstGeom>
          <a:noFill/>
          <a:ln w="6350">
            <a:solidFill>
              <a:srgbClr val="E2E8F0"/>
            </a:solidFill>
            <a:prstDash val="solid"/>
          </a:ln>
        </p:spPr>
      </p:sp>
      <p:sp>
        <p:nvSpPr>
          <p:cNvPr id="31" name="Text 29"/>
          <p:cNvSpPr/>
          <p:nvPr/>
        </p:nvSpPr>
        <p:spPr>
          <a:xfrm>
            <a:off x="6217920" y="2798064"/>
            <a:ext cx="2505456" cy="228600"/>
          </a:xfrm>
          <a:prstGeom prst="rect">
            <a:avLst/>
          </a:prstGeom>
          <a:noFill/>
          <a:ln/>
        </p:spPr>
        <p:txBody>
          <a:bodyPr wrap="square" lIns="0" tIns="0" rIns="0" bIns="0" rtlCol="0" anchor="ctr"/>
          <a:lstStyle/>
          <a:p>
            <a:pPr indent="0" marL="0">
              <a:buNone/>
            </a:pPr>
            <a:r>
              <a:rPr lang="en-US" sz="900" b="1" dirty="0">
                <a:solidFill>
                  <a:srgbClr val="059669"/>
                </a:solidFill>
              </a:rPr>
              <a:t>Example:</a:t>
            </a:r>
            <a:endParaRPr lang="en-US" sz="900" dirty="0"/>
          </a:p>
        </p:txBody>
      </p:sp>
      <p:sp>
        <p:nvSpPr>
          <p:cNvPr id="32" name="Text 30"/>
          <p:cNvSpPr/>
          <p:nvPr/>
        </p:nvSpPr>
        <p:spPr>
          <a:xfrm>
            <a:off x="6217920" y="3017520"/>
            <a:ext cx="2505456" cy="1005840"/>
          </a:xfrm>
          <a:prstGeom prst="rect">
            <a:avLst/>
          </a:prstGeom>
          <a:noFill/>
          <a:ln/>
        </p:spPr>
        <p:txBody>
          <a:bodyPr wrap="square" lIns="0" tIns="0" rIns="0" bIns="0" rtlCol="0" anchor="ctr"/>
          <a:lstStyle/>
          <a:p>
            <a:pPr indent="0" marL="0">
              <a:buNone/>
            </a:pPr>
            <a:r>
              <a:rPr lang="en-US" sz="900" i="1" dirty="0">
                <a:solidFill>
                  <a:srgbClr val="0F172A"/>
                </a:solidFill>
              </a:rPr>
              <a:t>"Here are 18 numbers: 47, 52, 89... What is the median and average?" — Then: "Now run that again — write and run code, show me the code you ran."</a:t>
            </a:r>
            <a:endParaRPr lang="en-US" sz="900" dirty="0"/>
          </a:p>
        </p:txBody>
      </p:sp>
      <p:sp>
        <p:nvSpPr>
          <p:cNvPr id="33" name="Shape 31"/>
          <p:cNvSpPr/>
          <p:nvPr/>
        </p:nvSpPr>
        <p:spPr>
          <a:xfrm>
            <a:off x="6217920" y="4041648"/>
            <a:ext cx="2505456" cy="0"/>
          </a:xfrm>
          <a:prstGeom prst="line">
            <a:avLst/>
          </a:prstGeom>
          <a:noFill/>
          <a:ln w="6350">
            <a:solidFill>
              <a:srgbClr val="E2E8F0"/>
            </a:solidFill>
            <a:prstDash val="solid"/>
          </a:ln>
        </p:spPr>
      </p:sp>
      <p:sp>
        <p:nvSpPr>
          <p:cNvPr id="34" name="Text 32"/>
          <p:cNvSpPr/>
          <p:nvPr/>
        </p:nvSpPr>
        <p:spPr>
          <a:xfrm>
            <a:off x="6217920" y="4114800"/>
            <a:ext cx="2505456" cy="640080"/>
          </a:xfrm>
          <a:prstGeom prst="rect">
            <a:avLst/>
          </a:prstGeom>
          <a:noFill/>
          <a:ln/>
        </p:spPr>
        <p:txBody>
          <a:bodyPr wrap="square" lIns="0" tIns="0" rIns="0" bIns="0" rtlCol="0" anchor="ctr"/>
          <a:lstStyle/>
          <a:p>
            <a:pPr indent="0" marL="0">
              <a:buNone/>
            </a:pPr>
            <a:r>
              <a:rPr lang="en-US" sz="950" b="1" dirty="0">
                <a:solidFill>
                  <a:srgbClr val="059669"/>
                </a:solidFill>
              </a:rPr>
              <a:t>Correct answers: median 65.5, average 61.6. If Round 1 was wrong, you just saw the silent failure mode. No code block = it guessed.</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475488"/>
          </a:xfrm>
          <a:prstGeom prst="rect">
            <a:avLst/>
          </a:prstGeom>
          <a:noFill/>
          <a:ln/>
        </p:spPr>
        <p:txBody>
          <a:bodyPr wrap="square" lIns="0" tIns="0" rIns="0" bIns="0" rtlCol="0" anchor="ctr"/>
          <a:lstStyle/>
          <a:p>
            <a:pPr indent="0" marL="0">
              <a:buNone/>
            </a:pPr>
            <a:r>
              <a:rPr lang="en-US" sz="2400" b="1" dirty="0">
                <a:solidFill>
                  <a:srgbClr val="0F172A"/>
                </a:solidFill>
              </a:rPr>
              <a:t>Part 4: Safety &amp; Choosing the Right Tool</a:t>
            </a:r>
            <a:endParaRPr lang="en-US" sz="2400" dirty="0"/>
          </a:p>
        </p:txBody>
      </p:sp>
      <p:sp>
        <p:nvSpPr>
          <p:cNvPr id="3" name="Text 1"/>
          <p:cNvSpPr/>
          <p:nvPr/>
        </p:nvSpPr>
        <p:spPr>
          <a:xfrm>
            <a:off x="457200" y="768096"/>
            <a:ext cx="8229600" cy="310896"/>
          </a:xfrm>
          <a:prstGeom prst="rect">
            <a:avLst/>
          </a:prstGeom>
          <a:noFill/>
          <a:ln/>
        </p:spPr>
        <p:txBody>
          <a:bodyPr wrap="square" lIns="0" tIns="0" rIns="0" bIns="0" rtlCol="0" anchor="ctr"/>
          <a:lstStyle/>
          <a:p>
            <a:pPr indent="0" marL="0">
              <a:buNone/>
            </a:pPr>
            <a:r>
              <a:rPr lang="en-US" sz="1300" dirty="0">
                <a:solidFill>
                  <a:srgbClr val="475569"/>
                </a:solidFill>
              </a:rPr>
              <a:t>Concepts 11, 12, 13 — knowing these keeps you safe and gets better results.</a:t>
            </a:r>
            <a:endParaRPr lang="en-US" sz="1300" dirty="0"/>
          </a:p>
        </p:txBody>
      </p:sp>
      <p:sp>
        <p:nvSpPr>
          <p:cNvPr id="4" name="Shape 2"/>
          <p:cNvSpPr/>
          <p:nvPr/>
        </p:nvSpPr>
        <p:spPr>
          <a:xfrm>
            <a:off x="457200" y="1097280"/>
            <a:ext cx="8229600" cy="0"/>
          </a:xfrm>
          <a:prstGeom prst="line">
            <a:avLst/>
          </a:prstGeom>
          <a:noFill/>
          <a:ln w="6350">
            <a:solidFill>
              <a:srgbClr val="E2E8F0"/>
            </a:solidFill>
            <a:prstDash val="solid"/>
          </a:ln>
        </p:spPr>
      </p:sp>
      <p:sp>
        <p:nvSpPr>
          <p:cNvPr id="5" name="Shape 3"/>
          <p:cNvSpPr/>
          <p:nvPr/>
        </p:nvSpPr>
        <p:spPr>
          <a:xfrm>
            <a:off x="347472" y="1207008"/>
            <a:ext cx="2724912" cy="3703320"/>
          </a:xfrm>
          <a:prstGeom prst="roundRect">
            <a:avLst>
              <a:gd name="adj" fmla="val 4027"/>
            </a:avLst>
          </a:prstGeom>
          <a:solidFill>
            <a:srgbClr val="FEF2F2"/>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6" name="Shape 4"/>
          <p:cNvSpPr/>
          <p:nvPr/>
        </p:nvSpPr>
        <p:spPr>
          <a:xfrm>
            <a:off x="347472" y="1207008"/>
            <a:ext cx="2724912" cy="475488"/>
          </a:xfrm>
          <a:prstGeom prst="roundRect">
            <a:avLst>
              <a:gd name="adj" fmla="val 23077"/>
            </a:avLst>
          </a:prstGeom>
          <a:solidFill>
            <a:srgbClr val="DC2626"/>
          </a:solidFill>
          <a:ln w="12700">
            <a:solidFill>
              <a:srgbClr val="DC2626"/>
            </a:solidFill>
            <a:prstDash val="solid"/>
          </a:ln>
        </p:spPr>
      </p:sp>
      <p:sp>
        <p:nvSpPr>
          <p:cNvPr id="7" name="Text 5"/>
          <p:cNvSpPr/>
          <p:nvPr/>
        </p:nvSpPr>
        <p:spPr>
          <a:xfrm>
            <a:off x="347472" y="1207008"/>
            <a:ext cx="2724912" cy="256032"/>
          </a:xfrm>
          <a:prstGeom prst="rect">
            <a:avLst/>
          </a:prstGeom>
          <a:noFill/>
          <a:ln/>
        </p:spPr>
        <p:txBody>
          <a:bodyPr wrap="square" lIns="0" tIns="0" rIns="0" bIns="0" rtlCol="0" anchor="ctr"/>
          <a:lstStyle/>
          <a:p>
            <a:pPr algn="ctr" indent="0" marL="0">
              <a:buNone/>
            </a:pPr>
            <a:r>
              <a:rPr lang="en-US" sz="1100" b="1" dirty="0">
                <a:solidFill>
                  <a:srgbClr val="FFFFFF"/>
                </a:solidFill>
              </a:rPr>
              <a:t>11 — Desktop Permissions</a:t>
            </a:r>
            <a:endParaRPr lang="en-US" sz="1100" dirty="0"/>
          </a:p>
        </p:txBody>
      </p:sp>
      <p:sp>
        <p:nvSpPr>
          <p:cNvPr id="8" name="Text 6"/>
          <p:cNvSpPr/>
          <p:nvPr/>
        </p:nvSpPr>
        <p:spPr>
          <a:xfrm>
            <a:off x="347472" y="1463040"/>
            <a:ext cx="2724912" cy="219456"/>
          </a:xfrm>
          <a:prstGeom prst="rect">
            <a:avLst/>
          </a:prstGeom>
          <a:noFill/>
          <a:ln/>
        </p:spPr>
        <p:txBody>
          <a:bodyPr wrap="square" lIns="0" tIns="0" rIns="0" bIns="0" rtlCol="0" anchor="ctr"/>
          <a:lstStyle/>
          <a:p>
            <a:pPr algn="ctr" indent="0" marL="0">
              <a:buNone/>
            </a:pPr>
            <a:r>
              <a:rPr lang="en-US" sz="900" i="1" dirty="0">
                <a:solidFill>
                  <a:srgbClr val="FFFFFF"/>
                </a:solidFill>
              </a:rPr>
              <a:t>Plan before you act</a:t>
            </a:r>
            <a:endParaRPr lang="en-US" sz="900" dirty="0"/>
          </a:p>
        </p:txBody>
      </p:sp>
      <p:sp>
        <p:nvSpPr>
          <p:cNvPr id="9" name="Shape 7"/>
          <p:cNvSpPr/>
          <p:nvPr/>
        </p:nvSpPr>
        <p:spPr>
          <a:xfrm>
            <a:off x="457200" y="1792224"/>
            <a:ext cx="2505456" cy="0"/>
          </a:xfrm>
          <a:prstGeom prst="line">
            <a:avLst/>
          </a:prstGeom>
          <a:noFill/>
          <a:ln w="3810">
            <a:solidFill>
              <a:srgbClr val="E2E8F0"/>
            </a:solidFill>
            <a:prstDash val="solid"/>
          </a:ln>
        </p:spPr>
      </p:sp>
      <p:sp>
        <p:nvSpPr>
          <p:cNvPr id="10" name="Text 8"/>
          <p:cNvSpPr/>
          <p:nvPr/>
        </p:nvSpPr>
        <p:spPr>
          <a:xfrm>
            <a:off x="475488" y="1837944"/>
            <a:ext cx="713232" cy="237744"/>
          </a:xfrm>
          <a:prstGeom prst="rect">
            <a:avLst/>
          </a:prstGeom>
          <a:noFill/>
          <a:ln/>
        </p:spPr>
        <p:txBody>
          <a:bodyPr wrap="square" lIns="0" tIns="0" rIns="0" bIns="0" rtlCol="0" anchor="ctr"/>
          <a:lstStyle/>
          <a:p>
            <a:pPr indent="0" marL="0">
              <a:buNone/>
            </a:pPr>
            <a:r>
              <a:rPr lang="en-US" sz="800" b="1" dirty="0">
                <a:solidFill>
                  <a:srgbClr val="DC2626"/>
                </a:solidFill>
              </a:rPr>
              <a:t>Safe order:</a:t>
            </a:r>
            <a:endParaRPr lang="en-US" sz="800" dirty="0"/>
          </a:p>
        </p:txBody>
      </p:sp>
      <p:sp>
        <p:nvSpPr>
          <p:cNvPr id="11" name="Text 9"/>
          <p:cNvSpPr/>
          <p:nvPr/>
        </p:nvSpPr>
        <p:spPr>
          <a:xfrm>
            <a:off x="1207008" y="1837944"/>
            <a:ext cx="1773936" cy="402336"/>
          </a:xfrm>
          <a:prstGeom prst="rect">
            <a:avLst/>
          </a:prstGeom>
          <a:noFill/>
          <a:ln/>
        </p:spPr>
        <p:txBody>
          <a:bodyPr wrap="square" lIns="0" tIns="0" rIns="0" bIns="0" rtlCol="0" anchor="ctr"/>
          <a:lstStyle/>
          <a:p>
            <a:pPr indent="0" marL="0">
              <a:buNone/>
            </a:pPr>
            <a:r>
              <a:rPr lang="en-US" sz="900" dirty="0">
                <a:solidFill>
                  <a:srgbClr val="1E293B"/>
                </a:solidFill>
              </a:rPr>
              <a:t>Tell task → Ask for plan → Review plan → Approve</a:t>
            </a:r>
            <a:endParaRPr lang="en-US" sz="900" dirty="0"/>
          </a:p>
        </p:txBody>
      </p:sp>
      <p:sp>
        <p:nvSpPr>
          <p:cNvPr id="12" name="Shape 10"/>
          <p:cNvSpPr/>
          <p:nvPr/>
        </p:nvSpPr>
        <p:spPr>
          <a:xfrm>
            <a:off x="457200" y="2304288"/>
            <a:ext cx="2505456" cy="0"/>
          </a:xfrm>
          <a:prstGeom prst="line">
            <a:avLst/>
          </a:prstGeom>
          <a:noFill/>
          <a:ln w="3810">
            <a:solidFill>
              <a:srgbClr val="E2E8F0"/>
            </a:solidFill>
            <a:prstDash val="solid"/>
          </a:ln>
        </p:spPr>
      </p:sp>
      <p:sp>
        <p:nvSpPr>
          <p:cNvPr id="13" name="Text 11"/>
          <p:cNvSpPr/>
          <p:nvPr/>
        </p:nvSpPr>
        <p:spPr>
          <a:xfrm>
            <a:off x="475488" y="2350008"/>
            <a:ext cx="713232" cy="237744"/>
          </a:xfrm>
          <a:prstGeom prst="rect">
            <a:avLst/>
          </a:prstGeom>
          <a:noFill/>
          <a:ln/>
        </p:spPr>
        <p:txBody>
          <a:bodyPr wrap="square" lIns="0" tIns="0" rIns="0" bIns="0" rtlCol="0" anchor="ctr"/>
          <a:lstStyle/>
          <a:p>
            <a:pPr indent="0" marL="0">
              <a:buNone/>
            </a:pPr>
            <a:r>
              <a:rPr lang="en-US" sz="800" b="1" dirty="0">
                <a:solidFill>
                  <a:srgbClr val="DC2626"/>
                </a:solidFill>
              </a:rPr>
              <a:t>Always do:</a:t>
            </a:r>
            <a:endParaRPr lang="en-US" sz="800" dirty="0"/>
          </a:p>
        </p:txBody>
      </p:sp>
      <p:sp>
        <p:nvSpPr>
          <p:cNvPr id="14" name="Text 12"/>
          <p:cNvSpPr/>
          <p:nvPr/>
        </p:nvSpPr>
        <p:spPr>
          <a:xfrm>
            <a:off x="1207008" y="2350008"/>
            <a:ext cx="1773936" cy="402336"/>
          </a:xfrm>
          <a:prstGeom prst="rect">
            <a:avLst/>
          </a:prstGeom>
          <a:noFill/>
          <a:ln/>
        </p:spPr>
        <p:txBody>
          <a:bodyPr wrap="square" lIns="0" tIns="0" rIns="0" bIns="0" rtlCol="0" anchor="ctr"/>
          <a:lstStyle/>
          <a:p>
            <a:pPr indent="0" marL="0">
              <a:buNone/>
            </a:pPr>
            <a:r>
              <a:rPr lang="en-US" sz="900" dirty="0">
                <a:solidFill>
                  <a:srgbClr val="1E293B"/>
                </a:solidFill>
              </a:rPr>
              <a:t>Create a backup before touching any real files</a:t>
            </a:r>
            <a:endParaRPr lang="en-US" sz="900" dirty="0"/>
          </a:p>
        </p:txBody>
      </p:sp>
      <p:sp>
        <p:nvSpPr>
          <p:cNvPr id="15" name="Shape 13"/>
          <p:cNvSpPr/>
          <p:nvPr/>
        </p:nvSpPr>
        <p:spPr>
          <a:xfrm>
            <a:off x="457200" y="2816352"/>
            <a:ext cx="2505456" cy="0"/>
          </a:xfrm>
          <a:prstGeom prst="line">
            <a:avLst/>
          </a:prstGeom>
          <a:noFill/>
          <a:ln w="3810">
            <a:solidFill>
              <a:srgbClr val="E2E8F0"/>
            </a:solidFill>
            <a:prstDash val="solid"/>
          </a:ln>
        </p:spPr>
      </p:sp>
      <p:sp>
        <p:nvSpPr>
          <p:cNvPr id="16" name="Text 14"/>
          <p:cNvSpPr/>
          <p:nvPr/>
        </p:nvSpPr>
        <p:spPr>
          <a:xfrm>
            <a:off x="475488" y="2862072"/>
            <a:ext cx="713232" cy="237744"/>
          </a:xfrm>
          <a:prstGeom prst="rect">
            <a:avLst/>
          </a:prstGeom>
          <a:noFill/>
          <a:ln/>
        </p:spPr>
        <p:txBody>
          <a:bodyPr wrap="square" lIns="0" tIns="0" rIns="0" bIns="0" rtlCol="0" anchor="ctr"/>
          <a:lstStyle/>
          <a:p>
            <a:pPr indent="0" marL="0">
              <a:buNone/>
            </a:pPr>
            <a:r>
              <a:rPr lang="en-US" sz="800" b="1" dirty="0">
                <a:solidFill>
                  <a:srgbClr val="DC2626"/>
                </a:solidFill>
              </a:rPr>
              <a:t>Always do:</a:t>
            </a:r>
            <a:endParaRPr lang="en-US" sz="800" dirty="0"/>
          </a:p>
        </p:txBody>
      </p:sp>
      <p:sp>
        <p:nvSpPr>
          <p:cNvPr id="17" name="Text 15"/>
          <p:cNvSpPr/>
          <p:nvPr/>
        </p:nvSpPr>
        <p:spPr>
          <a:xfrm>
            <a:off x="1207008" y="2862072"/>
            <a:ext cx="1773936" cy="402336"/>
          </a:xfrm>
          <a:prstGeom prst="rect">
            <a:avLst/>
          </a:prstGeom>
          <a:noFill/>
          <a:ln/>
        </p:spPr>
        <p:txBody>
          <a:bodyPr wrap="square" lIns="0" tIns="0" rIns="0" bIns="0" rtlCol="0" anchor="ctr"/>
          <a:lstStyle/>
          <a:p>
            <a:pPr indent="0" marL="0">
              <a:buNone/>
            </a:pPr>
            <a:r>
              <a:rPr lang="en-US" sz="900" dirty="0">
                <a:solidFill>
                  <a:srgbClr val="1E293B"/>
                </a:solidFill>
              </a:rPr>
              <a:t>Ask AI to list its plan before it does anything</a:t>
            </a:r>
            <a:endParaRPr lang="en-US" sz="900" dirty="0"/>
          </a:p>
        </p:txBody>
      </p:sp>
      <p:sp>
        <p:nvSpPr>
          <p:cNvPr id="18" name="Shape 16"/>
          <p:cNvSpPr/>
          <p:nvPr/>
        </p:nvSpPr>
        <p:spPr>
          <a:xfrm>
            <a:off x="457200" y="3328416"/>
            <a:ext cx="2505456" cy="0"/>
          </a:xfrm>
          <a:prstGeom prst="line">
            <a:avLst/>
          </a:prstGeom>
          <a:noFill/>
          <a:ln w="3810">
            <a:solidFill>
              <a:srgbClr val="E2E8F0"/>
            </a:solidFill>
            <a:prstDash val="solid"/>
          </a:ln>
        </p:spPr>
      </p:sp>
      <p:sp>
        <p:nvSpPr>
          <p:cNvPr id="19" name="Text 17"/>
          <p:cNvSpPr/>
          <p:nvPr/>
        </p:nvSpPr>
        <p:spPr>
          <a:xfrm>
            <a:off x="475488" y="3374136"/>
            <a:ext cx="713232" cy="237744"/>
          </a:xfrm>
          <a:prstGeom prst="rect">
            <a:avLst/>
          </a:prstGeom>
          <a:noFill/>
          <a:ln/>
        </p:spPr>
        <p:txBody>
          <a:bodyPr wrap="square" lIns="0" tIns="0" rIns="0" bIns="0" rtlCol="0" anchor="ctr"/>
          <a:lstStyle/>
          <a:p>
            <a:pPr indent="0" marL="0">
              <a:buNone/>
            </a:pPr>
            <a:r>
              <a:rPr lang="en-US" sz="800" b="1" dirty="0">
                <a:solidFill>
                  <a:srgbClr val="DC2626"/>
                </a:solidFill>
              </a:rPr>
              <a:t>Never allow:</a:t>
            </a:r>
            <a:endParaRPr lang="en-US" sz="800" dirty="0"/>
          </a:p>
        </p:txBody>
      </p:sp>
      <p:sp>
        <p:nvSpPr>
          <p:cNvPr id="20" name="Text 18"/>
          <p:cNvSpPr/>
          <p:nvPr/>
        </p:nvSpPr>
        <p:spPr>
          <a:xfrm>
            <a:off x="1207008" y="3374136"/>
            <a:ext cx="1773936" cy="402336"/>
          </a:xfrm>
          <a:prstGeom prst="rect">
            <a:avLst/>
          </a:prstGeom>
          <a:noFill/>
          <a:ln/>
        </p:spPr>
        <p:txBody>
          <a:bodyPr wrap="square" lIns="0" tIns="0" rIns="0" bIns="0" rtlCol="0" anchor="ctr"/>
          <a:lstStyle/>
          <a:p>
            <a:pPr indent="0" marL="0">
              <a:buNone/>
            </a:pPr>
            <a:r>
              <a:rPr lang="en-US" sz="900" dirty="0">
                <a:solidFill>
                  <a:srgbClr val="1E293B"/>
                </a:solidFill>
              </a:rPr>
              <a:t>Permanent deletion without your confirmation</a:t>
            </a:r>
            <a:endParaRPr lang="en-US" sz="900" dirty="0"/>
          </a:p>
        </p:txBody>
      </p:sp>
      <p:sp>
        <p:nvSpPr>
          <p:cNvPr id="21" name="Shape 19"/>
          <p:cNvSpPr/>
          <p:nvPr/>
        </p:nvSpPr>
        <p:spPr>
          <a:xfrm>
            <a:off x="457200" y="3840480"/>
            <a:ext cx="2505456" cy="0"/>
          </a:xfrm>
          <a:prstGeom prst="line">
            <a:avLst/>
          </a:prstGeom>
          <a:noFill/>
          <a:ln w="3810">
            <a:solidFill>
              <a:srgbClr val="E2E8F0"/>
            </a:solidFill>
            <a:prstDash val="solid"/>
          </a:ln>
        </p:spPr>
      </p:sp>
      <p:sp>
        <p:nvSpPr>
          <p:cNvPr id="22" name="Text 20"/>
          <p:cNvSpPr/>
          <p:nvPr/>
        </p:nvSpPr>
        <p:spPr>
          <a:xfrm>
            <a:off x="475488" y="3886200"/>
            <a:ext cx="713232" cy="237744"/>
          </a:xfrm>
          <a:prstGeom prst="rect">
            <a:avLst/>
          </a:prstGeom>
          <a:noFill/>
          <a:ln/>
        </p:spPr>
        <p:txBody>
          <a:bodyPr wrap="square" lIns="0" tIns="0" rIns="0" bIns="0" rtlCol="0" anchor="ctr"/>
          <a:lstStyle/>
          <a:p>
            <a:pPr indent="0" marL="0">
              <a:buNone/>
            </a:pPr>
            <a:r>
              <a:rPr lang="en-US" sz="800" b="1" dirty="0">
                <a:solidFill>
                  <a:srgbClr val="DC2626"/>
                </a:solidFill>
              </a:rPr>
              <a:t>Why:</a:t>
            </a:r>
            <a:endParaRPr lang="en-US" sz="800" dirty="0"/>
          </a:p>
        </p:txBody>
      </p:sp>
      <p:sp>
        <p:nvSpPr>
          <p:cNvPr id="23" name="Text 21"/>
          <p:cNvSpPr/>
          <p:nvPr/>
        </p:nvSpPr>
        <p:spPr>
          <a:xfrm>
            <a:off x="1207008" y="3886200"/>
            <a:ext cx="1773936" cy="402336"/>
          </a:xfrm>
          <a:prstGeom prst="rect">
            <a:avLst/>
          </a:prstGeom>
          <a:noFill/>
          <a:ln/>
        </p:spPr>
        <p:txBody>
          <a:bodyPr wrap="square" lIns="0" tIns="0" rIns="0" bIns="0" rtlCol="0" anchor="ctr"/>
          <a:lstStyle/>
          <a:p>
            <a:pPr indent="0" marL="0">
              <a:buNone/>
            </a:pPr>
            <a:r>
              <a:rPr lang="en-US" sz="900" dirty="0">
                <a:solidFill>
                  <a:srgbClr val="1E293B"/>
                </a:solidFill>
              </a:rPr>
              <a:t>Deleted files skip the bin. Overwrites cannot be undone.</a:t>
            </a:r>
            <a:endParaRPr lang="en-US" sz="900" dirty="0"/>
          </a:p>
        </p:txBody>
      </p:sp>
      <p:sp>
        <p:nvSpPr>
          <p:cNvPr id="24" name="Shape 22"/>
          <p:cNvSpPr/>
          <p:nvPr/>
        </p:nvSpPr>
        <p:spPr>
          <a:xfrm>
            <a:off x="3227832" y="1207008"/>
            <a:ext cx="2724912" cy="3703320"/>
          </a:xfrm>
          <a:prstGeom prst="roundRect">
            <a:avLst>
              <a:gd name="adj" fmla="val 4027"/>
            </a:avLst>
          </a:prstGeom>
          <a:solidFill>
            <a:srgbClr val="FFFBEB"/>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25" name="Shape 23"/>
          <p:cNvSpPr/>
          <p:nvPr/>
        </p:nvSpPr>
        <p:spPr>
          <a:xfrm>
            <a:off x="3227832" y="1207008"/>
            <a:ext cx="2724912" cy="475488"/>
          </a:xfrm>
          <a:prstGeom prst="roundRect">
            <a:avLst>
              <a:gd name="adj" fmla="val 23077"/>
            </a:avLst>
          </a:prstGeom>
          <a:solidFill>
            <a:srgbClr val="D97706"/>
          </a:solidFill>
          <a:ln w="12700">
            <a:solidFill>
              <a:srgbClr val="D97706"/>
            </a:solidFill>
            <a:prstDash val="solid"/>
          </a:ln>
        </p:spPr>
      </p:sp>
      <p:sp>
        <p:nvSpPr>
          <p:cNvPr id="26" name="Text 24"/>
          <p:cNvSpPr/>
          <p:nvPr/>
        </p:nvSpPr>
        <p:spPr>
          <a:xfrm>
            <a:off x="3227832" y="1207008"/>
            <a:ext cx="2724912" cy="256032"/>
          </a:xfrm>
          <a:prstGeom prst="rect">
            <a:avLst/>
          </a:prstGeom>
          <a:noFill/>
          <a:ln/>
        </p:spPr>
        <p:txBody>
          <a:bodyPr wrap="square" lIns="0" tIns="0" rIns="0" bIns="0" rtlCol="0" anchor="ctr"/>
          <a:lstStyle/>
          <a:p>
            <a:pPr algn="ctr" indent="0" marL="0">
              <a:buNone/>
            </a:pPr>
            <a:r>
              <a:rPr lang="en-US" sz="1100" b="1" dirty="0">
                <a:solidFill>
                  <a:srgbClr val="FFFFFF"/>
                </a:solidFill>
              </a:rPr>
              <a:t>12 — Which Model When</a:t>
            </a:r>
            <a:endParaRPr lang="en-US" sz="1100" dirty="0"/>
          </a:p>
        </p:txBody>
      </p:sp>
      <p:sp>
        <p:nvSpPr>
          <p:cNvPr id="27" name="Text 25"/>
          <p:cNvSpPr/>
          <p:nvPr/>
        </p:nvSpPr>
        <p:spPr>
          <a:xfrm>
            <a:off x="3227832" y="1463040"/>
            <a:ext cx="2724912" cy="219456"/>
          </a:xfrm>
          <a:prstGeom prst="rect">
            <a:avLst/>
          </a:prstGeom>
          <a:noFill/>
          <a:ln/>
        </p:spPr>
        <p:txBody>
          <a:bodyPr wrap="square" lIns="0" tIns="0" rIns="0" bIns="0" rtlCol="0" anchor="ctr"/>
          <a:lstStyle/>
          <a:p>
            <a:pPr algn="ctr" indent="0" marL="0">
              <a:buNone/>
            </a:pPr>
            <a:r>
              <a:rPr lang="en-US" sz="900" i="1" dirty="0">
                <a:solidFill>
                  <a:srgbClr val="FFFFFF"/>
                </a:solidFill>
              </a:rPr>
              <a:t>There is no single best AI</a:t>
            </a:r>
            <a:endParaRPr lang="en-US" sz="900" dirty="0"/>
          </a:p>
        </p:txBody>
      </p:sp>
      <p:sp>
        <p:nvSpPr>
          <p:cNvPr id="28" name="Shape 26"/>
          <p:cNvSpPr/>
          <p:nvPr/>
        </p:nvSpPr>
        <p:spPr>
          <a:xfrm>
            <a:off x="3337560" y="1792224"/>
            <a:ext cx="2505456" cy="0"/>
          </a:xfrm>
          <a:prstGeom prst="line">
            <a:avLst/>
          </a:prstGeom>
          <a:noFill/>
          <a:ln w="3810">
            <a:solidFill>
              <a:srgbClr val="E2E8F0"/>
            </a:solidFill>
            <a:prstDash val="solid"/>
          </a:ln>
        </p:spPr>
      </p:sp>
      <p:sp>
        <p:nvSpPr>
          <p:cNvPr id="29" name="Text 27"/>
          <p:cNvSpPr/>
          <p:nvPr/>
        </p:nvSpPr>
        <p:spPr>
          <a:xfrm>
            <a:off x="3355848" y="1837944"/>
            <a:ext cx="713232" cy="237744"/>
          </a:xfrm>
          <a:prstGeom prst="rect">
            <a:avLst/>
          </a:prstGeom>
          <a:noFill/>
          <a:ln/>
        </p:spPr>
        <p:txBody>
          <a:bodyPr wrap="square" lIns="0" tIns="0" rIns="0" bIns="0" rtlCol="0" anchor="ctr"/>
          <a:lstStyle/>
          <a:p>
            <a:pPr indent="0" marL="0">
              <a:buNone/>
            </a:pPr>
            <a:r>
              <a:rPr lang="en-US" sz="800" b="1" dirty="0">
                <a:solidFill>
                  <a:srgbClr val="D97706"/>
                </a:solidFill>
              </a:rPr>
              <a:t>No single best:</a:t>
            </a:r>
            <a:endParaRPr lang="en-US" sz="800" dirty="0"/>
          </a:p>
        </p:txBody>
      </p:sp>
      <p:sp>
        <p:nvSpPr>
          <p:cNvPr id="30" name="Text 28"/>
          <p:cNvSpPr/>
          <p:nvPr/>
        </p:nvSpPr>
        <p:spPr>
          <a:xfrm>
            <a:off x="4087368" y="1837944"/>
            <a:ext cx="1773936" cy="402336"/>
          </a:xfrm>
          <a:prstGeom prst="rect">
            <a:avLst/>
          </a:prstGeom>
          <a:noFill/>
          <a:ln/>
        </p:spPr>
        <p:txBody>
          <a:bodyPr wrap="square" lIns="0" tIns="0" rIns="0" bIns="0" rtlCol="0" anchor="ctr"/>
          <a:lstStyle/>
          <a:p>
            <a:pPr indent="0" marL="0">
              <a:buNone/>
            </a:pPr>
            <a:r>
              <a:rPr lang="en-US" sz="900" dirty="0">
                <a:solidFill>
                  <a:srgbClr val="1E293B"/>
                </a:solidFill>
              </a:rPr>
              <a:t>Each model has different strengths for different tasks</a:t>
            </a:r>
            <a:endParaRPr lang="en-US" sz="900" dirty="0"/>
          </a:p>
        </p:txBody>
      </p:sp>
      <p:sp>
        <p:nvSpPr>
          <p:cNvPr id="31" name="Shape 29"/>
          <p:cNvSpPr/>
          <p:nvPr/>
        </p:nvSpPr>
        <p:spPr>
          <a:xfrm>
            <a:off x="3337560" y="2304288"/>
            <a:ext cx="2505456" cy="0"/>
          </a:xfrm>
          <a:prstGeom prst="line">
            <a:avLst/>
          </a:prstGeom>
          <a:noFill/>
          <a:ln w="3810">
            <a:solidFill>
              <a:srgbClr val="E2E8F0"/>
            </a:solidFill>
            <a:prstDash val="solid"/>
          </a:ln>
        </p:spPr>
      </p:sp>
      <p:sp>
        <p:nvSpPr>
          <p:cNvPr id="32" name="Text 30"/>
          <p:cNvSpPr/>
          <p:nvPr/>
        </p:nvSpPr>
        <p:spPr>
          <a:xfrm>
            <a:off x="3355848" y="2350008"/>
            <a:ext cx="713232" cy="237744"/>
          </a:xfrm>
          <a:prstGeom prst="rect">
            <a:avLst/>
          </a:prstGeom>
          <a:noFill/>
          <a:ln/>
        </p:spPr>
        <p:txBody>
          <a:bodyPr wrap="square" lIns="0" tIns="0" rIns="0" bIns="0" rtlCol="0" anchor="ctr"/>
          <a:lstStyle/>
          <a:p>
            <a:pPr indent="0" marL="0">
              <a:buNone/>
            </a:pPr>
            <a:r>
              <a:rPr lang="en-US" sz="800" b="1" dirty="0">
                <a:solidFill>
                  <a:srgbClr val="D97706"/>
                </a:solidFill>
              </a:rPr>
              <a:t>Claude:</a:t>
            </a:r>
            <a:endParaRPr lang="en-US" sz="800" dirty="0"/>
          </a:p>
        </p:txBody>
      </p:sp>
      <p:sp>
        <p:nvSpPr>
          <p:cNvPr id="33" name="Text 31"/>
          <p:cNvSpPr/>
          <p:nvPr/>
        </p:nvSpPr>
        <p:spPr>
          <a:xfrm>
            <a:off x="4087368" y="2350008"/>
            <a:ext cx="1773936" cy="402336"/>
          </a:xfrm>
          <a:prstGeom prst="rect">
            <a:avLst/>
          </a:prstGeom>
          <a:noFill/>
          <a:ln/>
        </p:spPr>
        <p:txBody>
          <a:bodyPr wrap="square" lIns="0" tIns="0" rIns="0" bIns="0" rtlCol="0" anchor="ctr"/>
          <a:lstStyle/>
          <a:p>
            <a:pPr indent="0" marL="0">
              <a:buNone/>
            </a:pPr>
            <a:r>
              <a:rPr lang="en-US" sz="900" dirty="0">
                <a:solidFill>
                  <a:srgbClr val="1E293B"/>
                </a:solidFill>
              </a:rPr>
              <a:t>Better for nuanced writing and balanced analysis</a:t>
            </a:r>
            <a:endParaRPr lang="en-US" sz="900" dirty="0"/>
          </a:p>
        </p:txBody>
      </p:sp>
      <p:sp>
        <p:nvSpPr>
          <p:cNvPr id="34" name="Shape 32"/>
          <p:cNvSpPr/>
          <p:nvPr/>
        </p:nvSpPr>
        <p:spPr>
          <a:xfrm>
            <a:off x="3337560" y="2816352"/>
            <a:ext cx="2505456" cy="0"/>
          </a:xfrm>
          <a:prstGeom prst="line">
            <a:avLst/>
          </a:prstGeom>
          <a:noFill/>
          <a:ln w="3810">
            <a:solidFill>
              <a:srgbClr val="E2E8F0"/>
            </a:solidFill>
            <a:prstDash val="solid"/>
          </a:ln>
        </p:spPr>
      </p:sp>
      <p:sp>
        <p:nvSpPr>
          <p:cNvPr id="35" name="Text 33"/>
          <p:cNvSpPr/>
          <p:nvPr/>
        </p:nvSpPr>
        <p:spPr>
          <a:xfrm>
            <a:off x="3355848" y="2862072"/>
            <a:ext cx="713232" cy="237744"/>
          </a:xfrm>
          <a:prstGeom prst="rect">
            <a:avLst/>
          </a:prstGeom>
          <a:noFill/>
          <a:ln/>
        </p:spPr>
        <p:txBody>
          <a:bodyPr wrap="square" lIns="0" tIns="0" rIns="0" bIns="0" rtlCol="0" anchor="ctr"/>
          <a:lstStyle/>
          <a:p>
            <a:pPr indent="0" marL="0">
              <a:buNone/>
            </a:pPr>
            <a:r>
              <a:rPr lang="en-US" sz="800" b="1" dirty="0">
                <a:solidFill>
                  <a:srgbClr val="D97706"/>
                </a:solidFill>
              </a:rPr>
              <a:t>ChatGPT:</a:t>
            </a:r>
            <a:endParaRPr lang="en-US" sz="800" dirty="0"/>
          </a:p>
        </p:txBody>
      </p:sp>
      <p:sp>
        <p:nvSpPr>
          <p:cNvPr id="36" name="Text 34"/>
          <p:cNvSpPr/>
          <p:nvPr/>
        </p:nvSpPr>
        <p:spPr>
          <a:xfrm>
            <a:off x="4087368" y="2862072"/>
            <a:ext cx="1773936" cy="402336"/>
          </a:xfrm>
          <a:prstGeom prst="rect">
            <a:avLst/>
          </a:prstGeom>
          <a:noFill/>
          <a:ln/>
        </p:spPr>
        <p:txBody>
          <a:bodyPr wrap="square" lIns="0" tIns="0" rIns="0" bIns="0" rtlCol="0" anchor="ctr"/>
          <a:lstStyle/>
          <a:p>
            <a:pPr indent="0" marL="0">
              <a:buNone/>
            </a:pPr>
            <a:r>
              <a:rPr lang="en-US" sz="900" dirty="0">
                <a:solidFill>
                  <a:srgbClr val="1E293B"/>
                </a:solidFill>
              </a:rPr>
              <a:t>Often stronger for social media and enthusiastic tone</a:t>
            </a:r>
            <a:endParaRPr lang="en-US" sz="900" dirty="0"/>
          </a:p>
        </p:txBody>
      </p:sp>
      <p:sp>
        <p:nvSpPr>
          <p:cNvPr id="37" name="Shape 35"/>
          <p:cNvSpPr/>
          <p:nvPr/>
        </p:nvSpPr>
        <p:spPr>
          <a:xfrm>
            <a:off x="3337560" y="3328416"/>
            <a:ext cx="2505456" cy="0"/>
          </a:xfrm>
          <a:prstGeom prst="line">
            <a:avLst/>
          </a:prstGeom>
          <a:noFill/>
          <a:ln w="3810">
            <a:solidFill>
              <a:srgbClr val="E2E8F0"/>
            </a:solidFill>
            <a:prstDash val="solid"/>
          </a:ln>
        </p:spPr>
      </p:sp>
      <p:sp>
        <p:nvSpPr>
          <p:cNvPr id="38" name="Text 36"/>
          <p:cNvSpPr/>
          <p:nvPr/>
        </p:nvSpPr>
        <p:spPr>
          <a:xfrm>
            <a:off x="3355848" y="3374136"/>
            <a:ext cx="713232" cy="237744"/>
          </a:xfrm>
          <a:prstGeom prst="rect">
            <a:avLst/>
          </a:prstGeom>
          <a:noFill/>
          <a:ln/>
        </p:spPr>
        <p:txBody>
          <a:bodyPr wrap="square" lIns="0" tIns="0" rIns="0" bIns="0" rtlCol="0" anchor="ctr"/>
          <a:lstStyle/>
          <a:p>
            <a:pPr indent="0" marL="0">
              <a:buNone/>
            </a:pPr>
            <a:r>
              <a:rPr lang="en-US" sz="800" b="1" dirty="0">
                <a:solidFill>
                  <a:srgbClr val="D97706"/>
                </a:solidFill>
              </a:rPr>
              <a:t>Both:</a:t>
            </a:r>
            <a:endParaRPr lang="en-US" sz="800" dirty="0"/>
          </a:p>
        </p:txBody>
      </p:sp>
      <p:sp>
        <p:nvSpPr>
          <p:cNvPr id="39" name="Text 37"/>
          <p:cNvSpPr/>
          <p:nvPr/>
        </p:nvSpPr>
        <p:spPr>
          <a:xfrm>
            <a:off x="4087368" y="3374136"/>
            <a:ext cx="1773936" cy="402336"/>
          </a:xfrm>
          <a:prstGeom prst="rect">
            <a:avLst/>
          </a:prstGeom>
          <a:noFill/>
          <a:ln/>
        </p:spPr>
        <p:txBody>
          <a:bodyPr wrap="square" lIns="0" tIns="0" rIns="0" bIns="0" rtlCol="0" anchor="ctr"/>
          <a:lstStyle/>
          <a:p>
            <a:pPr indent="0" marL="0">
              <a:buNone/>
            </a:pPr>
            <a:r>
              <a:rPr lang="en-US" sz="900" dirty="0">
                <a:solidFill>
                  <a:srgbClr val="1E293B"/>
                </a:solidFill>
              </a:rPr>
              <a:t>Run same prompt in both — pick the better result</a:t>
            </a:r>
            <a:endParaRPr lang="en-US" sz="900" dirty="0"/>
          </a:p>
        </p:txBody>
      </p:sp>
      <p:sp>
        <p:nvSpPr>
          <p:cNvPr id="40" name="Shape 38"/>
          <p:cNvSpPr/>
          <p:nvPr/>
        </p:nvSpPr>
        <p:spPr>
          <a:xfrm>
            <a:off x="3337560" y="3840480"/>
            <a:ext cx="2505456" cy="0"/>
          </a:xfrm>
          <a:prstGeom prst="line">
            <a:avLst/>
          </a:prstGeom>
          <a:noFill/>
          <a:ln w="3810">
            <a:solidFill>
              <a:srgbClr val="E2E8F0"/>
            </a:solidFill>
            <a:prstDash val="solid"/>
          </a:ln>
        </p:spPr>
      </p:sp>
      <p:sp>
        <p:nvSpPr>
          <p:cNvPr id="41" name="Text 39"/>
          <p:cNvSpPr/>
          <p:nvPr/>
        </p:nvSpPr>
        <p:spPr>
          <a:xfrm>
            <a:off x="3355848" y="3886200"/>
            <a:ext cx="713232" cy="237744"/>
          </a:xfrm>
          <a:prstGeom prst="rect">
            <a:avLst/>
          </a:prstGeom>
          <a:noFill/>
          <a:ln/>
        </p:spPr>
        <p:txBody>
          <a:bodyPr wrap="square" lIns="0" tIns="0" rIns="0" bIns="0" rtlCol="0" anchor="ctr"/>
          <a:lstStyle/>
          <a:p>
            <a:pPr indent="0" marL="0">
              <a:buNone/>
            </a:pPr>
            <a:r>
              <a:rPr lang="en-US" sz="800" b="1" dirty="0">
                <a:solidFill>
                  <a:srgbClr val="D97706"/>
                </a:solidFill>
              </a:rPr>
              <a:t>Key habit:</a:t>
            </a:r>
            <a:endParaRPr lang="en-US" sz="800" dirty="0"/>
          </a:p>
        </p:txBody>
      </p:sp>
      <p:sp>
        <p:nvSpPr>
          <p:cNvPr id="42" name="Text 40"/>
          <p:cNvSpPr/>
          <p:nvPr/>
        </p:nvSpPr>
        <p:spPr>
          <a:xfrm>
            <a:off x="4087368" y="3886200"/>
            <a:ext cx="1773936" cy="402336"/>
          </a:xfrm>
          <a:prstGeom prst="rect">
            <a:avLst/>
          </a:prstGeom>
          <a:noFill/>
          <a:ln/>
        </p:spPr>
        <p:txBody>
          <a:bodyPr wrap="square" lIns="0" tIns="0" rIns="0" bIns="0" rtlCol="0" anchor="ctr"/>
          <a:lstStyle/>
          <a:p>
            <a:pPr indent="0" marL="0">
              <a:buNone/>
            </a:pPr>
            <a:r>
              <a:rPr lang="en-US" sz="900" dirty="0">
                <a:solidFill>
                  <a:srgbClr val="1E293B"/>
                </a:solidFill>
              </a:rPr>
              <a:t>Re-test monthly. Leaders rotate frequently.</a:t>
            </a:r>
            <a:endParaRPr lang="en-US" sz="900" dirty="0"/>
          </a:p>
        </p:txBody>
      </p:sp>
      <p:sp>
        <p:nvSpPr>
          <p:cNvPr id="43" name="Shape 41"/>
          <p:cNvSpPr/>
          <p:nvPr/>
        </p:nvSpPr>
        <p:spPr>
          <a:xfrm>
            <a:off x="6108192" y="1207008"/>
            <a:ext cx="2724912" cy="3703320"/>
          </a:xfrm>
          <a:prstGeom prst="roundRect">
            <a:avLst>
              <a:gd name="adj" fmla="val 4027"/>
            </a:avLst>
          </a:prstGeom>
          <a:solidFill>
            <a:srgbClr val="EFF6FF"/>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44" name="Shape 42"/>
          <p:cNvSpPr/>
          <p:nvPr/>
        </p:nvSpPr>
        <p:spPr>
          <a:xfrm>
            <a:off x="6108192" y="1207008"/>
            <a:ext cx="2724912" cy="475488"/>
          </a:xfrm>
          <a:prstGeom prst="roundRect">
            <a:avLst>
              <a:gd name="adj" fmla="val 23077"/>
            </a:avLst>
          </a:prstGeom>
          <a:solidFill>
            <a:srgbClr val="2563EB"/>
          </a:solidFill>
          <a:ln w="12700">
            <a:solidFill>
              <a:srgbClr val="2563EB"/>
            </a:solidFill>
            <a:prstDash val="solid"/>
          </a:ln>
        </p:spPr>
      </p:sp>
      <p:sp>
        <p:nvSpPr>
          <p:cNvPr id="45" name="Text 43"/>
          <p:cNvSpPr/>
          <p:nvPr/>
        </p:nvSpPr>
        <p:spPr>
          <a:xfrm>
            <a:off x="6108192" y="1207008"/>
            <a:ext cx="2724912" cy="256032"/>
          </a:xfrm>
          <a:prstGeom prst="rect">
            <a:avLst/>
          </a:prstGeom>
          <a:noFill/>
          <a:ln/>
        </p:spPr>
        <p:txBody>
          <a:bodyPr wrap="square" lIns="0" tIns="0" rIns="0" bIns="0" rtlCol="0" anchor="ctr"/>
          <a:lstStyle/>
          <a:p>
            <a:pPr algn="ctr" indent="0" marL="0">
              <a:buNone/>
            </a:pPr>
            <a:r>
              <a:rPr lang="en-US" sz="1100" b="1" dirty="0">
                <a:solidFill>
                  <a:srgbClr val="FFFFFF"/>
                </a:solidFill>
              </a:rPr>
              <a:t>13 — Models Check Models</a:t>
            </a:r>
            <a:endParaRPr lang="en-US" sz="1100" dirty="0"/>
          </a:p>
        </p:txBody>
      </p:sp>
      <p:sp>
        <p:nvSpPr>
          <p:cNvPr id="46" name="Text 44"/>
          <p:cNvSpPr/>
          <p:nvPr/>
        </p:nvSpPr>
        <p:spPr>
          <a:xfrm>
            <a:off x="6108192" y="1463040"/>
            <a:ext cx="2724912" cy="219456"/>
          </a:xfrm>
          <a:prstGeom prst="rect">
            <a:avLst/>
          </a:prstGeom>
          <a:noFill/>
          <a:ln/>
        </p:spPr>
        <p:txBody>
          <a:bodyPr wrap="square" lIns="0" tIns="0" rIns="0" bIns="0" rtlCol="0" anchor="ctr"/>
          <a:lstStyle/>
          <a:p>
            <a:pPr algn="ctr" indent="0" marL="0">
              <a:buNone/>
            </a:pPr>
            <a:r>
              <a:rPr lang="en-US" sz="900" i="1" dirty="0">
                <a:solidFill>
                  <a:srgbClr val="FFFFFF"/>
                </a:solidFill>
              </a:rPr>
              <a:t>Cross-check high-stakes work</a:t>
            </a:r>
            <a:endParaRPr lang="en-US" sz="900" dirty="0"/>
          </a:p>
        </p:txBody>
      </p:sp>
      <p:sp>
        <p:nvSpPr>
          <p:cNvPr id="47" name="Shape 45"/>
          <p:cNvSpPr/>
          <p:nvPr/>
        </p:nvSpPr>
        <p:spPr>
          <a:xfrm>
            <a:off x="6217920" y="1792224"/>
            <a:ext cx="2505456" cy="0"/>
          </a:xfrm>
          <a:prstGeom prst="line">
            <a:avLst/>
          </a:prstGeom>
          <a:noFill/>
          <a:ln w="3810">
            <a:solidFill>
              <a:srgbClr val="E2E8F0"/>
            </a:solidFill>
            <a:prstDash val="solid"/>
          </a:ln>
        </p:spPr>
      </p:sp>
      <p:sp>
        <p:nvSpPr>
          <p:cNvPr id="48" name="Text 46"/>
          <p:cNvSpPr/>
          <p:nvPr/>
        </p:nvSpPr>
        <p:spPr>
          <a:xfrm>
            <a:off x="6236208" y="1837944"/>
            <a:ext cx="713232" cy="237744"/>
          </a:xfrm>
          <a:prstGeom prst="rect">
            <a:avLst/>
          </a:prstGeom>
          <a:noFill/>
          <a:ln/>
        </p:spPr>
        <p:txBody>
          <a:bodyPr wrap="square" lIns="0" tIns="0" rIns="0" bIns="0" rtlCol="0" anchor="ctr"/>
          <a:lstStyle/>
          <a:p>
            <a:pPr indent="0" marL="0">
              <a:buNone/>
            </a:pPr>
            <a:r>
              <a:rPr lang="en-US" sz="800" b="1" dirty="0">
                <a:solidFill>
                  <a:srgbClr val="2563EB"/>
                </a:solidFill>
              </a:rPr>
              <a:t>Method:</a:t>
            </a:r>
            <a:endParaRPr lang="en-US" sz="800" dirty="0"/>
          </a:p>
        </p:txBody>
      </p:sp>
      <p:sp>
        <p:nvSpPr>
          <p:cNvPr id="49" name="Text 47"/>
          <p:cNvSpPr/>
          <p:nvPr/>
        </p:nvSpPr>
        <p:spPr>
          <a:xfrm>
            <a:off x="6967728" y="1837944"/>
            <a:ext cx="1773936" cy="402336"/>
          </a:xfrm>
          <a:prstGeom prst="rect">
            <a:avLst/>
          </a:prstGeom>
          <a:noFill/>
          <a:ln/>
        </p:spPr>
        <p:txBody>
          <a:bodyPr wrap="square" lIns="0" tIns="0" rIns="0" bIns="0" rtlCol="0" anchor="ctr"/>
          <a:lstStyle/>
          <a:p>
            <a:pPr indent="0" marL="0">
              <a:buNone/>
            </a:pPr>
            <a:r>
              <a:rPr lang="en-US" sz="900" dirty="0">
                <a:solidFill>
                  <a:srgbClr val="1E293B"/>
                </a:solidFill>
              </a:rPr>
              <a:t>Give same draft + same question to 2 different tools</a:t>
            </a:r>
            <a:endParaRPr lang="en-US" sz="900" dirty="0"/>
          </a:p>
        </p:txBody>
      </p:sp>
      <p:sp>
        <p:nvSpPr>
          <p:cNvPr id="50" name="Shape 48"/>
          <p:cNvSpPr/>
          <p:nvPr/>
        </p:nvSpPr>
        <p:spPr>
          <a:xfrm>
            <a:off x="6217920" y="2304288"/>
            <a:ext cx="2505456" cy="0"/>
          </a:xfrm>
          <a:prstGeom prst="line">
            <a:avLst/>
          </a:prstGeom>
          <a:noFill/>
          <a:ln w="3810">
            <a:solidFill>
              <a:srgbClr val="E2E8F0"/>
            </a:solidFill>
            <a:prstDash val="solid"/>
          </a:ln>
        </p:spPr>
      </p:sp>
      <p:sp>
        <p:nvSpPr>
          <p:cNvPr id="51" name="Text 49"/>
          <p:cNvSpPr/>
          <p:nvPr/>
        </p:nvSpPr>
        <p:spPr>
          <a:xfrm>
            <a:off x="6236208" y="2350008"/>
            <a:ext cx="713232" cy="237744"/>
          </a:xfrm>
          <a:prstGeom prst="rect">
            <a:avLst/>
          </a:prstGeom>
          <a:noFill/>
          <a:ln/>
        </p:spPr>
        <p:txBody>
          <a:bodyPr wrap="square" lIns="0" tIns="0" rIns="0" bIns="0" rtlCol="0" anchor="ctr"/>
          <a:lstStyle/>
          <a:p>
            <a:pPr indent="0" marL="0">
              <a:buNone/>
            </a:pPr>
            <a:r>
              <a:rPr lang="en-US" sz="800" b="1" dirty="0">
                <a:solidFill>
                  <a:srgbClr val="2563EB"/>
                </a:solidFill>
              </a:rPr>
              <a:t>Claude finds:</a:t>
            </a:r>
            <a:endParaRPr lang="en-US" sz="800" dirty="0"/>
          </a:p>
        </p:txBody>
      </p:sp>
      <p:sp>
        <p:nvSpPr>
          <p:cNvPr id="52" name="Text 50"/>
          <p:cNvSpPr/>
          <p:nvPr/>
        </p:nvSpPr>
        <p:spPr>
          <a:xfrm>
            <a:off x="6967728" y="2350008"/>
            <a:ext cx="1773936" cy="402336"/>
          </a:xfrm>
          <a:prstGeom prst="rect">
            <a:avLst/>
          </a:prstGeom>
          <a:noFill/>
          <a:ln/>
        </p:spPr>
        <p:txBody>
          <a:bodyPr wrap="square" lIns="0" tIns="0" rIns="0" bIns="0" rtlCol="0" anchor="ctr"/>
          <a:lstStyle/>
          <a:p>
            <a:pPr indent="0" marL="0">
              <a:buNone/>
            </a:pPr>
            <a:r>
              <a:rPr lang="en-US" sz="900" dirty="0">
                <a:solidFill>
                  <a:srgbClr val="1E293B"/>
                </a:solidFill>
              </a:rPr>
              <a:t>Missing evidence and unsupported claims</a:t>
            </a:r>
            <a:endParaRPr lang="en-US" sz="900" dirty="0"/>
          </a:p>
        </p:txBody>
      </p:sp>
      <p:sp>
        <p:nvSpPr>
          <p:cNvPr id="53" name="Shape 51"/>
          <p:cNvSpPr/>
          <p:nvPr/>
        </p:nvSpPr>
        <p:spPr>
          <a:xfrm>
            <a:off x="6217920" y="2816352"/>
            <a:ext cx="2505456" cy="0"/>
          </a:xfrm>
          <a:prstGeom prst="line">
            <a:avLst/>
          </a:prstGeom>
          <a:noFill/>
          <a:ln w="3810">
            <a:solidFill>
              <a:srgbClr val="E2E8F0"/>
            </a:solidFill>
            <a:prstDash val="solid"/>
          </a:ln>
        </p:spPr>
      </p:sp>
      <p:sp>
        <p:nvSpPr>
          <p:cNvPr id="54" name="Text 52"/>
          <p:cNvSpPr/>
          <p:nvPr/>
        </p:nvSpPr>
        <p:spPr>
          <a:xfrm>
            <a:off x="6236208" y="2862072"/>
            <a:ext cx="713232" cy="237744"/>
          </a:xfrm>
          <a:prstGeom prst="rect">
            <a:avLst/>
          </a:prstGeom>
          <a:noFill/>
          <a:ln/>
        </p:spPr>
        <p:txBody>
          <a:bodyPr wrap="square" lIns="0" tIns="0" rIns="0" bIns="0" rtlCol="0" anchor="ctr"/>
          <a:lstStyle/>
          <a:p>
            <a:pPr indent="0" marL="0">
              <a:buNone/>
            </a:pPr>
            <a:r>
              <a:rPr lang="en-US" sz="800" b="1" dirty="0">
                <a:solidFill>
                  <a:srgbClr val="2563EB"/>
                </a:solidFill>
              </a:rPr>
              <a:t>ChatGPT finds:</a:t>
            </a:r>
            <a:endParaRPr lang="en-US" sz="800" dirty="0"/>
          </a:p>
        </p:txBody>
      </p:sp>
      <p:sp>
        <p:nvSpPr>
          <p:cNvPr id="55" name="Text 53"/>
          <p:cNvSpPr/>
          <p:nvPr/>
        </p:nvSpPr>
        <p:spPr>
          <a:xfrm>
            <a:off x="6967728" y="2862072"/>
            <a:ext cx="1773936" cy="402336"/>
          </a:xfrm>
          <a:prstGeom prst="rect">
            <a:avLst/>
          </a:prstGeom>
          <a:noFill/>
          <a:ln/>
        </p:spPr>
        <p:txBody>
          <a:bodyPr wrap="square" lIns="0" tIns="0" rIns="0" bIns="0" rtlCol="0" anchor="ctr"/>
          <a:lstStyle/>
          <a:p>
            <a:pPr indent="0" marL="0">
              <a:buNone/>
            </a:pPr>
            <a:r>
              <a:rPr lang="en-US" sz="900" dirty="0">
                <a:solidFill>
                  <a:srgbClr val="1E293B"/>
                </a:solidFill>
              </a:rPr>
              <a:t>Weak openings and passive structure</a:t>
            </a:r>
            <a:endParaRPr lang="en-US" sz="900" dirty="0"/>
          </a:p>
        </p:txBody>
      </p:sp>
      <p:sp>
        <p:nvSpPr>
          <p:cNvPr id="56" name="Shape 54"/>
          <p:cNvSpPr/>
          <p:nvPr/>
        </p:nvSpPr>
        <p:spPr>
          <a:xfrm>
            <a:off x="6217920" y="3328416"/>
            <a:ext cx="2505456" cy="0"/>
          </a:xfrm>
          <a:prstGeom prst="line">
            <a:avLst/>
          </a:prstGeom>
          <a:noFill/>
          <a:ln w="3810">
            <a:solidFill>
              <a:srgbClr val="E2E8F0"/>
            </a:solidFill>
            <a:prstDash val="solid"/>
          </a:ln>
        </p:spPr>
      </p:sp>
      <p:sp>
        <p:nvSpPr>
          <p:cNvPr id="57" name="Text 55"/>
          <p:cNvSpPr/>
          <p:nvPr/>
        </p:nvSpPr>
        <p:spPr>
          <a:xfrm>
            <a:off x="6236208" y="3374136"/>
            <a:ext cx="713232" cy="237744"/>
          </a:xfrm>
          <a:prstGeom prst="rect">
            <a:avLst/>
          </a:prstGeom>
          <a:noFill/>
          <a:ln/>
        </p:spPr>
        <p:txBody>
          <a:bodyPr wrap="square" lIns="0" tIns="0" rIns="0" bIns="0" rtlCol="0" anchor="ctr"/>
          <a:lstStyle/>
          <a:p>
            <a:pPr indent="0" marL="0">
              <a:buNone/>
            </a:pPr>
            <a:r>
              <a:rPr lang="en-US" sz="800" b="1" dirty="0">
                <a:solidFill>
                  <a:srgbClr val="2563EB"/>
                </a:solidFill>
              </a:rPr>
              <a:t>Combined:</a:t>
            </a:r>
            <a:endParaRPr lang="en-US" sz="800" dirty="0"/>
          </a:p>
        </p:txBody>
      </p:sp>
      <p:sp>
        <p:nvSpPr>
          <p:cNvPr id="58" name="Text 56"/>
          <p:cNvSpPr/>
          <p:nvPr/>
        </p:nvSpPr>
        <p:spPr>
          <a:xfrm>
            <a:off x="6967728" y="3374136"/>
            <a:ext cx="1773936" cy="402336"/>
          </a:xfrm>
          <a:prstGeom prst="rect">
            <a:avLst/>
          </a:prstGeom>
          <a:noFill/>
          <a:ln/>
        </p:spPr>
        <p:txBody>
          <a:bodyPr wrap="square" lIns="0" tIns="0" rIns="0" bIns="0" rtlCol="0" anchor="ctr"/>
          <a:lstStyle/>
          <a:p>
            <a:pPr indent="0" marL="0">
              <a:buNone/>
            </a:pPr>
            <a:r>
              <a:rPr lang="en-US" sz="900" dirty="0">
                <a:solidFill>
                  <a:srgbClr val="1E293B"/>
                </a:solidFill>
              </a:rPr>
              <a:t>More complete feedback than either alone</a:t>
            </a:r>
            <a:endParaRPr lang="en-US" sz="900" dirty="0"/>
          </a:p>
        </p:txBody>
      </p:sp>
      <p:sp>
        <p:nvSpPr>
          <p:cNvPr id="59" name="Shape 57"/>
          <p:cNvSpPr/>
          <p:nvPr/>
        </p:nvSpPr>
        <p:spPr>
          <a:xfrm>
            <a:off x="6217920" y="3840480"/>
            <a:ext cx="2505456" cy="0"/>
          </a:xfrm>
          <a:prstGeom prst="line">
            <a:avLst/>
          </a:prstGeom>
          <a:noFill/>
          <a:ln w="3810">
            <a:solidFill>
              <a:srgbClr val="E2E8F0"/>
            </a:solidFill>
            <a:prstDash val="solid"/>
          </a:ln>
        </p:spPr>
      </p:sp>
      <p:sp>
        <p:nvSpPr>
          <p:cNvPr id="60" name="Text 58"/>
          <p:cNvSpPr/>
          <p:nvPr/>
        </p:nvSpPr>
        <p:spPr>
          <a:xfrm>
            <a:off x="6236208" y="3886200"/>
            <a:ext cx="713232" cy="237744"/>
          </a:xfrm>
          <a:prstGeom prst="rect">
            <a:avLst/>
          </a:prstGeom>
          <a:noFill/>
          <a:ln/>
        </p:spPr>
        <p:txBody>
          <a:bodyPr wrap="square" lIns="0" tIns="0" rIns="0" bIns="0" rtlCol="0" anchor="ctr"/>
          <a:lstStyle/>
          <a:p>
            <a:pPr indent="0" marL="0">
              <a:buNone/>
            </a:pPr>
            <a:r>
              <a:rPr lang="en-US" sz="800" b="1" dirty="0">
                <a:solidFill>
                  <a:srgbClr val="2563EB"/>
                </a:solidFill>
              </a:rPr>
              <a:t>Use when:</a:t>
            </a:r>
            <a:endParaRPr lang="en-US" sz="800" dirty="0"/>
          </a:p>
        </p:txBody>
      </p:sp>
      <p:sp>
        <p:nvSpPr>
          <p:cNvPr id="61" name="Text 59"/>
          <p:cNvSpPr/>
          <p:nvPr/>
        </p:nvSpPr>
        <p:spPr>
          <a:xfrm>
            <a:off x="6967728" y="3886200"/>
            <a:ext cx="1773936" cy="402336"/>
          </a:xfrm>
          <a:prstGeom prst="rect">
            <a:avLst/>
          </a:prstGeom>
          <a:noFill/>
          <a:ln/>
        </p:spPr>
        <p:txBody>
          <a:bodyPr wrap="square" lIns="0" tIns="0" rIns="0" bIns="0" rtlCol="0" anchor="ctr"/>
          <a:lstStyle/>
          <a:p>
            <a:pPr indent="0" marL="0">
              <a:buNone/>
            </a:pPr>
            <a:r>
              <a:rPr lang="en-US" sz="900" dirty="0">
                <a:solidFill>
                  <a:srgbClr val="1E293B"/>
                </a:solidFill>
              </a:rPr>
              <a:t>A mistake has real consequences (job, money, health)</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0F172A"/>
                </a:solidFill>
              </a:rPr>
              <a:t>What Changed? Why 2022 AI Is Not 2026 AI</a:t>
            </a:r>
            <a:endParaRPr lang="en-US" sz="2800" dirty="0"/>
          </a:p>
        </p:txBody>
      </p:sp>
      <p:sp>
        <p:nvSpPr>
          <p:cNvPr id="3" name="Text 1"/>
          <p:cNvSpPr/>
          <p:nvPr/>
        </p:nvSpPr>
        <p:spPr>
          <a:xfrm>
            <a:off x="457200" y="804672"/>
            <a:ext cx="8229600" cy="310896"/>
          </a:xfrm>
          <a:prstGeom prst="rect">
            <a:avLst/>
          </a:prstGeom>
          <a:noFill/>
          <a:ln/>
        </p:spPr>
        <p:txBody>
          <a:bodyPr wrap="square" lIns="0" tIns="0" rIns="0" bIns="0" rtlCol="0" anchor="ctr"/>
          <a:lstStyle/>
          <a:p>
            <a:pPr indent="0" marL="0">
              <a:buNone/>
            </a:pPr>
            <a:r>
              <a:rPr lang="en-US" sz="1300" dirty="0">
                <a:solidFill>
                  <a:srgbClr val="475569"/>
                </a:solidFill>
              </a:rPr>
              <a:t>If your mental model is old, you are using 20% of what it can do.</a:t>
            </a:r>
            <a:endParaRPr lang="en-US" sz="1300" dirty="0"/>
          </a:p>
        </p:txBody>
      </p:sp>
      <p:sp>
        <p:nvSpPr>
          <p:cNvPr id="4" name="Shape 2"/>
          <p:cNvSpPr/>
          <p:nvPr/>
        </p:nvSpPr>
        <p:spPr>
          <a:xfrm>
            <a:off x="457200" y="1143000"/>
            <a:ext cx="8229600" cy="0"/>
          </a:xfrm>
          <a:prstGeom prst="line">
            <a:avLst/>
          </a:prstGeom>
          <a:noFill/>
          <a:ln w="6350">
            <a:solidFill>
              <a:srgbClr val="E2E8F0"/>
            </a:solidFill>
            <a:prstDash val="solid"/>
          </a:ln>
        </p:spPr>
      </p:sp>
      <p:sp>
        <p:nvSpPr>
          <p:cNvPr id="5" name="Shape 3"/>
          <p:cNvSpPr/>
          <p:nvPr/>
        </p:nvSpPr>
        <p:spPr>
          <a:xfrm>
            <a:off x="365760" y="1261872"/>
            <a:ext cx="2724912" cy="1572768"/>
          </a:xfrm>
          <a:prstGeom prst="roundRect">
            <a:avLst>
              <a:gd name="adj" fmla="val 6977"/>
            </a:avLst>
          </a:prstGeom>
          <a:solidFill>
            <a:srgbClr val="FFFFFF"/>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6" name="Text 4"/>
          <p:cNvSpPr/>
          <p:nvPr/>
        </p:nvSpPr>
        <p:spPr>
          <a:xfrm>
            <a:off x="365760" y="1399032"/>
            <a:ext cx="2724912" cy="475488"/>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7" name="Text 5"/>
          <p:cNvSpPr/>
          <p:nvPr/>
        </p:nvSpPr>
        <p:spPr>
          <a:xfrm>
            <a:off x="475488" y="1883664"/>
            <a:ext cx="2505456" cy="292608"/>
          </a:xfrm>
          <a:prstGeom prst="rect">
            <a:avLst/>
          </a:prstGeom>
          <a:noFill/>
          <a:ln/>
        </p:spPr>
        <p:txBody>
          <a:bodyPr wrap="square" lIns="0" tIns="0" rIns="0" bIns="0" rtlCol="0" anchor="ctr"/>
          <a:lstStyle/>
          <a:p>
            <a:pPr algn="ctr" indent="0" marL="0">
              <a:buNone/>
            </a:pPr>
            <a:r>
              <a:rPr lang="en-US" sz="1200" b="1" dirty="0">
                <a:solidFill>
                  <a:srgbClr val="0D9488"/>
                </a:solidFill>
              </a:rPr>
              <a:t>Context ×1000</a:t>
            </a:r>
            <a:endParaRPr lang="en-US" sz="1200" dirty="0"/>
          </a:p>
        </p:txBody>
      </p:sp>
      <p:sp>
        <p:nvSpPr>
          <p:cNvPr id="8" name="Shape 6"/>
          <p:cNvSpPr/>
          <p:nvPr/>
        </p:nvSpPr>
        <p:spPr>
          <a:xfrm>
            <a:off x="475488" y="2194560"/>
            <a:ext cx="2505456" cy="0"/>
          </a:xfrm>
          <a:prstGeom prst="line">
            <a:avLst/>
          </a:prstGeom>
          <a:noFill/>
          <a:ln w="6350">
            <a:solidFill>
              <a:srgbClr val="E2E8F0"/>
            </a:solidFill>
            <a:prstDash val="solid"/>
          </a:ln>
        </p:spPr>
      </p:sp>
      <p:sp>
        <p:nvSpPr>
          <p:cNvPr id="9" name="Text 7"/>
          <p:cNvSpPr/>
          <p:nvPr/>
        </p:nvSpPr>
        <p:spPr>
          <a:xfrm>
            <a:off x="475488" y="2267712"/>
            <a:ext cx="2505456" cy="502920"/>
          </a:xfrm>
          <a:prstGeom prst="rect">
            <a:avLst/>
          </a:prstGeom>
          <a:noFill/>
          <a:ln/>
        </p:spPr>
        <p:txBody>
          <a:bodyPr wrap="square" lIns="0" tIns="0" rIns="0" bIns="0" rtlCol="0" anchor="ctr"/>
          <a:lstStyle/>
          <a:p>
            <a:pPr indent="0" marL="0">
              <a:buNone/>
            </a:pPr>
            <a:r>
              <a:rPr lang="en-US" sz="950" dirty="0">
                <a:solidFill>
                  <a:srgbClr val="475569"/>
                </a:solidFill>
              </a:rPr>
              <a:t>2022: a few thousand words. 2026: 750,000+ words — a whole book in one prompt.</a:t>
            </a:r>
            <a:endParaRPr lang="en-US" sz="950" dirty="0"/>
          </a:p>
        </p:txBody>
      </p:sp>
      <p:sp>
        <p:nvSpPr>
          <p:cNvPr id="10" name="Shape 8"/>
          <p:cNvSpPr/>
          <p:nvPr/>
        </p:nvSpPr>
        <p:spPr>
          <a:xfrm>
            <a:off x="3218688" y="1261872"/>
            <a:ext cx="2724912" cy="1572768"/>
          </a:xfrm>
          <a:prstGeom prst="roundRect">
            <a:avLst>
              <a:gd name="adj" fmla="val 6977"/>
            </a:avLst>
          </a:prstGeom>
          <a:solidFill>
            <a:srgbClr val="FFFFFF"/>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11" name="Text 9"/>
          <p:cNvSpPr/>
          <p:nvPr/>
        </p:nvSpPr>
        <p:spPr>
          <a:xfrm>
            <a:off x="3218688" y="1399032"/>
            <a:ext cx="2724912" cy="475488"/>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2" name="Text 10"/>
          <p:cNvSpPr/>
          <p:nvPr/>
        </p:nvSpPr>
        <p:spPr>
          <a:xfrm>
            <a:off x="3328416" y="1883664"/>
            <a:ext cx="2505456" cy="292608"/>
          </a:xfrm>
          <a:prstGeom prst="rect">
            <a:avLst/>
          </a:prstGeom>
          <a:noFill/>
          <a:ln/>
        </p:spPr>
        <p:txBody>
          <a:bodyPr wrap="square" lIns="0" tIns="0" rIns="0" bIns="0" rtlCol="0" anchor="ctr"/>
          <a:lstStyle/>
          <a:p>
            <a:pPr algn="ctr" indent="0" marL="0">
              <a:buNone/>
            </a:pPr>
            <a:r>
              <a:rPr lang="en-US" sz="1200" b="1" dirty="0">
                <a:solidFill>
                  <a:srgbClr val="2563EB"/>
                </a:solidFill>
              </a:rPr>
              <a:t>Real Reasoning</a:t>
            </a:r>
            <a:endParaRPr lang="en-US" sz="1200" dirty="0"/>
          </a:p>
        </p:txBody>
      </p:sp>
      <p:sp>
        <p:nvSpPr>
          <p:cNvPr id="13" name="Shape 11"/>
          <p:cNvSpPr/>
          <p:nvPr/>
        </p:nvSpPr>
        <p:spPr>
          <a:xfrm>
            <a:off x="3328416" y="2194560"/>
            <a:ext cx="2505456" cy="0"/>
          </a:xfrm>
          <a:prstGeom prst="line">
            <a:avLst/>
          </a:prstGeom>
          <a:noFill/>
          <a:ln w="6350">
            <a:solidFill>
              <a:srgbClr val="E2E8F0"/>
            </a:solidFill>
            <a:prstDash val="solid"/>
          </a:ln>
        </p:spPr>
      </p:sp>
      <p:sp>
        <p:nvSpPr>
          <p:cNvPr id="14" name="Text 12"/>
          <p:cNvSpPr/>
          <p:nvPr/>
        </p:nvSpPr>
        <p:spPr>
          <a:xfrm>
            <a:off x="3328416" y="2267712"/>
            <a:ext cx="2505456" cy="502920"/>
          </a:xfrm>
          <a:prstGeom prst="rect">
            <a:avLst/>
          </a:prstGeom>
          <a:noFill/>
          <a:ln/>
        </p:spPr>
        <p:txBody>
          <a:bodyPr wrap="square" lIns="0" tIns="0" rIns="0" bIns="0" rtlCol="0" anchor="ctr"/>
          <a:lstStyle/>
          <a:p>
            <a:pPr indent="0" marL="0">
              <a:buNone/>
            </a:pPr>
            <a:r>
              <a:rPr lang="en-US" sz="950" dirty="0">
                <a:solidFill>
                  <a:srgbClr val="475569"/>
                </a:solidFill>
              </a:rPr>
              <a:t>Models now think for seconds or minutes before answering. Complex tasks now work.</a:t>
            </a:r>
            <a:endParaRPr lang="en-US" sz="950" dirty="0"/>
          </a:p>
        </p:txBody>
      </p:sp>
      <p:sp>
        <p:nvSpPr>
          <p:cNvPr id="15" name="Shape 13"/>
          <p:cNvSpPr/>
          <p:nvPr/>
        </p:nvSpPr>
        <p:spPr>
          <a:xfrm>
            <a:off x="6071616" y="1261872"/>
            <a:ext cx="2724912" cy="1572768"/>
          </a:xfrm>
          <a:prstGeom prst="roundRect">
            <a:avLst>
              <a:gd name="adj" fmla="val 6977"/>
            </a:avLst>
          </a:prstGeom>
          <a:solidFill>
            <a:srgbClr val="FFFFFF"/>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16" name="Text 14"/>
          <p:cNvSpPr/>
          <p:nvPr/>
        </p:nvSpPr>
        <p:spPr>
          <a:xfrm>
            <a:off x="6071616" y="1399032"/>
            <a:ext cx="2724912" cy="475488"/>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7" name="Text 15"/>
          <p:cNvSpPr/>
          <p:nvPr/>
        </p:nvSpPr>
        <p:spPr>
          <a:xfrm>
            <a:off x="6181344" y="1883664"/>
            <a:ext cx="2505456" cy="292608"/>
          </a:xfrm>
          <a:prstGeom prst="rect">
            <a:avLst/>
          </a:prstGeom>
          <a:noFill/>
          <a:ln/>
        </p:spPr>
        <p:txBody>
          <a:bodyPr wrap="square" lIns="0" tIns="0" rIns="0" bIns="0" rtlCol="0" anchor="ctr"/>
          <a:lstStyle/>
          <a:p>
            <a:pPr algn="ctr" indent="0" marL="0">
              <a:buNone/>
            </a:pPr>
            <a:r>
              <a:rPr lang="en-US" sz="1200" b="1" dirty="0">
                <a:solidFill>
                  <a:srgbClr val="7C3AED"/>
                </a:solidFill>
              </a:rPr>
              <a:t>Web Search Built-In</a:t>
            </a:r>
            <a:endParaRPr lang="en-US" sz="1200" dirty="0"/>
          </a:p>
        </p:txBody>
      </p:sp>
      <p:sp>
        <p:nvSpPr>
          <p:cNvPr id="18" name="Shape 16"/>
          <p:cNvSpPr/>
          <p:nvPr/>
        </p:nvSpPr>
        <p:spPr>
          <a:xfrm>
            <a:off x="6181344" y="2194560"/>
            <a:ext cx="2505456" cy="0"/>
          </a:xfrm>
          <a:prstGeom prst="line">
            <a:avLst/>
          </a:prstGeom>
          <a:noFill/>
          <a:ln w="6350">
            <a:solidFill>
              <a:srgbClr val="E2E8F0"/>
            </a:solidFill>
            <a:prstDash val="solid"/>
          </a:ln>
        </p:spPr>
      </p:sp>
      <p:sp>
        <p:nvSpPr>
          <p:cNvPr id="19" name="Text 17"/>
          <p:cNvSpPr/>
          <p:nvPr/>
        </p:nvSpPr>
        <p:spPr>
          <a:xfrm>
            <a:off x="6181344" y="2267712"/>
            <a:ext cx="2505456" cy="502920"/>
          </a:xfrm>
          <a:prstGeom prst="rect">
            <a:avLst/>
          </a:prstGeom>
          <a:noFill/>
          <a:ln/>
        </p:spPr>
        <p:txBody>
          <a:bodyPr wrap="square" lIns="0" tIns="0" rIns="0" bIns="0" rtlCol="0" anchor="ctr"/>
          <a:lstStyle/>
          <a:p>
            <a:pPr indent="0" marL="0">
              <a:buNone/>
            </a:pPr>
            <a:r>
              <a:rPr lang="en-US" sz="950" dirty="0">
                <a:solidFill>
                  <a:srgbClr val="475569"/>
                </a:solidFill>
              </a:rPr>
              <a:t>AI can look things up mid-response. Current news, prices, regulations — all reachable.</a:t>
            </a:r>
            <a:endParaRPr lang="en-US" sz="950" dirty="0"/>
          </a:p>
        </p:txBody>
      </p:sp>
      <p:sp>
        <p:nvSpPr>
          <p:cNvPr id="20" name="Shape 18"/>
          <p:cNvSpPr/>
          <p:nvPr/>
        </p:nvSpPr>
        <p:spPr>
          <a:xfrm>
            <a:off x="365760" y="3017520"/>
            <a:ext cx="2724912" cy="1572768"/>
          </a:xfrm>
          <a:prstGeom prst="roundRect">
            <a:avLst>
              <a:gd name="adj" fmla="val 6977"/>
            </a:avLst>
          </a:prstGeom>
          <a:solidFill>
            <a:srgbClr val="FFFFFF"/>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21" name="Text 19"/>
          <p:cNvSpPr/>
          <p:nvPr/>
        </p:nvSpPr>
        <p:spPr>
          <a:xfrm>
            <a:off x="365760" y="3154680"/>
            <a:ext cx="2724912" cy="475488"/>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2" name="Text 20"/>
          <p:cNvSpPr/>
          <p:nvPr/>
        </p:nvSpPr>
        <p:spPr>
          <a:xfrm>
            <a:off x="475488" y="3639312"/>
            <a:ext cx="2505456" cy="292608"/>
          </a:xfrm>
          <a:prstGeom prst="rect">
            <a:avLst/>
          </a:prstGeom>
          <a:noFill/>
          <a:ln/>
        </p:spPr>
        <p:txBody>
          <a:bodyPr wrap="square" lIns="0" tIns="0" rIns="0" bIns="0" rtlCol="0" anchor="ctr"/>
          <a:lstStyle/>
          <a:p>
            <a:pPr algn="ctr" indent="0" marL="0">
              <a:buNone/>
            </a:pPr>
            <a:r>
              <a:rPr lang="en-US" sz="1200" b="1" dirty="0">
                <a:solidFill>
                  <a:srgbClr val="059669"/>
                </a:solidFill>
              </a:rPr>
              <a:t>Code Execution</a:t>
            </a:r>
            <a:endParaRPr lang="en-US" sz="1200" dirty="0"/>
          </a:p>
        </p:txBody>
      </p:sp>
      <p:sp>
        <p:nvSpPr>
          <p:cNvPr id="23" name="Shape 21"/>
          <p:cNvSpPr/>
          <p:nvPr/>
        </p:nvSpPr>
        <p:spPr>
          <a:xfrm>
            <a:off x="475488" y="3950208"/>
            <a:ext cx="2505456" cy="0"/>
          </a:xfrm>
          <a:prstGeom prst="line">
            <a:avLst/>
          </a:prstGeom>
          <a:noFill/>
          <a:ln w="6350">
            <a:solidFill>
              <a:srgbClr val="E2E8F0"/>
            </a:solidFill>
            <a:prstDash val="solid"/>
          </a:ln>
        </p:spPr>
      </p:sp>
      <p:sp>
        <p:nvSpPr>
          <p:cNvPr id="24" name="Text 22"/>
          <p:cNvSpPr/>
          <p:nvPr/>
        </p:nvSpPr>
        <p:spPr>
          <a:xfrm>
            <a:off x="475488" y="4023360"/>
            <a:ext cx="2505456" cy="502920"/>
          </a:xfrm>
          <a:prstGeom prst="rect">
            <a:avLst/>
          </a:prstGeom>
          <a:noFill/>
          <a:ln/>
        </p:spPr>
        <p:txBody>
          <a:bodyPr wrap="square" lIns="0" tIns="0" rIns="0" bIns="0" rtlCol="0" anchor="ctr"/>
          <a:lstStyle/>
          <a:p>
            <a:pPr indent="0" marL="0">
              <a:buNone/>
            </a:pPr>
            <a:r>
              <a:rPr lang="en-US" sz="950" dirty="0">
                <a:solidFill>
                  <a:srgbClr val="475569"/>
                </a:solidFill>
              </a:rPr>
              <a:t>AI can run actual calculations. No more estimating. Spreadsheets and simulations work.</a:t>
            </a:r>
            <a:endParaRPr lang="en-US" sz="950" dirty="0"/>
          </a:p>
        </p:txBody>
      </p:sp>
      <p:sp>
        <p:nvSpPr>
          <p:cNvPr id="25" name="Shape 23"/>
          <p:cNvSpPr/>
          <p:nvPr/>
        </p:nvSpPr>
        <p:spPr>
          <a:xfrm>
            <a:off x="3218688" y="3017520"/>
            <a:ext cx="2724912" cy="1572768"/>
          </a:xfrm>
          <a:prstGeom prst="roundRect">
            <a:avLst>
              <a:gd name="adj" fmla="val 6977"/>
            </a:avLst>
          </a:prstGeom>
          <a:solidFill>
            <a:srgbClr val="FFFFFF"/>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26" name="Text 24"/>
          <p:cNvSpPr/>
          <p:nvPr/>
        </p:nvSpPr>
        <p:spPr>
          <a:xfrm>
            <a:off x="3218688" y="3154680"/>
            <a:ext cx="2724912" cy="475488"/>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7" name="Text 25"/>
          <p:cNvSpPr/>
          <p:nvPr/>
        </p:nvSpPr>
        <p:spPr>
          <a:xfrm>
            <a:off x="3328416" y="3639312"/>
            <a:ext cx="2505456" cy="292608"/>
          </a:xfrm>
          <a:prstGeom prst="rect">
            <a:avLst/>
          </a:prstGeom>
          <a:noFill/>
          <a:ln/>
        </p:spPr>
        <p:txBody>
          <a:bodyPr wrap="square" lIns="0" tIns="0" rIns="0" bIns="0" rtlCol="0" anchor="ctr"/>
          <a:lstStyle/>
          <a:p>
            <a:pPr algn="ctr" indent="0" marL="0">
              <a:buNone/>
            </a:pPr>
            <a:r>
              <a:rPr lang="en-US" sz="1200" b="1" dirty="0">
                <a:solidFill>
                  <a:srgbClr val="D97706"/>
                </a:solidFill>
              </a:rPr>
              <a:t>Multimodal</a:t>
            </a:r>
            <a:endParaRPr lang="en-US" sz="1200" dirty="0"/>
          </a:p>
        </p:txBody>
      </p:sp>
      <p:sp>
        <p:nvSpPr>
          <p:cNvPr id="28" name="Shape 26"/>
          <p:cNvSpPr/>
          <p:nvPr/>
        </p:nvSpPr>
        <p:spPr>
          <a:xfrm>
            <a:off x="3328416" y="3950208"/>
            <a:ext cx="2505456" cy="0"/>
          </a:xfrm>
          <a:prstGeom prst="line">
            <a:avLst/>
          </a:prstGeom>
          <a:noFill/>
          <a:ln w="6350">
            <a:solidFill>
              <a:srgbClr val="E2E8F0"/>
            </a:solidFill>
            <a:prstDash val="solid"/>
          </a:ln>
        </p:spPr>
      </p:sp>
      <p:sp>
        <p:nvSpPr>
          <p:cNvPr id="29" name="Text 27"/>
          <p:cNvSpPr/>
          <p:nvPr/>
        </p:nvSpPr>
        <p:spPr>
          <a:xfrm>
            <a:off x="3328416" y="4023360"/>
            <a:ext cx="2505456" cy="502920"/>
          </a:xfrm>
          <a:prstGeom prst="rect">
            <a:avLst/>
          </a:prstGeom>
          <a:noFill/>
          <a:ln/>
        </p:spPr>
        <p:txBody>
          <a:bodyPr wrap="square" lIns="0" tIns="0" rIns="0" bIns="0" rtlCol="0" anchor="ctr"/>
          <a:lstStyle/>
          <a:p>
            <a:pPr indent="0" marL="0">
              <a:buNone/>
            </a:pPr>
            <a:r>
              <a:rPr lang="en-US" sz="950" dirty="0">
                <a:solidFill>
                  <a:srgbClr val="475569"/>
                </a:solidFill>
              </a:rPr>
              <a:t>Photos, PDFs, spreadsheets, voice memos — all accepted as input in one prompt.</a:t>
            </a:r>
            <a:endParaRPr lang="en-US" sz="950" dirty="0"/>
          </a:p>
        </p:txBody>
      </p:sp>
      <p:sp>
        <p:nvSpPr>
          <p:cNvPr id="30" name="Shape 28"/>
          <p:cNvSpPr/>
          <p:nvPr/>
        </p:nvSpPr>
        <p:spPr>
          <a:xfrm>
            <a:off x="6071616" y="3017520"/>
            <a:ext cx="2724912" cy="1572768"/>
          </a:xfrm>
          <a:prstGeom prst="roundRect">
            <a:avLst>
              <a:gd name="adj" fmla="val 6977"/>
            </a:avLst>
          </a:prstGeom>
          <a:solidFill>
            <a:srgbClr val="FFFFFF"/>
          </a:solidFill>
          <a:ln w="6350">
            <a:solidFill>
              <a:srgbClr val="E2E8F0"/>
            </a:solidFill>
            <a:prstDash val="solid"/>
          </a:ln>
          <a:effectLst>
            <a:outerShdw sx="100000" sy="100000" kx="0" ky="0" algn="bl" rotWithShape="0" blurRad="101600" dist="25400" dir="2700000">
              <a:srgbClr val="000000">
                <a:alpha val="10000"/>
              </a:srgbClr>
            </a:outerShdw>
          </a:effectLst>
        </p:spPr>
      </p:sp>
      <p:sp>
        <p:nvSpPr>
          <p:cNvPr id="31" name="Text 29"/>
          <p:cNvSpPr/>
          <p:nvPr/>
        </p:nvSpPr>
        <p:spPr>
          <a:xfrm>
            <a:off x="6071616" y="3154680"/>
            <a:ext cx="2724912" cy="475488"/>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32" name="Text 30"/>
          <p:cNvSpPr/>
          <p:nvPr/>
        </p:nvSpPr>
        <p:spPr>
          <a:xfrm>
            <a:off x="6181344" y="3639312"/>
            <a:ext cx="2505456" cy="292608"/>
          </a:xfrm>
          <a:prstGeom prst="rect">
            <a:avLst/>
          </a:prstGeom>
          <a:noFill/>
          <a:ln/>
        </p:spPr>
        <p:txBody>
          <a:bodyPr wrap="square" lIns="0" tIns="0" rIns="0" bIns="0" rtlCol="0" anchor="ctr"/>
          <a:lstStyle/>
          <a:p>
            <a:pPr algn="ctr" indent="0" marL="0">
              <a:buNone/>
            </a:pPr>
            <a:r>
              <a:rPr lang="en-US" sz="1200" b="1" dirty="0">
                <a:solidFill>
                  <a:srgbClr val="DC2626"/>
                </a:solidFill>
              </a:rPr>
              <a:t>Desktop Agents</a:t>
            </a:r>
            <a:endParaRPr lang="en-US" sz="1200" dirty="0"/>
          </a:p>
        </p:txBody>
      </p:sp>
      <p:sp>
        <p:nvSpPr>
          <p:cNvPr id="33" name="Shape 31"/>
          <p:cNvSpPr/>
          <p:nvPr/>
        </p:nvSpPr>
        <p:spPr>
          <a:xfrm>
            <a:off x="6181344" y="3950208"/>
            <a:ext cx="2505456" cy="0"/>
          </a:xfrm>
          <a:prstGeom prst="line">
            <a:avLst/>
          </a:prstGeom>
          <a:noFill/>
          <a:ln w="6350">
            <a:solidFill>
              <a:srgbClr val="E2E8F0"/>
            </a:solidFill>
            <a:prstDash val="solid"/>
          </a:ln>
        </p:spPr>
      </p:sp>
      <p:sp>
        <p:nvSpPr>
          <p:cNvPr id="34" name="Text 32"/>
          <p:cNvSpPr/>
          <p:nvPr/>
        </p:nvSpPr>
        <p:spPr>
          <a:xfrm>
            <a:off x="6181344" y="4023360"/>
            <a:ext cx="2505456" cy="502920"/>
          </a:xfrm>
          <a:prstGeom prst="rect">
            <a:avLst/>
          </a:prstGeom>
          <a:noFill/>
          <a:ln/>
        </p:spPr>
        <p:txBody>
          <a:bodyPr wrap="square" lIns="0" tIns="0" rIns="0" bIns="0" rtlCol="0" anchor="ctr"/>
          <a:lstStyle/>
          <a:p>
            <a:pPr indent="0" marL="0">
              <a:buNone/>
            </a:pPr>
            <a:r>
              <a:rPr lang="en-US" sz="950" dirty="0">
                <a:solidFill>
                  <a:srgbClr val="475569"/>
                </a:solidFill>
              </a:rPr>
              <a:t>Cowork, OpenWork, Claude Code — AI can now act on your actual files with your permission.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74320"/>
            <a:ext cx="8229600" cy="438912"/>
          </a:xfrm>
          <a:prstGeom prst="rect">
            <a:avLst/>
          </a:prstGeom>
          <a:noFill/>
          <a:ln/>
        </p:spPr>
        <p:txBody>
          <a:bodyPr wrap="square" lIns="0" tIns="0" rIns="0" bIns="0" rtlCol="0" anchor="ctr"/>
          <a:lstStyle/>
          <a:p>
            <a:pPr indent="0" marL="0">
              <a:buNone/>
            </a:pPr>
            <a:r>
              <a:rPr lang="en-US" sz="2400" b="1" dirty="0">
                <a:solidFill>
                  <a:srgbClr val="0F172A"/>
                </a:solidFill>
              </a:rPr>
              <a:t>All 13 Concepts — Cheat Sheet</a:t>
            </a:r>
            <a:endParaRPr lang="en-US" sz="2400" dirty="0"/>
          </a:p>
        </p:txBody>
      </p:sp>
      <p:sp>
        <p:nvSpPr>
          <p:cNvPr id="3" name="Shape 1"/>
          <p:cNvSpPr/>
          <p:nvPr/>
        </p:nvSpPr>
        <p:spPr>
          <a:xfrm>
            <a:off x="457200" y="731520"/>
            <a:ext cx="8229600" cy="0"/>
          </a:xfrm>
          <a:prstGeom prst="line">
            <a:avLst/>
          </a:prstGeom>
          <a:noFill/>
          <a:ln w="6350">
            <a:solidFill>
              <a:srgbClr val="E2E8F0"/>
            </a:solidFill>
            <a:prstDash val="solid"/>
          </a:ln>
        </p:spPr>
      </p:sp>
      <p:sp>
        <p:nvSpPr>
          <p:cNvPr id="4" name="Shape 2"/>
          <p:cNvSpPr/>
          <p:nvPr/>
        </p:nvSpPr>
        <p:spPr>
          <a:xfrm>
            <a:off x="347472" y="914400"/>
            <a:ext cx="256032" cy="256032"/>
          </a:xfrm>
          <a:prstGeom prst="ellipse">
            <a:avLst/>
          </a:prstGeom>
          <a:solidFill>
            <a:srgbClr val="0D9488"/>
          </a:solidFill>
          <a:ln w="12700">
            <a:solidFill>
              <a:srgbClr val="0D9488"/>
            </a:solidFill>
            <a:prstDash val="solid"/>
          </a:ln>
        </p:spPr>
      </p:sp>
      <p:sp>
        <p:nvSpPr>
          <p:cNvPr id="5" name="Text 3"/>
          <p:cNvSpPr/>
          <p:nvPr/>
        </p:nvSpPr>
        <p:spPr>
          <a:xfrm>
            <a:off x="347472" y="91440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6" name="Text 4"/>
          <p:cNvSpPr/>
          <p:nvPr/>
        </p:nvSpPr>
        <p:spPr>
          <a:xfrm>
            <a:off x="676656" y="859536"/>
            <a:ext cx="1828800" cy="237744"/>
          </a:xfrm>
          <a:prstGeom prst="rect">
            <a:avLst/>
          </a:prstGeom>
          <a:noFill/>
          <a:ln/>
        </p:spPr>
        <p:txBody>
          <a:bodyPr wrap="square" lIns="0" tIns="0" rIns="0" bIns="0" rtlCol="0" anchor="ctr"/>
          <a:lstStyle/>
          <a:p>
            <a:pPr indent="0" marL="0">
              <a:buNone/>
            </a:pPr>
            <a:r>
              <a:rPr lang="en-US" sz="1050" b="1" dirty="0">
                <a:solidFill>
                  <a:srgbClr val="0F172A"/>
                </a:solidFill>
              </a:rPr>
              <a:t>Novice vs Power User</a:t>
            </a:r>
            <a:endParaRPr lang="en-US" sz="1050" dirty="0"/>
          </a:p>
        </p:txBody>
      </p:sp>
      <p:sp>
        <p:nvSpPr>
          <p:cNvPr id="7" name="Text 5"/>
          <p:cNvSpPr/>
          <p:nvPr/>
        </p:nvSpPr>
        <p:spPr>
          <a:xfrm>
            <a:off x="676656" y="1097280"/>
            <a:ext cx="4023360" cy="237744"/>
          </a:xfrm>
          <a:prstGeom prst="rect">
            <a:avLst/>
          </a:prstGeom>
          <a:noFill/>
          <a:ln/>
        </p:spPr>
        <p:txBody>
          <a:bodyPr wrap="square" lIns="0" tIns="0" rIns="0" bIns="0" rtlCol="0" anchor="ctr"/>
          <a:lstStyle/>
          <a:p>
            <a:pPr indent="0" marL="0">
              <a:buNone/>
            </a:pPr>
            <a:r>
              <a:rPr lang="en-US" sz="900" dirty="0">
                <a:solidFill>
                  <a:srgbClr val="94A3B8"/>
                </a:solidFill>
              </a:rPr>
              <a:t>Brief AI with context, constraints, and output format — not just the question</a:t>
            </a:r>
            <a:endParaRPr lang="en-US" sz="900" dirty="0"/>
          </a:p>
        </p:txBody>
      </p:sp>
      <p:sp>
        <p:nvSpPr>
          <p:cNvPr id="8" name="Shape 6"/>
          <p:cNvSpPr/>
          <p:nvPr/>
        </p:nvSpPr>
        <p:spPr>
          <a:xfrm>
            <a:off x="365760" y="1389888"/>
            <a:ext cx="4206240" cy="0"/>
          </a:xfrm>
          <a:prstGeom prst="line">
            <a:avLst/>
          </a:prstGeom>
          <a:noFill/>
          <a:ln w="3810">
            <a:solidFill>
              <a:srgbClr val="E2E8F0"/>
            </a:solidFill>
            <a:prstDash val="solid"/>
          </a:ln>
        </p:spPr>
      </p:sp>
      <p:sp>
        <p:nvSpPr>
          <p:cNvPr id="9" name="Shape 7"/>
          <p:cNvSpPr/>
          <p:nvPr/>
        </p:nvSpPr>
        <p:spPr>
          <a:xfrm>
            <a:off x="347472" y="1490472"/>
            <a:ext cx="256032" cy="256032"/>
          </a:xfrm>
          <a:prstGeom prst="ellipse">
            <a:avLst/>
          </a:prstGeom>
          <a:solidFill>
            <a:srgbClr val="0D9488"/>
          </a:solidFill>
          <a:ln w="12700">
            <a:solidFill>
              <a:srgbClr val="0D9488"/>
            </a:solidFill>
            <a:prstDash val="solid"/>
          </a:ln>
        </p:spPr>
      </p:sp>
      <p:sp>
        <p:nvSpPr>
          <p:cNvPr id="10" name="Text 8"/>
          <p:cNvSpPr/>
          <p:nvPr/>
        </p:nvSpPr>
        <p:spPr>
          <a:xfrm>
            <a:off x="347472" y="14904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1" name="Text 9"/>
          <p:cNvSpPr/>
          <p:nvPr/>
        </p:nvSpPr>
        <p:spPr>
          <a:xfrm>
            <a:off x="676656" y="1435608"/>
            <a:ext cx="1828800" cy="237744"/>
          </a:xfrm>
          <a:prstGeom prst="rect">
            <a:avLst/>
          </a:prstGeom>
          <a:noFill/>
          <a:ln/>
        </p:spPr>
        <p:txBody>
          <a:bodyPr wrap="square" lIns="0" tIns="0" rIns="0" bIns="0" rtlCol="0" anchor="ctr"/>
          <a:lstStyle/>
          <a:p>
            <a:pPr indent="0" marL="0">
              <a:buNone/>
            </a:pPr>
            <a:r>
              <a:rPr lang="en-US" sz="1050" b="1" dirty="0">
                <a:solidFill>
                  <a:srgbClr val="0F172A"/>
                </a:solidFill>
              </a:rPr>
              <a:t>Pretrained Knowledge</a:t>
            </a:r>
            <a:endParaRPr lang="en-US" sz="1050" dirty="0"/>
          </a:p>
        </p:txBody>
      </p:sp>
      <p:sp>
        <p:nvSpPr>
          <p:cNvPr id="12" name="Text 10"/>
          <p:cNvSpPr/>
          <p:nvPr/>
        </p:nvSpPr>
        <p:spPr>
          <a:xfrm>
            <a:off x="676656" y="1673352"/>
            <a:ext cx="4023360" cy="237744"/>
          </a:xfrm>
          <a:prstGeom prst="rect">
            <a:avLst/>
          </a:prstGeom>
          <a:noFill/>
          <a:ln/>
        </p:spPr>
        <p:txBody>
          <a:bodyPr wrap="square" lIns="0" tIns="0" rIns="0" bIns="0" rtlCol="0" anchor="ctr"/>
          <a:lstStyle/>
          <a:p>
            <a:pPr indent="0" marL="0">
              <a:buNone/>
            </a:pPr>
            <a:r>
              <a:rPr lang="en-US" sz="900" dirty="0">
                <a:solidFill>
                  <a:srgbClr val="94A3B8"/>
                </a:solidFill>
              </a:rPr>
              <a:t>High frequency in training = reliable. Rare or recent = verify</a:t>
            </a:r>
            <a:endParaRPr lang="en-US" sz="900" dirty="0"/>
          </a:p>
        </p:txBody>
      </p:sp>
      <p:sp>
        <p:nvSpPr>
          <p:cNvPr id="13" name="Shape 11"/>
          <p:cNvSpPr/>
          <p:nvPr/>
        </p:nvSpPr>
        <p:spPr>
          <a:xfrm>
            <a:off x="365760" y="1965960"/>
            <a:ext cx="4206240" cy="0"/>
          </a:xfrm>
          <a:prstGeom prst="line">
            <a:avLst/>
          </a:prstGeom>
          <a:noFill/>
          <a:ln w="3810">
            <a:solidFill>
              <a:srgbClr val="E2E8F0"/>
            </a:solidFill>
            <a:prstDash val="solid"/>
          </a:ln>
        </p:spPr>
      </p:sp>
      <p:sp>
        <p:nvSpPr>
          <p:cNvPr id="14" name="Shape 12"/>
          <p:cNvSpPr/>
          <p:nvPr/>
        </p:nvSpPr>
        <p:spPr>
          <a:xfrm>
            <a:off x="347472" y="2066544"/>
            <a:ext cx="256032" cy="256032"/>
          </a:xfrm>
          <a:prstGeom prst="ellipse">
            <a:avLst/>
          </a:prstGeom>
          <a:solidFill>
            <a:srgbClr val="0D9488"/>
          </a:solidFill>
          <a:ln w="12700">
            <a:solidFill>
              <a:srgbClr val="0D9488"/>
            </a:solidFill>
            <a:prstDash val="solid"/>
          </a:ln>
        </p:spPr>
      </p:sp>
      <p:sp>
        <p:nvSpPr>
          <p:cNvPr id="15" name="Text 13"/>
          <p:cNvSpPr/>
          <p:nvPr/>
        </p:nvSpPr>
        <p:spPr>
          <a:xfrm>
            <a:off x="347472" y="206654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16" name="Text 14"/>
          <p:cNvSpPr/>
          <p:nvPr/>
        </p:nvSpPr>
        <p:spPr>
          <a:xfrm>
            <a:off x="676656" y="2011680"/>
            <a:ext cx="1828800" cy="237744"/>
          </a:xfrm>
          <a:prstGeom prst="rect">
            <a:avLst/>
          </a:prstGeom>
          <a:noFill/>
          <a:ln/>
        </p:spPr>
        <p:txBody>
          <a:bodyPr wrap="square" lIns="0" tIns="0" rIns="0" bIns="0" rtlCol="0" anchor="ctr"/>
          <a:lstStyle/>
          <a:p>
            <a:pPr indent="0" marL="0">
              <a:buNone/>
            </a:pPr>
            <a:r>
              <a:rPr lang="en-US" sz="1050" b="1" dirty="0">
                <a:solidFill>
                  <a:srgbClr val="0F172A"/>
                </a:solidFill>
              </a:rPr>
              <a:t>3 Retrieval Modes</a:t>
            </a:r>
            <a:endParaRPr lang="en-US" sz="1050" dirty="0"/>
          </a:p>
        </p:txBody>
      </p:sp>
      <p:sp>
        <p:nvSpPr>
          <p:cNvPr id="17" name="Text 15"/>
          <p:cNvSpPr/>
          <p:nvPr/>
        </p:nvSpPr>
        <p:spPr>
          <a:xfrm>
            <a:off x="676656" y="2249424"/>
            <a:ext cx="4023360" cy="237744"/>
          </a:xfrm>
          <a:prstGeom prst="rect">
            <a:avLst/>
          </a:prstGeom>
          <a:noFill/>
          <a:ln/>
        </p:spPr>
        <p:txBody>
          <a:bodyPr wrap="square" lIns="0" tIns="0" rIns="0" bIns="0" rtlCol="0" anchor="ctr"/>
          <a:lstStyle/>
          <a:p>
            <a:pPr indent="0" marL="0">
              <a:buNone/>
            </a:pPr>
            <a:r>
              <a:rPr lang="en-US" sz="900" dirty="0">
                <a:solidFill>
                  <a:srgbClr val="94A3B8"/>
                </a:solidFill>
              </a:rPr>
              <a:t>Memory / Web Search / Deep Research — your words pick the mode</a:t>
            </a:r>
            <a:endParaRPr lang="en-US" sz="900" dirty="0"/>
          </a:p>
        </p:txBody>
      </p:sp>
      <p:sp>
        <p:nvSpPr>
          <p:cNvPr id="18" name="Shape 16"/>
          <p:cNvSpPr/>
          <p:nvPr/>
        </p:nvSpPr>
        <p:spPr>
          <a:xfrm>
            <a:off x="365760" y="2542032"/>
            <a:ext cx="4206240" cy="0"/>
          </a:xfrm>
          <a:prstGeom prst="line">
            <a:avLst/>
          </a:prstGeom>
          <a:noFill/>
          <a:ln w="3810">
            <a:solidFill>
              <a:srgbClr val="E2E8F0"/>
            </a:solidFill>
            <a:prstDash val="solid"/>
          </a:ln>
        </p:spPr>
      </p:sp>
      <p:sp>
        <p:nvSpPr>
          <p:cNvPr id="19" name="Shape 17"/>
          <p:cNvSpPr/>
          <p:nvPr/>
        </p:nvSpPr>
        <p:spPr>
          <a:xfrm>
            <a:off x="347472" y="2642616"/>
            <a:ext cx="256032" cy="256032"/>
          </a:xfrm>
          <a:prstGeom prst="ellipse">
            <a:avLst/>
          </a:prstGeom>
          <a:solidFill>
            <a:srgbClr val="D97706"/>
          </a:solidFill>
          <a:ln w="12700">
            <a:solidFill>
              <a:srgbClr val="D97706"/>
            </a:solidFill>
            <a:prstDash val="solid"/>
          </a:ln>
        </p:spPr>
      </p:sp>
      <p:sp>
        <p:nvSpPr>
          <p:cNvPr id="20" name="Text 18"/>
          <p:cNvSpPr/>
          <p:nvPr/>
        </p:nvSpPr>
        <p:spPr>
          <a:xfrm>
            <a:off x="347472" y="26426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21" name="Text 19"/>
          <p:cNvSpPr/>
          <p:nvPr/>
        </p:nvSpPr>
        <p:spPr>
          <a:xfrm>
            <a:off x="676656" y="2587752"/>
            <a:ext cx="1828800" cy="237744"/>
          </a:xfrm>
          <a:prstGeom prst="rect">
            <a:avLst/>
          </a:prstGeom>
          <a:noFill/>
          <a:ln/>
        </p:spPr>
        <p:txBody>
          <a:bodyPr wrap="square" lIns="0" tIns="0" rIns="0" bIns="0" rtlCol="0" anchor="ctr"/>
          <a:lstStyle/>
          <a:p>
            <a:pPr indent="0" marL="0">
              <a:buNone/>
            </a:pPr>
            <a:r>
              <a:rPr lang="en-US" sz="1050" b="1" dirty="0">
                <a:solidFill>
                  <a:srgbClr val="0F172A"/>
                </a:solidFill>
              </a:rPr>
              <a:t>Context Template</a:t>
            </a:r>
            <a:endParaRPr lang="en-US" sz="1050" dirty="0"/>
          </a:p>
        </p:txBody>
      </p:sp>
      <p:sp>
        <p:nvSpPr>
          <p:cNvPr id="22" name="Text 20"/>
          <p:cNvSpPr/>
          <p:nvPr/>
        </p:nvSpPr>
        <p:spPr>
          <a:xfrm>
            <a:off x="676656" y="2825496"/>
            <a:ext cx="4023360" cy="237744"/>
          </a:xfrm>
          <a:prstGeom prst="rect">
            <a:avLst/>
          </a:prstGeom>
          <a:noFill/>
          <a:ln/>
        </p:spPr>
        <p:txBody>
          <a:bodyPr wrap="square" lIns="0" tIns="0" rIns="0" bIns="0" rtlCol="0" anchor="ctr"/>
          <a:lstStyle/>
          <a:p>
            <a:pPr indent="0" marL="0">
              <a:buNone/>
            </a:pPr>
            <a:r>
              <a:rPr lang="en-US" sz="900" dirty="0">
                <a:solidFill>
                  <a:srgbClr val="94A3B8"/>
                </a:solidFill>
              </a:rPr>
              <a:t>Task + facts + 'What I want back:' = immediately usable answer</a:t>
            </a:r>
            <a:endParaRPr lang="en-US" sz="900" dirty="0"/>
          </a:p>
        </p:txBody>
      </p:sp>
      <p:sp>
        <p:nvSpPr>
          <p:cNvPr id="23" name="Shape 21"/>
          <p:cNvSpPr/>
          <p:nvPr/>
        </p:nvSpPr>
        <p:spPr>
          <a:xfrm>
            <a:off x="365760" y="3118104"/>
            <a:ext cx="4206240" cy="0"/>
          </a:xfrm>
          <a:prstGeom prst="line">
            <a:avLst/>
          </a:prstGeom>
          <a:noFill/>
          <a:ln w="3810">
            <a:solidFill>
              <a:srgbClr val="E2E8F0"/>
            </a:solidFill>
            <a:prstDash val="solid"/>
          </a:ln>
        </p:spPr>
      </p:sp>
      <p:sp>
        <p:nvSpPr>
          <p:cNvPr id="24" name="Shape 22"/>
          <p:cNvSpPr/>
          <p:nvPr/>
        </p:nvSpPr>
        <p:spPr>
          <a:xfrm>
            <a:off x="347472" y="3218688"/>
            <a:ext cx="256032" cy="256032"/>
          </a:xfrm>
          <a:prstGeom prst="ellipse">
            <a:avLst/>
          </a:prstGeom>
          <a:solidFill>
            <a:srgbClr val="D97706"/>
          </a:solidFill>
          <a:ln w="12700">
            <a:solidFill>
              <a:srgbClr val="D97706"/>
            </a:solidFill>
            <a:prstDash val="solid"/>
          </a:ln>
        </p:spPr>
      </p:sp>
      <p:sp>
        <p:nvSpPr>
          <p:cNvPr id="25" name="Text 23"/>
          <p:cNvSpPr/>
          <p:nvPr/>
        </p:nvSpPr>
        <p:spPr>
          <a:xfrm>
            <a:off x="347472" y="32186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26" name="Text 24"/>
          <p:cNvSpPr/>
          <p:nvPr/>
        </p:nvSpPr>
        <p:spPr>
          <a:xfrm>
            <a:off x="676656" y="3163824"/>
            <a:ext cx="1828800" cy="237744"/>
          </a:xfrm>
          <a:prstGeom prst="rect">
            <a:avLst/>
          </a:prstGeom>
          <a:noFill/>
          <a:ln/>
        </p:spPr>
        <p:txBody>
          <a:bodyPr wrap="square" lIns="0" tIns="0" rIns="0" bIns="0" rtlCol="0" anchor="ctr"/>
          <a:lstStyle/>
          <a:p>
            <a:pPr indent="0" marL="0">
              <a:buNone/>
            </a:pPr>
            <a:r>
              <a:rPr lang="en-US" sz="1050" b="1" dirty="0">
                <a:solidFill>
                  <a:srgbClr val="0F172A"/>
                </a:solidFill>
              </a:rPr>
              <a:t>Think Hard</a:t>
            </a:r>
            <a:endParaRPr lang="en-US" sz="1050" dirty="0"/>
          </a:p>
        </p:txBody>
      </p:sp>
      <p:sp>
        <p:nvSpPr>
          <p:cNvPr id="27" name="Text 25"/>
          <p:cNvSpPr/>
          <p:nvPr/>
        </p:nvSpPr>
        <p:spPr>
          <a:xfrm>
            <a:off x="676656" y="3401568"/>
            <a:ext cx="4023360" cy="237744"/>
          </a:xfrm>
          <a:prstGeom prst="rect">
            <a:avLst/>
          </a:prstGeom>
          <a:noFill/>
          <a:ln/>
        </p:spPr>
        <p:txBody>
          <a:bodyPr wrap="square" lIns="0" tIns="0" rIns="0" bIns="0" rtlCol="0" anchor="ctr"/>
          <a:lstStyle/>
          <a:p>
            <a:pPr indent="0" marL="0">
              <a:buNone/>
            </a:pPr>
            <a:r>
              <a:rPr lang="en-US" sz="900" dirty="0">
                <a:solidFill>
                  <a:srgbClr val="94A3B8"/>
                </a:solidFill>
              </a:rPr>
              <a:t>Add for complex decisions. Ask for trade-offs + conditions + recommendation</a:t>
            </a:r>
            <a:endParaRPr lang="en-US" sz="900" dirty="0"/>
          </a:p>
        </p:txBody>
      </p:sp>
      <p:sp>
        <p:nvSpPr>
          <p:cNvPr id="28" name="Shape 26"/>
          <p:cNvSpPr/>
          <p:nvPr/>
        </p:nvSpPr>
        <p:spPr>
          <a:xfrm>
            <a:off x="365760" y="3694176"/>
            <a:ext cx="4206240" cy="0"/>
          </a:xfrm>
          <a:prstGeom prst="line">
            <a:avLst/>
          </a:prstGeom>
          <a:noFill/>
          <a:ln w="3810">
            <a:solidFill>
              <a:srgbClr val="E2E8F0"/>
            </a:solidFill>
            <a:prstDash val="solid"/>
          </a:ln>
        </p:spPr>
      </p:sp>
      <p:sp>
        <p:nvSpPr>
          <p:cNvPr id="29" name="Shape 27"/>
          <p:cNvSpPr/>
          <p:nvPr/>
        </p:nvSpPr>
        <p:spPr>
          <a:xfrm>
            <a:off x="347472" y="3794760"/>
            <a:ext cx="256032" cy="256032"/>
          </a:xfrm>
          <a:prstGeom prst="ellipse">
            <a:avLst/>
          </a:prstGeom>
          <a:solidFill>
            <a:srgbClr val="D97706"/>
          </a:solidFill>
          <a:ln w="12700">
            <a:solidFill>
              <a:srgbClr val="D97706"/>
            </a:solidFill>
            <a:prstDash val="solid"/>
          </a:ln>
        </p:spPr>
      </p:sp>
      <p:sp>
        <p:nvSpPr>
          <p:cNvPr id="30" name="Text 28"/>
          <p:cNvSpPr/>
          <p:nvPr/>
        </p:nvSpPr>
        <p:spPr>
          <a:xfrm>
            <a:off x="347472" y="379476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6</a:t>
            </a:r>
            <a:endParaRPr lang="en-US" sz="900" dirty="0"/>
          </a:p>
        </p:txBody>
      </p:sp>
      <p:sp>
        <p:nvSpPr>
          <p:cNvPr id="31" name="Text 29"/>
          <p:cNvSpPr/>
          <p:nvPr/>
        </p:nvSpPr>
        <p:spPr>
          <a:xfrm>
            <a:off x="676656" y="3739896"/>
            <a:ext cx="1828800" cy="237744"/>
          </a:xfrm>
          <a:prstGeom prst="rect">
            <a:avLst/>
          </a:prstGeom>
          <a:noFill/>
          <a:ln/>
        </p:spPr>
        <p:txBody>
          <a:bodyPr wrap="square" lIns="0" tIns="0" rIns="0" bIns="0" rtlCol="0" anchor="ctr"/>
          <a:lstStyle/>
          <a:p>
            <a:pPr indent="0" marL="0">
              <a:buNone/>
            </a:pPr>
            <a:r>
              <a:rPr lang="en-US" sz="1050" b="1" dirty="0">
                <a:solidFill>
                  <a:srgbClr val="0F172A"/>
                </a:solidFill>
              </a:rPr>
              <a:t>Stop Flattery</a:t>
            </a:r>
            <a:endParaRPr lang="en-US" sz="1050" dirty="0"/>
          </a:p>
        </p:txBody>
      </p:sp>
      <p:sp>
        <p:nvSpPr>
          <p:cNvPr id="32" name="Text 30"/>
          <p:cNvSpPr/>
          <p:nvPr/>
        </p:nvSpPr>
        <p:spPr>
          <a:xfrm>
            <a:off x="676656" y="3977640"/>
            <a:ext cx="4023360" cy="237744"/>
          </a:xfrm>
          <a:prstGeom prst="rect">
            <a:avLst/>
          </a:prstGeom>
          <a:noFill/>
          <a:ln/>
        </p:spPr>
        <p:txBody>
          <a:bodyPr wrap="square" lIns="0" tIns="0" rIns="0" bIns="0" rtlCol="0" anchor="ctr"/>
          <a:lstStyle/>
          <a:p>
            <a:pPr indent="0" marL="0">
              <a:buNone/>
            </a:pPr>
            <a:r>
              <a:rPr lang="en-US" sz="900" dirty="0">
                <a:solidFill>
                  <a:srgbClr val="94A3B8"/>
                </a:solidFill>
              </a:rPr>
              <a:t>Replace bait verbs with: compare / evaluate / list both sides</a:t>
            </a:r>
            <a:endParaRPr lang="en-US" sz="900" dirty="0"/>
          </a:p>
        </p:txBody>
      </p:sp>
      <p:sp>
        <p:nvSpPr>
          <p:cNvPr id="33" name="Shape 31"/>
          <p:cNvSpPr/>
          <p:nvPr/>
        </p:nvSpPr>
        <p:spPr>
          <a:xfrm>
            <a:off x="365760" y="4270248"/>
            <a:ext cx="4206240" cy="0"/>
          </a:xfrm>
          <a:prstGeom prst="line">
            <a:avLst/>
          </a:prstGeom>
          <a:noFill/>
          <a:ln w="3810">
            <a:solidFill>
              <a:srgbClr val="E2E8F0"/>
            </a:solidFill>
            <a:prstDash val="solid"/>
          </a:ln>
        </p:spPr>
      </p:sp>
      <p:sp>
        <p:nvSpPr>
          <p:cNvPr id="34" name="Shape 32"/>
          <p:cNvSpPr/>
          <p:nvPr/>
        </p:nvSpPr>
        <p:spPr>
          <a:xfrm>
            <a:off x="347472" y="4370832"/>
            <a:ext cx="256032" cy="256032"/>
          </a:xfrm>
          <a:prstGeom prst="ellipse">
            <a:avLst/>
          </a:prstGeom>
          <a:solidFill>
            <a:srgbClr val="D97706"/>
          </a:solidFill>
          <a:ln w="12700">
            <a:solidFill>
              <a:srgbClr val="D97706"/>
            </a:solidFill>
            <a:prstDash val="solid"/>
          </a:ln>
        </p:spPr>
      </p:sp>
      <p:sp>
        <p:nvSpPr>
          <p:cNvPr id="35" name="Text 33"/>
          <p:cNvSpPr/>
          <p:nvPr/>
        </p:nvSpPr>
        <p:spPr>
          <a:xfrm>
            <a:off x="347472" y="43708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7</a:t>
            </a:r>
            <a:endParaRPr lang="en-US" sz="900" dirty="0"/>
          </a:p>
        </p:txBody>
      </p:sp>
      <p:sp>
        <p:nvSpPr>
          <p:cNvPr id="36" name="Text 34"/>
          <p:cNvSpPr/>
          <p:nvPr/>
        </p:nvSpPr>
        <p:spPr>
          <a:xfrm>
            <a:off x="676656" y="4315968"/>
            <a:ext cx="1828800" cy="237744"/>
          </a:xfrm>
          <a:prstGeom prst="rect">
            <a:avLst/>
          </a:prstGeom>
          <a:noFill/>
          <a:ln/>
        </p:spPr>
        <p:txBody>
          <a:bodyPr wrap="square" lIns="0" tIns="0" rIns="0" bIns="0" rtlCol="0" anchor="ctr"/>
          <a:lstStyle/>
          <a:p>
            <a:pPr indent="0" marL="0">
              <a:buNone/>
            </a:pPr>
            <a:r>
              <a:rPr lang="en-US" sz="1050" b="1" dirty="0">
                <a:solidFill>
                  <a:srgbClr val="0F172A"/>
                </a:solidFill>
              </a:rPr>
              <a:t>Brainstorm–Iterate</a:t>
            </a:r>
            <a:endParaRPr lang="en-US" sz="1050" dirty="0"/>
          </a:p>
        </p:txBody>
      </p:sp>
      <p:sp>
        <p:nvSpPr>
          <p:cNvPr id="37" name="Text 35"/>
          <p:cNvSpPr/>
          <p:nvPr/>
        </p:nvSpPr>
        <p:spPr>
          <a:xfrm>
            <a:off x="676656" y="4553712"/>
            <a:ext cx="4023360" cy="237744"/>
          </a:xfrm>
          <a:prstGeom prst="rect">
            <a:avLst/>
          </a:prstGeom>
          <a:noFill/>
          <a:ln/>
        </p:spPr>
        <p:txBody>
          <a:bodyPr wrap="square" lIns="0" tIns="0" rIns="0" bIns="0" rtlCol="0" anchor="ctr"/>
          <a:lstStyle/>
          <a:p>
            <a:pPr indent="0" marL="0">
              <a:buNone/>
            </a:pPr>
            <a:r>
              <a:rPr lang="en-US" sz="900" dirty="0">
                <a:solidFill>
                  <a:srgbClr val="94A3B8"/>
                </a:solidFill>
              </a:rPr>
              <a:t>Options → feedback → expand winner. First answer is always a draft</a:t>
            </a:r>
            <a:endParaRPr lang="en-US" sz="900" dirty="0"/>
          </a:p>
        </p:txBody>
      </p:sp>
      <p:sp>
        <p:nvSpPr>
          <p:cNvPr id="38" name="Shape 36"/>
          <p:cNvSpPr/>
          <p:nvPr/>
        </p:nvSpPr>
        <p:spPr>
          <a:xfrm>
            <a:off x="4709160" y="914400"/>
            <a:ext cx="256032" cy="256032"/>
          </a:xfrm>
          <a:prstGeom prst="ellipse">
            <a:avLst/>
          </a:prstGeom>
          <a:solidFill>
            <a:srgbClr val="7C3AED"/>
          </a:solidFill>
          <a:ln w="12700">
            <a:solidFill>
              <a:srgbClr val="7C3AED"/>
            </a:solidFill>
            <a:prstDash val="solid"/>
          </a:ln>
        </p:spPr>
      </p:sp>
      <p:sp>
        <p:nvSpPr>
          <p:cNvPr id="39" name="Text 37"/>
          <p:cNvSpPr/>
          <p:nvPr/>
        </p:nvSpPr>
        <p:spPr>
          <a:xfrm>
            <a:off x="4709160" y="91440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8</a:t>
            </a:r>
            <a:endParaRPr lang="en-US" sz="900" dirty="0"/>
          </a:p>
        </p:txBody>
      </p:sp>
      <p:sp>
        <p:nvSpPr>
          <p:cNvPr id="40" name="Text 38"/>
          <p:cNvSpPr/>
          <p:nvPr/>
        </p:nvSpPr>
        <p:spPr>
          <a:xfrm>
            <a:off x="5038344" y="859536"/>
            <a:ext cx="1828800" cy="237744"/>
          </a:xfrm>
          <a:prstGeom prst="rect">
            <a:avLst/>
          </a:prstGeom>
          <a:noFill/>
          <a:ln/>
        </p:spPr>
        <p:txBody>
          <a:bodyPr wrap="square" lIns="0" tIns="0" rIns="0" bIns="0" rtlCol="0" anchor="ctr"/>
          <a:lstStyle/>
          <a:p>
            <a:pPr indent="0" marL="0">
              <a:buNone/>
            </a:pPr>
            <a:r>
              <a:rPr lang="en-US" sz="1050" b="1" dirty="0">
                <a:solidFill>
                  <a:srgbClr val="0F172A"/>
                </a:solidFill>
              </a:rPr>
              <a:t>Multimodal</a:t>
            </a:r>
            <a:endParaRPr lang="en-US" sz="1050" dirty="0"/>
          </a:p>
        </p:txBody>
      </p:sp>
      <p:sp>
        <p:nvSpPr>
          <p:cNvPr id="41" name="Text 39"/>
          <p:cNvSpPr/>
          <p:nvPr/>
        </p:nvSpPr>
        <p:spPr>
          <a:xfrm>
            <a:off x="5038344" y="1097280"/>
            <a:ext cx="4023360" cy="237744"/>
          </a:xfrm>
          <a:prstGeom prst="rect">
            <a:avLst/>
          </a:prstGeom>
          <a:noFill/>
          <a:ln/>
        </p:spPr>
        <p:txBody>
          <a:bodyPr wrap="square" lIns="0" tIns="0" rIns="0" bIns="0" rtlCol="0" anchor="ctr"/>
          <a:lstStyle/>
          <a:p>
            <a:pPr indent="0" marL="0">
              <a:buNone/>
            </a:pPr>
            <a:r>
              <a:rPr lang="en-US" sz="900" dirty="0">
                <a:solidFill>
                  <a:srgbClr val="94A3B8"/>
                </a:solidFill>
              </a:rPr>
              <a:t>Upload files/photos. AI transcribes and summarises. You verify 10%</a:t>
            </a:r>
            <a:endParaRPr lang="en-US" sz="900" dirty="0"/>
          </a:p>
        </p:txBody>
      </p:sp>
      <p:sp>
        <p:nvSpPr>
          <p:cNvPr id="42" name="Shape 40"/>
          <p:cNvSpPr/>
          <p:nvPr/>
        </p:nvSpPr>
        <p:spPr>
          <a:xfrm>
            <a:off x="4727448" y="1389888"/>
            <a:ext cx="4206240" cy="0"/>
          </a:xfrm>
          <a:prstGeom prst="line">
            <a:avLst/>
          </a:prstGeom>
          <a:noFill/>
          <a:ln w="3810">
            <a:solidFill>
              <a:srgbClr val="E2E8F0"/>
            </a:solidFill>
            <a:prstDash val="solid"/>
          </a:ln>
        </p:spPr>
      </p:sp>
      <p:sp>
        <p:nvSpPr>
          <p:cNvPr id="43" name="Shape 41"/>
          <p:cNvSpPr/>
          <p:nvPr/>
        </p:nvSpPr>
        <p:spPr>
          <a:xfrm>
            <a:off x="4709160" y="1490472"/>
            <a:ext cx="256032" cy="256032"/>
          </a:xfrm>
          <a:prstGeom prst="ellipse">
            <a:avLst/>
          </a:prstGeom>
          <a:solidFill>
            <a:srgbClr val="7C3AED"/>
          </a:solidFill>
          <a:ln w="12700">
            <a:solidFill>
              <a:srgbClr val="7C3AED"/>
            </a:solidFill>
            <a:prstDash val="solid"/>
          </a:ln>
        </p:spPr>
      </p:sp>
      <p:sp>
        <p:nvSpPr>
          <p:cNvPr id="44" name="Text 42"/>
          <p:cNvSpPr/>
          <p:nvPr/>
        </p:nvSpPr>
        <p:spPr>
          <a:xfrm>
            <a:off x="4709160" y="14904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9</a:t>
            </a:r>
            <a:endParaRPr lang="en-US" sz="900" dirty="0"/>
          </a:p>
        </p:txBody>
      </p:sp>
      <p:sp>
        <p:nvSpPr>
          <p:cNvPr id="45" name="Text 43"/>
          <p:cNvSpPr/>
          <p:nvPr/>
        </p:nvSpPr>
        <p:spPr>
          <a:xfrm>
            <a:off x="5038344" y="1435608"/>
            <a:ext cx="1828800" cy="237744"/>
          </a:xfrm>
          <a:prstGeom prst="rect">
            <a:avLst/>
          </a:prstGeom>
          <a:noFill/>
          <a:ln/>
        </p:spPr>
        <p:txBody>
          <a:bodyPr wrap="square" lIns="0" tIns="0" rIns="0" bIns="0" rtlCol="0" anchor="ctr"/>
          <a:lstStyle/>
          <a:p>
            <a:pPr indent="0" marL="0">
              <a:buNone/>
            </a:pPr>
            <a:r>
              <a:rPr lang="en-US" sz="1050" b="1" dirty="0">
                <a:solidFill>
                  <a:srgbClr val="0F172A"/>
                </a:solidFill>
              </a:rPr>
              <a:t>Build Small Apps</a:t>
            </a:r>
            <a:endParaRPr lang="en-US" sz="1050" dirty="0"/>
          </a:p>
        </p:txBody>
      </p:sp>
      <p:sp>
        <p:nvSpPr>
          <p:cNvPr id="46" name="Text 44"/>
          <p:cNvSpPr/>
          <p:nvPr/>
        </p:nvSpPr>
        <p:spPr>
          <a:xfrm>
            <a:off x="5038344" y="1673352"/>
            <a:ext cx="4023360" cy="237744"/>
          </a:xfrm>
          <a:prstGeom prst="rect">
            <a:avLst/>
          </a:prstGeom>
          <a:noFill/>
          <a:ln/>
        </p:spPr>
        <p:txBody>
          <a:bodyPr wrap="square" lIns="0" tIns="0" rIns="0" bIns="0" rtlCol="0" anchor="ctr"/>
          <a:lstStyle/>
          <a:p>
            <a:pPr indent="0" marL="0">
              <a:buNone/>
            </a:pPr>
            <a:r>
              <a:rPr lang="en-US" sz="900" dirty="0">
                <a:solidFill>
                  <a:srgbClr val="94A3B8"/>
                </a:solidFill>
              </a:rPr>
              <a:t>Goal / Input / Output brief. No code needed. Iterate in place</a:t>
            </a:r>
            <a:endParaRPr lang="en-US" sz="900" dirty="0"/>
          </a:p>
        </p:txBody>
      </p:sp>
      <p:sp>
        <p:nvSpPr>
          <p:cNvPr id="47" name="Shape 45"/>
          <p:cNvSpPr/>
          <p:nvPr/>
        </p:nvSpPr>
        <p:spPr>
          <a:xfrm>
            <a:off x="4727448" y="1965960"/>
            <a:ext cx="4206240" cy="0"/>
          </a:xfrm>
          <a:prstGeom prst="line">
            <a:avLst/>
          </a:prstGeom>
          <a:noFill/>
          <a:ln w="3810">
            <a:solidFill>
              <a:srgbClr val="E2E8F0"/>
            </a:solidFill>
            <a:prstDash val="solid"/>
          </a:ln>
        </p:spPr>
      </p:sp>
      <p:sp>
        <p:nvSpPr>
          <p:cNvPr id="48" name="Shape 46"/>
          <p:cNvSpPr/>
          <p:nvPr/>
        </p:nvSpPr>
        <p:spPr>
          <a:xfrm>
            <a:off x="4709160" y="2066544"/>
            <a:ext cx="256032" cy="256032"/>
          </a:xfrm>
          <a:prstGeom prst="ellipse">
            <a:avLst/>
          </a:prstGeom>
          <a:solidFill>
            <a:srgbClr val="7C3AED"/>
          </a:solidFill>
          <a:ln w="12700">
            <a:solidFill>
              <a:srgbClr val="7C3AED"/>
            </a:solidFill>
            <a:prstDash val="solid"/>
          </a:ln>
        </p:spPr>
      </p:sp>
      <p:sp>
        <p:nvSpPr>
          <p:cNvPr id="49" name="Text 47"/>
          <p:cNvSpPr/>
          <p:nvPr/>
        </p:nvSpPr>
        <p:spPr>
          <a:xfrm>
            <a:off x="4709160" y="206654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10</a:t>
            </a:r>
            <a:endParaRPr lang="en-US" sz="900" dirty="0"/>
          </a:p>
        </p:txBody>
      </p:sp>
      <p:sp>
        <p:nvSpPr>
          <p:cNvPr id="50" name="Text 48"/>
          <p:cNvSpPr/>
          <p:nvPr/>
        </p:nvSpPr>
        <p:spPr>
          <a:xfrm>
            <a:off x="5038344" y="2011680"/>
            <a:ext cx="1828800" cy="237744"/>
          </a:xfrm>
          <a:prstGeom prst="rect">
            <a:avLst/>
          </a:prstGeom>
          <a:noFill/>
          <a:ln/>
        </p:spPr>
        <p:txBody>
          <a:bodyPr wrap="square" lIns="0" tIns="0" rIns="0" bIns="0" rtlCol="0" anchor="ctr"/>
          <a:lstStyle/>
          <a:p>
            <a:pPr indent="0" marL="0">
              <a:buNone/>
            </a:pPr>
            <a:r>
              <a:rPr lang="en-US" sz="1050" b="1" dirty="0">
                <a:solidFill>
                  <a:srgbClr val="0F172A"/>
                </a:solidFill>
              </a:rPr>
              <a:t>Force the Code</a:t>
            </a:r>
            <a:endParaRPr lang="en-US" sz="1050" dirty="0"/>
          </a:p>
        </p:txBody>
      </p:sp>
      <p:sp>
        <p:nvSpPr>
          <p:cNvPr id="51" name="Text 49"/>
          <p:cNvSpPr/>
          <p:nvPr/>
        </p:nvSpPr>
        <p:spPr>
          <a:xfrm>
            <a:off x="5038344" y="2249424"/>
            <a:ext cx="4023360" cy="237744"/>
          </a:xfrm>
          <a:prstGeom prst="rect">
            <a:avLst/>
          </a:prstGeom>
          <a:noFill/>
          <a:ln/>
        </p:spPr>
        <p:txBody>
          <a:bodyPr wrap="square" lIns="0" tIns="0" rIns="0" bIns="0" rtlCol="0" anchor="ctr"/>
          <a:lstStyle/>
          <a:p>
            <a:pPr indent="0" marL="0">
              <a:buNone/>
            </a:pPr>
            <a:r>
              <a:rPr lang="en-US" sz="900" dirty="0">
                <a:solidFill>
                  <a:srgbClr val="94A3B8"/>
                </a:solidFill>
              </a:rPr>
              <a:t>'Write and run code, show me the code.' No code = guessed answer</a:t>
            </a:r>
            <a:endParaRPr lang="en-US" sz="900" dirty="0"/>
          </a:p>
        </p:txBody>
      </p:sp>
      <p:sp>
        <p:nvSpPr>
          <p:cNvPr id="52" name="Shape 50"/>
          <p:cNvSpPr/>
          <p:nvPr/>
        </p:nvSpPr>
        <p:spPr>
          <a:xfrm>
            <a:off x="4727448" y="2542032"/>
            <a:ext cx="4206240" cy="0"/>
          </a:xfrm>
          <a:prstGeom prst="line">
            <a:avLst/>
          </a:prstGeom>
          <a:noFill/>
          <a:ln w="3810">
            <a:solidFill>
              <a:srgbClr val="E2E8F0"/>
            </a:solidFill>
            <a:prstDash val="solid"/>
          </a:ln>
        </p:spPr>
      </p:sp>
      <p:sp>
        <p:nvSpPr>
          <p:cNvPr id="53" name="Shape 51"/>
          <p:cNvSpPr/>
          <p:nvPr/>
        </p:nvSpPr>
        <p:spPr>
          <a:xfrm>
            <a:off x="4709160" y="2642616"/>
            <a:ext cx="256032" cy="256032"/>
          </a:xfrm>
          <a:prstGeom prst="ellipse">
            <a:avLst/>
          </a:prstGeom>
          <a:solidFill>
            <a:srgbClr val="2563EB"/>
          </a:solidFill>
          <a:ln w="12700">
            <a:solidFill>
              <a:srgbClr val="2563EB"/>
            </a:solidFill>
            <a:prstDash val="solid"/>
          </a:ln>
        </p:spPr>
      </p:sp>
      <p:sp>
        <p:nvSpPr>
          <p:cNvPr id="54" name="Text 52"/>
          <p:cNvSpPr/>
          <p:nvPr/>
        </p:nvSpPr>
        <p:spPr>
          <a:xfrm>
            <a:off x="4709160" y="26426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11</a:t>
            </a:r>
            <a:endParaRPr lang="en-US" sz="900" dirty="0"/>
          </a:p>
        </p:txBody>
      </p:sp>
      <p:sp>
        <p:nvSpPr>
          <p:cNvPr id="55" name="Text 53"/>
          <p:cNvSpPr/>
          <p:nvPr/>
        </p:nvSpPr>
        <p:spPr>
          <a:xfrm>
            <a:off x="5038344" y="2587752"/>
            <a:ext cx="1828800" cy="237744"/>
          </a:xfrm>
          <a:prstGeom prst="rect">
            <a:avLst/>
          </a:prstGeom>
          <a:noFill/>
          <a:ln/>
        </p:spPr>
        <p:txBody>
          <a:bodyPr wrap="square" lIns="0" tIns="0" rIns="0" bIns="0" rtlCol="0" anchor="ctr"/>
          <a:lstStyle/>
          <a:p>
            <a:pPr indent="0" marL="0">
              <a:buNone/>
            </a:pPr>
            <a:r>
              <a:rPr lang="en-US" sz="1050" b="1" dirty="0">
                <a:solidFill>
                  <a:srgbClr val="0F172A"/>
                </a:solidFill>
              </a:rPr>
              <a:t>Desktop Permissions</a:t>
            </a:r>
            <a:endParaRPr lang="en-US" sz="1050" dirty="0"/>
          </a:p>
        </p:txBody>
      </p:sp>
      <p:sp>
        <p:nvSpPr>
          <p:cNvPr id="56" name="Text 54"/>
          <p:cNvSpPr/>
          <p:nvPr/>
        </p:nvSpPr>
        <p:spPr>
          <a:xfrm>
            <a:off x="5038344" y="2825496"/>
            <a:ext cx="4023360" cy="237744"/>
          </a:xfrm>
          <a:prstGeom prst="rect">
            <a:avLst/>
          </a:prstGeom>
          <a:noFill/>
          <a:ln/>
        </p:spPr>
        <p:txBody>
          <a:bodyPr wrap="square" lIns="0" tIns="0" rIns="0" bIns="0" rtlCol="0" anchor="ctr"/>
          <a:lstStyle/>
          <a:p>
            <a:pPr indent="0" marL="0">
              <a:buNone/>
            </a:pPr>
            <a:r>
              <a:rPr lang="en-US" sz="900" dirty="0">
                <a:solidFill>
                  <a:srgbClr val="94A3B8"/>
                </a:solidFill>
              </a:rPr>
              <a:t>Tell → plan → review → approve. Backup first. Never skip the review</a:t>
            </a:r>
            <a:endParaRPr lang="en-US" sz="900" dirty="0"/>
          </a:p>
        </p:txBody>
      </p:sp>
      <p:sp>
        <p:nvSpPr>
          <p:cNvPr id="57" name="Shape 55"/>
          <p:cNvSpPr/>
          <p:nvPr/>
        </p:nvSpPr>
        <p:spPr>
          <a:xfrm>
            <a:off x="4727448" y="3118104"/>
            <a:ext cx="4206240" cy="0"/>
          </a:xfrm>
          <a:prstGeom prst="line">
            <a:avLst/>
          </a:prstGeom>
          <a:noFill/>
          <a:ln w="3810">
            <a:solidFill>
              <a:srgbClr val="E2E8F0"/>
            </a:solidFill>
            <a:prstDash val="solid"/>
          </a:ln>
        </p:spPr>
      </p:sp>
      <p:sp>
        <p:nvSpPr>
          <p:cNvPr id="58" name="Shape 56"/>
          <p:cNvSpPr/>
          <p:nvPr/>
        </p:nvSpPr>
        <p:spPr>
          <a:xfrm>
            <a:off x="4709160" y="3218688"/>
            <a:ext cx="256032" cy="256032"/>
          </a:xfrm>
          <a:prstGeom prst="ellipse">
            <a:avLst/>
          </a:prstGeom>
          <a:solidFill>
            <a:srgbClr val="2563EB"/>
          </a:solidFill>
          <a:ln w="12700">
            <a:solidFill>
              <a:srgbClr val="2563EB"/>
            </a:solidFill>
            <a:prstDash val="solid"/>
          </a:ln>
        </p:spPr>
      </p:sp>
      <p:sp>
        <p:nvSpPr>
          <p:cNvPr id="59" name="Text 57"/>
          <p:cNvSpPr/>
          <p:nvPr/>
        </p:nvSpPr>
        <p:spPr>
          <a:xfrm>
            <a:off x="4709160" y="32186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12</a:t>
            </a:r>
            <a:endParaRPr lang="en-US" sz="900" dirty="0"/>
          </a:p>
        </p:txBody>
      </p:sp>
      <p:sp>
        <p:nvSpPr>
          <p:cNvPr id="60" name="Text 58"/>
          <p:cNvSpPr/>
          <p:nvPr/>
        </p:nvSpPr>
        <p:spPr>
          <a:xfrm>
            <a:off x="5038344" y="3163824"/>
            <a:ext cx="1828800" cy="237744"/>
          </a:xfrm>
          <a:prstGeom prst="rect">
            <a:avLst/>
          </a:prstGeom>
          <a:noFill/>
          <a:ln/>
        </p:spPr>
        <p:txBody>
          <a:bodyPr wrap="square" lIns="0" tIns="0" rIns="0" bIns="0" rtlCol="0" anchor="ctr"/>
          <a:lstStyle/>
          <a:p>
            <a:pPr indent="0" marL="0">
              <a:buNone/>
            </a:pPr>
            <a:r>
              <a:rPr lang="en-US" sz="1050" b="1" dirty="0">
                <a:solidFill>
                  <a:srgbClr val="0F172A"/>
                </a:solidFill>
              </a:rPr>
              <a:t>Which Model When</a:t>
            </a:r>
            <a:endParaRPr lang="en-US" sz="1050" dirty="0"/>
          </a:p>
        </p:txBody>
      </p:sp>
      <p:sp>
        <p:nvSpPr>
          <p:cNvPr id="61" name="Text 59"/>
          <p:cNvSpPr/>
          <p:nvPr/>
        </p:nvSpPr>
        <p:spPr>
          <a:xfrm>
            <a:off x="5038344" y="3401568"/>
            <a:ext cx="4023360" cy="237744"/>
          </a:xfrm>
          <a:prstGeom prst="rect">
            <a:avLst/>
          </a:prstGeom>
          <a:noFill/>
          <a:ln/>
        </p:spPr>
        <p:txBody>
          <a:bodyPr wrap="square" lIns="0" tIns="0" rIns="0" bIns="0" rtlCol="0" anchor="ctr"/>
          <a:lstStyle/>
          <a:p>
            <a:pPr indent="0" marL="0">
              <a:buNone/>
            </a:pPr>
            <a:r>
              <a:rPr lang="en-US" sz="900" dirty="0">
                <a:solidFill>
                  <a:srgbClr val="94A3B8"/>
                </a:solidFill>
              </a:rPr>
              <a:t>No single best. Keep two tabs open. Re-test monthly</a:t>
            </a:r>
            <a:endParaRPr lang="en-US" sz="900" dirty="0"/>
          </a:p>
        </p:txBody>
      </p:sp>
      <p:sp>
        <p:nvSpPr>
          <p:cNvPr id="62" name="Shape 60"/>
          <p:cNvSpPr/>
          <p:nvPr/>
        </p:nvSpPr>
        <p:spPr>
          <a:xfrm>
            <a:off x="4727448" y="3694176"/>
            <a:ext cx="4206240" cy="0"/>
          </a:xfrm>
          <a:prstGeom prst="line">
            <a:avLst/>
          </a:prstGeom>
          <a:noFill/>
          <a:ln w="3810">
            <a:solidFill>
              <a:srgbClr val="E2E8F0"/>
            </a:solidFill>
            <a:prstDash val="solid"/>
          </a:ln>
        </p:spPr>
      </p:sp>
      <p:sp>
        <p:nvSpPr>
          <p:cNvPr id="63" name="Shape 61"/>
          <p:cNvSpPr/>
          <p:nvPr/>
        </p:nvSpPr>
        <p:spPr>
          <a:xfrm>
            <a:off x="4709160" y="3794760"/>
            <a:ext cx="256032" cy="256032"/>
          </a:xfrm>
          <a:prstGeom prst="ellipse">
            <a:avLst/>
          </a:prstGeom>
          <a:solidFill>
            <a:srgbClr val="2563EB"/>
          </a:solidFill>
          <a:ln w="12700">
            <a:solidFill>
              <a:srgbClr val="2563EB"/>
            </a:solidFill>
            <a:prstDash val="solid"/>
          </a:ln>
        </p:spPr>
      </p:sp>
      <p:sp>
        <p:nvSpPr>
          <p:cNvPr id="64" name="Text 62"/>
          <p:cNvSpPr/>
          <p:nvPr/>
        </p:nvSpPr>
        <p:spPr>
          <a:xfrm>
            <a:off x="4709160" y="379476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13</a:t>
            </a:r>
            <a:endParaRPr lang="en-US" sz="900" dirty="0"/>
          </a:p>
        </p:txBody>
      </p:sp>
      <p:sp>
        <p:nvSpPr>
          <p:cNvPr id="65" name="Text 63"/>
          <p:cNvSpPr/>
          <p:nvPr/>
        </p:nvSpPr>
        <p:spPr>
          <a:xfrm>
            <a:off x="5038344" y="3739896"/>
            <a:ext cx="1828800" cy="237744"/>
          </a:xfrm>
          <a:prstGeom prst="rect">
            <a:avLst/>
          </a:prstGeom>
          <a:noFill/>
          <a:ln/>
        </p:spPr>
        <p:txBody>
          <a:bodyPr wrap="square" lIns="0" tIns="0" rIns="0" bIns="0" rtlCol="0" anchor="ctr"/>
          <a:lstStyle/>
          <a:p>
            <a:pPr indent="0" marL="0">
              <a:buNone/>
            </a:pPr>
            <a:r>
              <a:rPr lang="en-US" sz="1050" b="1" dirty="0">
                <a:solidFill>
                  <a:srgbClr val="0F172A"/>
                </a:solidFill>
              </a:rPr>
              <a:t>Models Check Models</a:t>
            </a:r>
            <a:endParaRPr lang="en-US" sz="1050" dirty="0"/>
          </a:p>
        </p:txBody>
      </p:sp>
      <p:sp>
        <p:nvSpPr>
          <p:cNvPr id="66" name="Text 64"/>
          <p:cNvSpPr/>
          <p:nvPr/>
        </p:nvSpPr>
        <p:spPr>
          <a:xfrm>
            <a:off x="5038344" y="3977640"/>
            <a:ext cx="4023360" cy="237744"/>
          </a:xfrm>
          <a:prstGeom prst="rect">
            <a:avLst/>
          </a:prstGeom>
          <a:noFill/>
          <a:ln/>
        </p:spPr>
        <p:txBody>
          <a:bodyPr wrap="square" lIns="0" tIns="0" rIns="0" bIns="0" rtlCol="0" anchor="ctr"/>
          <a:lstStyle/>
          <a:p>
            <a:pPr indent="0" marL="0">
              <a:buNone/>
            </a:pPr>
            <a:r>
              <a:rPr lang="en-US" sz="900" dirty="0">
                <a:solidFill>
                  <a:srgbClr val="94A3B8"/>
                </a:solidFill>
              </a:rPr>
              <a:t>Same draft, two tools, compare feedback — catches different blind spots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2743200" y="-914400"/>
            <a:ext cx="7315200" cy="7315200"/>
          </a:xfrm>
          <a:prstGeom prst="ellipse">
            <a:avLst/>
          </a:prstGeom>
          <a:solidFill>
            <a:srgbClr val="0D9488">
              <a:alpha val="6000"/>
            </a:srgbClr>
          </a:solidFill>
          <a:ln w="12700">
            <a:solidFill>
              <a:srgbClr val="0D9488"/>
            </a:solidFill>
            <a:prstDash val="solid"/>
          </a:ln>
        </p:spPr>
      </p:sp>
      <p:sp>
        <p:nvSpPr>
          <p:cNvPr id="3" name="Text 1"/>
          <p:cNvSpPr/>
          <p:nvPr/>
        </p:nvSpPr>
        <p:spPr>
          <a:xfrm>
            <a:off x="457200" y="640080"/>
            <a:ext cx="8229600" cy="411480"/>
          </a:xfrm>
          <a:prstGeom prst="rect">
            <a:avLst/>
          </a:prstGeom>
          <a:noFill/>
          <a:ln/>
        </p:spPr>
        <p:txBody>
          <a:bodyPr wrap="square" lIns="0" tIns="0" rIns="0" bIns="0" rtlCol="0" anchor="ctr"/>
          <a:lstStyle/>
          <a:p>
            <a:pPr algn="ctr" indent="0" marL="0">
              <a:buNone/>
            </a:pPr>
            <a:r>
              <a:rPr lang="en-US" sz="1800" dirty="0">
                <a:solidFill>
                  <a:srgbClr val="94A3B8"/>
                </a:solidFill>
              </a:rPr>
              <a:t>If you remember one thing...</a:t>
            </a:r>
            <a:endParaRPr lang="en-US" sz="1800" dirty="0"/>
          </a:p>
        </p:txBody>
      </p:sp>
      <p:sp>
        <p:nvSpPr>
          <p:cNvPr id="4" name="Shape 2"/>
          <p:cNvSpPr/>
          <p:nvPr/>
        </p:nvSpPr>
        <p:spPr>
          <a:xfrm>
            <a:off x="685800" y="1170432"/>
            <a:ext cx="7772400" cy="1481328"/>
          </a:xfrm>
          <a:prstGeom prst="roundRect">
            <a:avLst>
              <a:gd name="adj" fmla="val 7407"/>
            </a:avLst>
          </a:prstGeom>
          <a:solidFill>
            <a:srgbClr val="1E293B"/>
          </a:solidFill>
          <a:ln w="6350">
            <a:solidFill>
              <a:srgbClr val="E2E8F0"/>
            </a:solidFill>
            <a:prstDash val="solid"/>
          </a:ln>
        </p:spPr>
      </p:sp>
      <p:sp>
        <p:nvSpPr>
          <p:cNvPr id="5" name="Text 3"/>
          <p:cNvSpPr/>
          <p:nvPr/>
        </p:nvSpPr>
        <p:spPr>
          <a:xfrm>
            <a:off x="822960" y="1280160"/>
            <a:ext cx="7498080" cy="548640"/>
          </a:xfrm>
          <a:prstGeom prst="rect">
            <a:avLst/>
          </a:prstGeom>
          <a:noFill/>
          <a:ln/>
        </p:spPr>
        <p:txBody>
          <a:bodyPr wrap="square" lIns="0" tIns="0" rIns="0" bIns="0" rtlCol="0" anchor="ctr"/>
          <a:lstStyle/>
          <a:p>
            <a:pPr algn="ctr" indent="0" marL="0">
              <a:buNone/>
            </a:pPr>
            <a:r>
              <a:rPr lang="en-US" sz="3200" b="1" dirty="0">
                <a:solidFill>
                  <a:srgbClr val="FFFFFF"/>
                </a:solidFill>
              </a:rPr>
              <a:t>Get the right context in,</a:t>
            </a:r>
            <a:endParaRPr lang="en-US" sz="3200" dirty="0"/>
          </a:p>
        </p:txBody>
      </p:sp>
      <p:sp>
        <p:nvSpPr>
          <p:cNvPr id="6" name="Text 4"/>
          <p:cNvSpPr/>
          <p:nvPr/>
        </p:nvSpPr>
        <p:spPr>
          <a:xfrm>
            <a:off x="822960" y="1810512"/>
            <a:ext cx="7498080" cy="548640"/>
          </a:xfrm>
          <a:prstGeom prst="rect">
            <a:avLst/>
          </a:prstGeom>
          <a:noFill/>
          <a:ln/>
        </p:spPr>
        <p:txBody>
          <a:bodyPr wrap="square" lIns="0" tIns="0" rIns="0" bIns="0" rtlCol="0" anchor="ctr"/>
          <a:lstStyle/>
          <a:p>
            <a:pPr algn="ctr" indent="0" marL="0">
              <a:buNone/>
            </a:pPr>
            <a:r>
              <a:rPr lang="en-US" sz="3200" b="1" dirty="0">
                <a:solidFill>
                  <a:srgbClr val="99F6E4"/>
                </a:solidFill>
              </a:rPr>
              <a:t>keep the wrong context out.</a:t>
            </a:r>
            <a:endParaRPr lang="en-US" sz="3200" dirty="0"/>
          </a:p>
        </p:txBody>
      </p:sp>
      <p:sp>
        <p:nvSpPr>
          <p:cNvPr id="7" name="Text 5"/>
          <p:cNvSpPr/>
          <p:nvPr/>
        </p:nvSpPr>
        <p:spPr>
          <a:xfrm>
            <a:off x="457200" y="2834640"/>
            <a:ext cx="8229600" cy="347472"/>
          </a:xfrm>
          <a:prstGeom prst="rect">
            <a:avLst/>
          </a:prstGeom>
          <a:noFill/>
          <a:ln/>
        </p:spPr>
        <p:txBody>
          <a:bodyPr wrap="square" lIns="0" tIns="0" rIns="0" bIns="0" rtlCol="0" anchor="ctr"/>
          <a:lstStyle/>
          <a:p>
            <a:pPr algn="ctr" indent="0" marL="0">
              <a:buNone/>
            </a:pPr>
            <a:r>
              <a:rPr lang="en-US" sz="1300" dirty="0">
                <a:solidFill>
                  <a:srgbClr val="94A3B8"/>
                </a:solidFill>
              </a:rPr>
              <a:t>Every single technique in this course is one of these two moves:</a:t>
            </a:r>
            <a:endParaRPr lang="en-US" sz="1300" dirty="0"/>
          </a:p>
        </p:txBody>
      </p:sp>
      <p:sp>
        <p:nvSpPr>
          <p:cNvPr id="8" name="Shape 6"/>
          <p:cNvSpPr/>
          <p:nvPr/>
        </p:nvSpPr>
        <p:spPr>
          <a:xfrm>
            <a:off x="685800" y="3273552"/>
            <a:ext cx="3566160" cy="1298448"/>
          </a:xfrm>
          <a:prstGeom prst="roundRect">
            <a:avLst>
              <a:gd name="adj" fmla="val 8451"/>
            </a:avLst>
          </a:prstGeom>
          <a:solidFill>
            <a:srgbClr val="1E293B"/>
          </a:solidFill>
          <a:ln w="6350">
            <a:solidFill>
              <a:srgbClr val="E2E8F0"/>
            </a:solidFill>
            <a:prstDash val="solid"/>
          </a:ln>
        </p:spPr>
      </p:sp>
      <p:sp>
        <p:nvSpPr>
          <p:cNvPr id="9" name="Text 7"/>
          <p:cNvSpPr/>
          <p:nvPr/>
        </p:nvSpPr>
        <p:spPr>
          <a:xfrm>
            <a:off x="868680" y="3383280"/>
            <a:ext cx="3200400" cy="292608"/>
          </a:xfrm>
          <a:prstGeom prst="rect">
            <a:avLst/>
          </a:prstGeom>
          <a:noFill/>
          <a:ln/>
        </p:spPr>
        <p:txBody>
          <a:bodyPr wrap="square" lIns="0" tIns="0" rIns="0" bIns="0" rtlCol="0" anchor="ctr"/>
          <a:lstStyle/>
          <a:p>
            <a:pPr indent="0" marL="0">
              <a:buNone/>
            </a:pPr>
            <a:r>
              <a:rPr lang="en-US" sz="1200" b="1" dirty="0">
                <a:solidFill>
                  <a:srgbClr val="99F6E4"/>
                </a:solidFill>
              </a:rPr>
              <a:t>MOVE 1 — Context IN</a:t>
            </a:r>
            <a:endParaRPr lang="en-US" sz="1200" dirty="0"/>
          </a:p>
        </p:txBody>
      </p:sp>
      <p:sp>
        <p:nvSpPr>
          <p:cNvPr id="10" name="Text 8"/>
          <p:cNvSpPr/>
          <p:nvPr/>
        </p:nvSpPr>
        <p:spPr>
          <a:xfrm>
            <a:off x="868680" y="3694176"/>
            <a:ext cx="3200400" cy="658368"/>
          </a:xfrm>
          <a:prstGeom prst="rect">
            <a:avLst/>
          </a:prstGeom>
          <a:noFill/>
          <a:ln/>
        </p:spPr>
        <p:txBody>
          <a:bodyPr wrap="square" lIns="0" tIns="0" rIns="0" bIns="0" rtlCol="0" anchor="ctr"/>
          <a:lstStyle/>
          <a:p>
            <a:pPr indent="0" marL="0">
              <a:buNone/>
            </a:pPr>
            <a:r>
              <a:rPr lang="en-US" sz="1100" dirty="0">
                <a:solidFill>
                  <a:srgbClr val="FFFFFF"/>
                </a:solidFill>
              </a:rPr>
              <a:t>Files, constraints, output format, audience, purpose — attach them all.</a:t>
            </a:r>
            <a:endParaRPr lang="en-US" sz="1100" dirty="0"/>
          </a:p>
        </p:txBody>
      </p:sp>
      <p:sp>
        <p:nvSpPr>
          <p:cNvPr id="11" name="Shape 9"/>
          <p:cNvSpPr/>
          <p:nvPr/>
        </p:nvSpPr>
        <p:spPr>
          <a:xfrm>
            <a:off x="4892040" y="3273552"/>
            <a:ext cx="3566160" cy="1298448"/>
          </a:xfrm>
          <a:prstGeom prst="roundRect">
            <a:avLst>
              <a:gd name="adj" fmla="val 8451"/>
            </a:avLst>
          </a:prstGeom>
          <a:solidFill>
            <a:srgbClr val="1E293B"/>
          </a:solidFill>
          <a:ln w="6350">
            <a:solidFill>
              <a:srgbClr val="E2E8F0"/>
            </a:solidFill>
            <a:prstDash val="solid"/>
          </a:ln>
        </p:spPr>
      </p:sp>
      <p:sp>
        <p:nvSpPr>
          <p:cNvPr id="12" name="Text 10"/>
          <p:cNvSpPr/>
          <p:nvPr/>
        </p:nvSpPr>
        <p:spPr>
          <a:xfrm>
            <a:off x="5074920" y="3383280"/>
            <a:ext cx="3200400" cy="292608"/>
          </a:xfrm>
          <a:prstGeom prst="rect">
            <a:avLst/>
          </a:prstGeom>
          <a:noFill/>
          <a:ln/>
        </p:spPr>
        <p:txBody>
          <a:bodyPr wrap="square" lIns="0" tIns="0" rIns="0" bIns="0" rtlCol="0" anchor="ctr"/>
          <a:lstStyle/>
          <a:p>
            <a:pPr indent="0" marL="0">
              <a:buNone/>
            </a:pPr>
            <a:r>
              <a:rPr lang="en-US" sz="1200" b="1" dirty="0">
                <a:solidFill>
                  <a:srgbClr val="FCD34D"/>
                </a:solidFill>
              </a:rPr>
              <a:t>MOVE 2 — Noise OUT</a:t>
            </a:r>
            <a:endParaRPr lang="en-US" sz="1200" dirty="0"/>
          </a:p>
        </p:txBody>
      </p:sp>
      <p:sp>
        <p:nvSpPr>
          <p:cNvPr id="13" name="Text 11"/>
          <p:cNvSpPr/>
          <p:nvPr/>
        </p:nvSpPr>
        <p:spPr>
          <a:xfrm>
            <a:off x="5074920" y="3694176"/>
            <a:ext cx="3200400" cy="658368"/>
          </a:xfrm>
          <a:prstGeom prst="rect">
            <a:avLst/>
          </a:prstGeom>
          <a:noFill/>
          <a:ln/>
        </p:spPr>
        <p:txBody>
          <a:bodyPr wrap="square" lIns="0" tIns="0" rIns="0" bIns="0" rtlCol="0" anchor="ctr"/>
          <a:lstStyle/>
          <a:p>
            <a:pPr indent="0" marL="0">
              <a:buNone/>
            </a:pPr>
            <a:r>
              <a:rPr lang="en-US" sz="1100" dirty="0">
                <a:solidFill>
                  <a:srgbClr val="FFFFFF"/>
                </a:solidFill>
              </a:rPr>
              <a:t>Remove bait verbs, dead conversations, assumptions AI cannot verify.</a:t>
            </a:r>
            <a:endParaRPr lang="en-US" sz="1100" dirty="0"/>
          </a:p>
        </p:txBody>
      </p:sp>
      <p:sp>
        <p:nvSpPr>
          <p:cNvPr id="14" name="Text 12"/>
          <p:cNvSpPr/>
          <p:nvPr/>
        </p:nvSpPr>
        <p:spPr>
          <a:xfrm>
            <a:off x="457200" y="4754880"/>
            <a:ext cx="8229600" cy="256032"/>
          </a:xfrm>
          <a:prstGeom prst="rect">
            <a:avLst/>
          </a:prstGeom>
          <a:noFill/>
          <a:ln/>
        </p:spPr>
        <p:txBody>
          <a:bodyPr wrap="square" lIns="0" tIns="0" rIns="0" bIns="0" rtlCol="0" anchor="ctr"/>
          <a:lstStyle/>
          <a:p>
            <a:pPr algn="ctr" indent="0" marL="0">
              <a:buNone/>
            </a:pPr>
            <a:r>
              <a:rPr lang="en-US" sz="950" spc="100" kern="0" dirty="0">
                <a:solidFill>
                  <a:srgbClr val="475569"/>
                </a:solidFill>
              </a:rPr>
              <a:t>panaversity.org  ·  AI-101  ·  AI Prompting in 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Prompting 2026 — Easy Guide</dc:title>
  <dc:subject>PptxGenJS Presentation</dc:subject>
  <dc:creator>PptxGenJS</dc:creator>
  <cp:lastModifiedBy>PptxGenJS</cp:lastModifiedBy>
  <cp:revision>1</cp:revision>
  <dcterms:created xsi:type="dcterms:W3CDTF">2026-06-09T21:18:21Z</dcterms:created>
  <dcterms:modified xsi:type="dcterms:W3CDTF">2026-06-09T21:18:21Z</dcterms:modified>
</cp:coreProperties>
</file>